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slide. Say who you are in one sentence and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success, not failure. Nobody made a mistake. The estate outgrew the informal system that was tracking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last sentence deliberately. It hands them a fix that blames nobody on their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your time on the first card. Investor database plus unprotected write path is the phrase that does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apologise for this. Presenting it plainly is what makes the next two slides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a tax on doing work. Taxes get avoided, especially by the people moving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argument does double duty. It kills the internal catalog here, and it kills the entire enterprise market later. Say it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requirement before the solution. If they accept these three, the next slide is the only answer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sit for a beat. It should feel obvious in hindsight, which is the sign it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remember one sentence from the deck, make it the line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boundary matters. The moment it brokers real data it inherits an access-control problem, and identity is a different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slide. Everything before it is argument; this is the thing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is why this compounds. A catalog is a snapshot; this gets better every time somebody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Criterion 4 binds everything. One evaluation suite across 51 items caps how fast anything can safely be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top to bottom once, then stop. The right column is what they will ask about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$100 to $400 a month self-hosted, excluding model spend. The point of this slide is how little is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into the business case. Their problem is a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conceding: several well-funded companies built the catalog we proposed. The instinct was right. Then turn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slide 7. Same argument, market scale. The underserved middle is firms with a real estate and no way to afford an enterprise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answers the fear that Claude gets better and makes the work pointless. The design assumes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temptation is to open with a shared capability. Resist it. You cannot pick the right three without measuring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boxes. Say what each stage is for: find out what is true, write it down, watch it, serve it, then move three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credibility slide. You are arguing against your own recommendation and showing why it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line, stop talking, let the silence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30F"/>
        </a:solidFill>
      </p:bgPr>
    </p:bg>
    <p:spTree>
      <p:nvGrpSpPr>
        <p:cNvPr id="1" name=""/>
        <p:cNvGrpSpPr/>
        <p:nvPr/>
      </p:nvGrpSpPr>
      <p:grpSpPr>
        <a:xfrm>
          <a:off x="0" y="0"/>
          <a:ext cx="0" cy="0"/>
          <a:chOff x="0" y="0"/>
          <a:chExt cx="0" cy="0"/>
        </a:xfrm>
      </p:grpSpPr>
      <p:sp>
        <p:nvSpPr>
          <p:cNvPr id="2" name="Text 0"/>
          <p:cNvSpPr txBox="1"/>
          <p:nvPr/>
        </p:nvSpPr>
        <p:spPr>
          <a:xfrm>
            <a:off x="658368" y="1993392"/>
            <a:ext cx="10872216" cy="274320"/>
          </a:xfrm>
          <a:prstGeom prst="rect">
            <a:avLst/>
          </a:prstGeom>
          <a:noFill/>
          <a:ln/>
        </p:spPr>
        <p:txBody>
          <a:bodyPr wrap="square" lIns="0" tIns="0" rIns="0" bIns="0" rtlCol="0" anchor="ctr"/>
          <a:lstStyle/>
          <a:p>
            <a:pPr indent="0" marL="0">
              <a:buNone/>
            </a:pPr>
            <a:r>
              <a:rPr lang="en-US" sz="1200" b="1" spc="350" kern="0" dirty="0">
                <a:solidFill>
                  <a:srgbClr val="F2A900"/>
                </a:solidFill>
                <a:latin typeface="Calibri" pitchFamily="34" charset="0"/>
                <a:ea typeface="Calibri" pitchFamily="34" charset="-122"/>
                <a:cs typeface="Calibri" pitchFamily="34" charset="-120"/>
              </a:rPr>
              <a:t>CAPITAL FACTORY</a:t>
            </a:r>
            <a:endParaRPr lang="en-US" sz="1200" dirty="0"/>
          </a:p>
        </p:txBody>
      </p:sp>
      <p:sp>
        <p:nvSpPr>
          <p:cNvPr id="3" name="Text 1"/>
          <p:cNvSpPr txBox="1"/>
          <p:nvPr/>
        </p:nvSpPr>
        <p:spPr>
          <a:xfrm>
            <a:off x="658368" y="2395728"/>
            <a:ext cx="9692640" cy="1828800"/>
          </a:xfrm>
          <a:prstGeom prst="rect">
            <a:avLst/>
          </a:prstGeom>
          <a:noFill/>
          <a:ln/>
        </p:spPr>
        <p:txBody>
          <a:bodyPr wrap="square" lIns="0" tIns="0" rIns="0" bIns="0" rtlCol="0" anchor="ctr"/>
          <a:lstStyle/>
          <a:p>
            <a:pPr indent="0" marL="0">
              <a:lnSpc>
                <a:spcPct val="100000"/>
              </a:lnSpc>
              <a:buNone/>
            </a:pPr>
            <a:r>
              <a:rPr lang="en-US" sz="4600" b="1" dirty="0">
                <a:solidFill>
                  <a:srgbClr val="F8F7F1"/>
                </a:solidFill>
                <a:latin typeface="Cambria" pitchFamily="34" charset="0"/>
                <a:ea typeface="Cambria" pitchFamily="34" charset="-122"/>
                <a:cs typeface="Cambria" pitchFamily="34" charset="-120"/>
              </a:rPr>
              <a:t>Capital Factory can't</a:t>
            </a:r>
            <a:endParaRPr lang="en-US" sz="4600" dirty="0"/>
          </a:p>
          <a:p>
            <a:pPr indent="0" marL="0">
              <a:lnSpc>
                <a:spcPct val="100000"/>
              </a:lnSpc>
              <a:buNone/>
            </a:pPr>
            <a:r>
              <a:rPr lang="en-US" sz="4600" b="1" dirty="0">
                <a:solidFill>
                  <a:srgbClr val="F8F7F1"/>
                </a:solidFill>
                <a:latin typeface="Cambria" pitchFamily="34" charset="0"/>
                <a:ea typeface="Cambria" pitchFamily="34" charset="-122"/>
                <a:cs typeface="Cambria" pitchFamily="34" charset="-120"/>
              </a:rPr>
              <a:t>remember what it built.</a:t>
            </a:r>
            <a:endParaRPr lang="en-US" sz="4600" dirty="0"/>
          </a:p>
        </p:txBody>
      </p:sp>
      <p:sp>
        <p:nvSpPr>
          <p:cNvPr id="4" name="Text 2"/>
          <p:cNvSpPr txBox="1"/>
          <p:nvPr/>
        </p:nvSpPr>
        <p:spPr>
          <a:xfrm>
            <a:off x="658368" y="4443984"/>
            <a:ext cx="8412480" cy="457200"/>
          </a:xfrm>
          <a:prstGeom prst="rect">
            <a:avLst/>
          </a:prstGeom>
          <a:noFill/>
          <a:ln/>
        </p:spPr>
        <p:txBody>
          <a:bodyPr wrap="square" lIns="0" tIns="0" rIns="0" bIns="0" rtlCol="0" anchor="ctr"/>
          <a:lstStyle/>
          <a:p>
            <a:pPr indent="0" marL="0">
              <a:buNone/>
            </a:pPr>
            <a:r>
              <a:rPr lang="en-US" sz="1500" dirty="0">
                <a:solidFill>
                  <a:srgbClr val="B9B4A8"/>
                </a:solidFill>
                <a:latin typeface="Calibri" pitchFamily="34" charset="0"/>
                <a:ea typeface="Calibri" pitchFamily="34" charset="-122"/>
                <a:cs typeface="Calibri" pitchFamily="34" charset="-120"/>
              </a:rPr>
              <a:t>An organizational memory for an AI estate that outgrew the people who made it.</a:t>
            </a:r>
            <a:endParaRPr lang="en-US" sz="1500" dirty="0"/>
          </a:p>
        </p:txBody>
      </p:sp>
      <p:sp>
        <p:nvSpPr>
          <p:cNvPr id="5" name="Shape 3"/>
          <p:cNvSpPr/>
          <p:nvPr/>
        </p:nvSpPr>
        <p:spPr>
          <a:xfrm>
            <a:off x="658368" y="5285232"/>
            <a:ext cx="2286000" cy="329184"/>
          </a:xfrm>
          <a:prstGeom prst="roundRect">
            <a:avLst>
              <a:gd name="adj" fmla="val 50000"/>
            </a:avLst>
          </a:prstGeom>
          <a:solidFill>
            <a:srgbClr val="24231C"/>
          </a:solidFill>
          <a:ln w="12700">
            <a:solidFill>
              <a:srgbClr val="3A382E"/>
            </a:solidFill>
            <a:prstDash val="solid"/>
          </a:ln>
        </p:spPr>
      </p:sp>
      <p:sp>
        <p:nvSpPr>
          <p:cNvPr id="6" name="Text 4"/>
          <p:cNvSpPr txBox="1"/>
          <p:nvPr/>
        </p:nvSpPr>
        <p:spPr>
          <a:xfrm>
            <a:off x="658368" y="5285232"/>
            <a:ext cx="2286000" cy="329184"/>
          </a:xfrm>
          <a:prstGeom prst="rect">
            <a:avLst/>
          </a:prstGeom>
          <a:noFill/>
          <a:ln/>
        </p:spPr>
        <p:txBody>
          <a:bodyPr wrap="square" lIns="0" tIns="0" rIns="0" bIns="0" rtlCol="0" anchor="ctr"/>
          <a:lstStyle/>
          <a:p>
            <a:pPr algn="ctr" indent="0" marL="0">
              <a:buNone/>
            </a:pPr>
            <a:r>
              <a:rPr lang="en-US" sz="1050" dirty="0">
                <a:solidFill>
                  <a:srgbClr val="C8C3B8"/>
                </a:solidFill>
                <a:latin typeface="Calibri" pitchFamily="34" charset="0"/>
                <a:ea typeface="Calibri" pitchFamily="34" charset="-122"/>
                <a:cs typeface="Calibri" pitchFamily="34" charset="-120"/>
              </a:rPr>
              <a:t>Proposal  ·  Sept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HOW WE GOT HERE</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This is a success story that ran past its own limits.</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658368" y="2286000"/>
            <a:ext cx="5486400" cy="3017520"/>
          </a:xfrm>
          <a:prstGeom prst="roundRect">
            <a:avLst>
              <a:gd name="adj" fmla="val 1818"/>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1024128" y="2542032"/>
            <a:ext cx="1371600" cy="256032"/>
          </a:xfrm>
          <a:prstGeom prst="rect">
            <a:avLst/>
          </a:prstGeom>
          <a:noFill/>
          <a:ln/>
        </p:spPr>
        <p:txBody>
          <a:bodyPr wrap="square" lIns="0" tIns="0" rIns="0" bIns="0" rtlCol="0" anchor="ctr"/>
          <a:lstStyle/>
          <a:p>
            <a:pPr indent="0" marL="0">
              <a:buNone/>
            </a:pPr>
            <a:r>
              <a:rPr lang="en-US" sz="1100" b="1" spc="150" kern="0" dirty="0">
                <a:solidFill>
                  <a:srgbClr val="7D5900"/>
                </a:solidFill>
                <a:latin typeface="Calibri" pitchFamily="34" charset="0"/>
                <a:ea typeface="Calibri" pitchFamily="34" charset="-122"/>
                <a:cs typeface="Calibri" pitchFamily="34" charset="-120"/>
              </a:rPr>
              <a:t>2024</a:t>
            </a:r>
            <a:endParaRPr lang="en-US" sz="1100" dirty="0"/>
          </a:p>
        </p:txBody>
      </p:sp>
      <p:sp>
        <p:nvSpPr>
          <p:cNvPr id="8" name="Text 6"/>
          <p:cNvSpPr txBox="1"/>
          <p:nvPr/>
        </p:nvSpPr>
        <p:spPr>
          <a:xfrm>
            <a:off x="1024128" y="2816352"/>
            <a:ext cx="4754880" cy="548640"/>
          </a:xfrm>
          <a:prstGeom prst="rect">
            <a:avLst/>
          </a:prstGeom>
          <a:noFill/>
          <a:ln/>
        </p:spPr>
        <p:txBody>
          <a:bodyPr wrap="square" lIns="0" tIns="0" rIns="0" bIns="0" rtlCol="0" anchor="ctr"/>
          <a:lstStyle/>
          <a:p>
            <a:pPr indent="0" marL="0">
              <a:lnSpc>
                <a:spcPct val="115000"/>
              </a:lnSpc>
              <a:buNone/>
            </a:pPr>
            <a:r>
              <a:rPr lang="en-US" sz="1450" dirty="0">
                <a:solidFill>
                  <a:srgbClr val="1A1917"/>
                </a:solidFill>
                <a:latin typeface="Calibri" pitchFamily="34" charset="0"/>
                <a:ea typeface="Calibri" pitchFamily="34" charset="-122"/>
                <a:cs typeface="Calibri" pitchFamily="34" charset="-120"/>
              </a:rPr>
              <a:t>Give capable people Claude and let them build.</a:t>
            </a:r>
            <a:endParaRPr lang="en-US" sz="1450" dirty="0"/>
          </a:p>
        </p:txBody>
      </p:sp>
      <p:sp>
        <p:nvSpPr>
          <p:cNvPr id="9" name="Text 7"/>
          <p:cNvSpPr txBox="1"/>
          <p:nvPr/>
        </p:nvSpPr>
        <p:spPr>
          <a:xfrm>
            <a:off x="1024128" y="3456432"/>
            <a:ext cx="1371600" cy="256032"/>
          </a:xfrm>
          <a:prstGeom prst="rect">
            <a:avLst/>
          </a:prstGeom>
          <a:noFill/>
          <a:ln/>
        </p:spPr>
        <p:txBody>
          <a:bodyPr wrap="square" lIns="0" tIns="0" rIns="0" bIns="0" rtlCol="0" anchor="ctr"/>
          <a:lstStyle/>
          <a:p>
            <a:pPr indent="0" marL="0">
              <a:buNone/>
            </a:pPr>
            <a:r>
              <a:rPr lang="en-US" sz="1100" b="1" spc="150" kern="0" dirty="0">
                <a:solidFill>
                  <a:srgbClr val="7D5900"/>
                </a:solidFill>
                <a:latin typeface="Calibri" pitchFamily="34" charset="0"/>
                <a:ea typeface="Calibri" pitchFamily="34" charset="-122"/>
                <a:cs typeface="Calibri" pitchFamily="34" charset="-120"/>
              </a:rPr>
              <a:t>Year one</a:t>
            </a:r>
            <a:endParaRPr lang="en-US" sz="1100" dirty="0"/>
          </a:p>
        </p:txBody>
      </p:sp>
      <p:sp>
        <p:nvSpPr>
          <p:cNvPr id="10" name="Text 8"/>
          <p:cNvSpPr txBox="1"/>
          <p:nvPr/>
        </p:nvSpPr>
        <p:spPr>
          <a:xfrm>
            <a:off x="1024128" y="3730752"/>
            <a:ext cx="4754880" cy="548640"/>
          </a:xfrm>
          <a:prstGeom prst="rect">
            <a:avLst/>
          </a:prstGeom>
          <a:noFill/>
          <a:ln/>
        </p:spPr>
        <p:txBody>
          <a:bodyPr wrap="square" lIns="0" tIns="0" rIns="0" bIns="0" rtlCol="0" anchor="ctr"/>
          <a:lstStyle/>
          <a:p>
            <a:pPr indent="0" marL="0">
              <a:lnSpc>
                <a:spcPct val="115000"/>
              </a:lnSpc>
              <a:buNone/>
            </a:pPr>
            <a:r>
              <a:rPr lang="en-US" sz="1450" dirty="0">
                <a:solidFill>
                  <a:srgbClr val="1A1917"/>
                </a:solidFill>
                <a:latin typeface="Calibri" pitchFamily="34" charset="0"/>
                <a:ea typeface="Calibri" pitchFamily="34" charset="-122"/>
                <a:cs typeface="Calibri" pitchFamily="34" charset="-120"/>
              </a:rPr>
              <a:t>It works. Applications appear. Everyone ships.</a:t>
            </a:r>
            <a:endParaRPr lang="en-US" sz="1450" dirty="0"/>
          </a:p>
        </p:txBody>
      </p:sp>
      <p:sp>
        <p:nvSpPr>
          <p:cNvPr id="11" name="Text 9"/>
          <p:cNvSpPr txBox="1"/>
          <p:nvPr/>
        </p:nvSpPr>
        <p:spPr>
          <a:xfrm>
            <a:off x="1024128" y="4370832"/>
            <a:ext cx="1371600" cy="256032"/>
          </a:xfrm>
          <a:prstGeom prst="rect">
            <a:avLst/>
          </a:prstGeom>
          <a:noFill/>
          <a:ln/>
        </p:spPr>
        <p:txBody>
          <a:bodyPr wrap="square" lIns="0" tIns="0" rIns="0" bIns="0" rtlCol="0" anchor="ctr"/>
          <a:lstStyle/>
          <a:p>
            <a:pPr indent="0" marL="0">
              <a:buNone/>
            </a:pPr>
            <a:r>
              <a:rPr lang="en-US" sz="1100" b="1" spc="150" kern="0" dirty="0">
                <a:solidFill>
                  <a:srgbClr val="7D5900"/>
                </a:solidFill>
                <a:latin typeface="Calibri" pitchFamily="34" charset="0"/>
                <a:ea typeface="Calibri" pitchFamily="34" charset="-122"/>
                <a:cs typeface="Calibri" pitchFamily="34" charset="-120"/>
              </a:rPr>
              <a:t>Today</a:t>
            </a:r>
            <a:endParaRPr lang="en-US" sz="1100" dirty="0"/>
          </a:p>
        </p:txBody>
      </p:sp>
      <p:sp>
        <p:nvSpPr>
          <p:cNvPr id="12" name="Text 10"/>
          <p:cNvSpPr txBox="1"/>
          <p:nvPr/>
        </p:nvSpPr>
        <p:spPr>
          <a:xfrm>
            <a:off x="1024128" y="4645152"/>
            <a:ext cx="4754880" cy="548640"/>
          </a:xfrm>
          <a:prstGeom prst="rect">
            <a:avLst/>
          </a:prstGeom>
          <a:noFill/>
          <a:ln/>
        </p:spPr>
        <p:txBody>
          <a:bodyPr wrap="square" lIns="0" tIns="0" rIns="0" bIns="0" rtlCol="0" anchor="ctr"/>
          <a:lstStyle/>
          <a:p>
            <a:pPr indent="0" marL="0">
              <a:lnSpc>
                <a:spcPct val="115000"/>
              </a:lnSpc>
              <a:buNone/>
            </a:pPr>
            <a:r>
              <a:rPr lang="en-US" sz="1450" dirty="0">
                <a:solidFill>
                  <a:srgbClr val="1A1917"/>
                </a:solidFill>
                <a:latin typeface="Calibri" pitchFamily="34" charset="0"/>
                <a:ea typeface="Calibri" pitchFamily="34" charset="-122"/>
                <a:cs typeface="Calibri" pitchFamily="34" charset="-120"/>
              </a:rPr>
              <a:t>51 packaged items. Nobody was ever assigned to keep track.</a:t>
            </a:r>
            <a:endParaRPr lang="en-US" sz="1450" dirty="0"/>
          </a:p>
        </p:txBody>
      </p:sp>
      <p:sp>
        <p:nvSpPr>
          <p:cNvPr id="13" name="Shape 11"/>
          <p:cNvSpPr/>
          <p:nvPr/>
        </p:nvSpPr>
        <p:spPr>
          <a:xfrm>
            <a:off x="6455664" y="2286000"/>
            <a:ext cx="5074920" cy="3017520"/>
          </a:xfrm>
          <a:prstGeom prst="roundRect">
            <a:avLst>
              <a:gd name="adj" fmla="val 1818"/>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14" name="Text 12"/>
          <p:cNvSpPr txBox="1"/>
          <p:nvPr/>
        </p:nvSpPr>
        <p:spPr>
          <a:xfrm>
            <a:off x="6858000" y="2670048"/>
            <a:ext cx="4270248" cy="1188720"/>
          </a:xfrm>
          <a:prstGeom prst="rect">
            <a:avLst/>
          </a:prstGeom>
          <a:noFill/>
          <a:ln/>
        </p:spPr>
        <p:txBody>
          <a:bodyPr wrap="square" lIns="0" tIns="0" rIns="0" bIns="0" rtlCol="0" anchor="ctr"/>
          <a:lstStyle/>
          <a:p>
            <a:pPr indent="0" marL="0">
              <a:lnSpc>
                <a:spcPct val="110000"/>
              </a:lnSpc>
              <a:buNone/>
            </a:pPr>
            <a:r>
              <a:rPr lang="en-US" sz="2400" b="1" dirty="0">
                <a:solidFill>
                  <a:srgbClr val="F8F7F1"/>
                </a:solidFill>
                <a:latin typeface="Cambria" pitchFamily="34" charset="0"/>
                <a:ea typeface="Cambria" pitchFamily="34" charset="-122"/>
                <a:cs typeface="Cambria" pitchFamily="34" charset="-120"/>
              </a:rPr>
              <a:t>At five applications,</a:t>
            </a:r>
            <a:endParaRPr lang="en-US" sz="2400" dirty="0"/>
          </a:p>
          <a:p>
            <a:pPr indent="0" marL="0">
              <a:lnSpc>
                <a:spcPct val="110000"/>
              </a:lnSpc>
              <a:buNone/>
            </a:pPr>
            <a:r>
              <a:rPr lang="en-US" sz="2400" b="1" dirty="0">
                <a:solidFill>
                  <a:srgbClr val="F8F7F1"/>
                </a:solidFill>
                <a:latin typeface="Cambria" pitchFamily="34" charset="0"/>
                <a:ea typeface="Cambria" pitchFamily="34" charset="-122"/>
                <a:cs typeface="Cambria" pitchFamily="34" charset="-120"/>
              </a:rPr>
              <a:t>nobody needs a system</a:t>
            </a:r>
            <a:endParaRPr lang="en-US" sz="2400" dirty="0"/>
          </a:p>
          <a:p>
            <a:pPr indent="0" marL="0">
              <a:lnSpc>
                <a:spcPct val="110000"/>
              </a:lnSpc>
              <a:buNone/>
            </a:pPr>
            <a:r>
              <a:rPr lang="en-US" sz="2400" b="1" dirty="0">
                <a:solidFill>
                  <a:srgbClr val="F8F7F1"/>
                </a:solidFill>
                <a:latin typeface="Cambria" pitchFamily="34" charset="0"/>
                <a:ea typeface="Cambria" pitchFamily="34" charset="-122"/>
                <a:cs typeface="Cambria" pitchFamily="34" charset="-120"/>
              </a:rPr>
              <a:t>to remember them.</a:t>
            </a:r>
            <a:endParaRPr lang="en-US" sz="2400" dirty="0"/>
          </a:p>
        </p:txBody>
      </p:sp>
      <p:sp>
        <p:nvSpPr>
          <p:cNvPr id="15" name="Text 13"/>
          <p:cNvSpPr txBox="1"/>
          <p:nvPr/>
        </p:nvSpPr>
        <p:spPr>
          <a:xfrm>
            <a:off x="6858000" y="3986784"/>
            <a:ext cx="4270248" cy="1097280"/>
          </a:xfrm>
          <a:prstGeom prst="rect">
            <a:avLst/>
          </a:prstGeom>
          <a:noFill/>
          <a:ln/>
        </p:spPr>
        <p:txBody>
          <a:bodyPr wrap="square" lIns="0" tIns="0" rIns="0" bIns="0" rtlCol="0" anchor="ctr"/>
          <a:lstStyle/>
          <a:p>
            <a:pPr indent="0" marL="0">
              <a:lnSpc>
                <a:spcPct val="120000"/>
              </a:lnSpc>
              <a:buNone/>
            </a:pPr>
            <a:r>
              <a:rPr lang="en-US" sz="1400" dirty="0">
                <a:solidFill>
                  <a:srgbClr val="C8C3B8"/>
                </a:solidFill>
                <a:latin typeface="Calibri" pitchFamily="34" charset="0"/>
                <a:ea typeface="Calibri" pitchFamily="34" charset="-122"/>
                <a:cs typeface="Calibri" pitchFamily="34" charset="-120"/>
              </a:rPr>
              <a:t>At fifty-one, the knowledge lives in individual heads and individual repositories, and there is no way to ask the organization what it can already do.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THE PROBLEM</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Nobody knows what already exists.</a:t>
            </a:r>
            <a:endParaRPr lang="en-US" sz="3300" dirty="0"/>
          </a:p>
        </p:txBody>
      </p:sp>
      <p:sp>
        <p:nvSpPr>
          <p:cNvPr id="4" name="Text 2"/>
          <p:cNvSpPr txBox="1"/>
          <p:nvPr/>
        </p:nvSpPr>
        <p:spPr>
          <a:xfrm>
            <a:off x="658368" y="1536192"/>
            <a:ext cx="9567550" cy="512064"/>
          </a:xfrm>
          <a:prstGeom prst="rect">
            <a:avLst/>
          </a:prstGeom>
          <a:noFill/>
          <a:ln/>
        </p:spPr>
        <p:txBody>
          <a:bodyPr wrap="square" lIns="0" tIns="0" rIns="0" bIns="0" rtlCol="0" anchor="ctr"/>
          <a:lstStyle/>
          <a:p>
            <a:pPr indent="0" marL="0">
              <a:lnSpc>
                <a:spcPct val="115000"/>
              </a:lnSpc>
              <a:buNone/>
            </a:pPr>
            <a:r>
              <a:rPr lang="en-US" sz="1500" dirty="0">
                <a:solidFill>
                  <a:srgbClr val="5F5B51"/>
                </a:solidFill>
                <a:latin typeface="Calibri" pitchFamily="34" charset="0"/>
                <a:ea typeface="Calibri" pitchFamily="34" charset="-122"/>
                <a:cs typeface="Calibri" pitchFamily="34" charset="-120"/>
              </a:rPr>
              <a:t>Every figure from Capital Factory's own repository survey.</a:t>
            </a:r>
            <a:endParaRPr lang="en-US" sz="1500" dirty="0"/>
          </a:p>
        </p:txBody>
      </p:sp>
      <p:sp>
        <p:nvSpPr>
          <p:cNvPr id="5" name="Text 3"/>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6" name="Text 4"/>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658368" y="2432304"/>
            <a:ext cx="2615184" cy="1024128"/>
          </a:xfrm>
          <a:prstGeom prst="roundRect">
            <a:avLst>
              <a:gd name="adj" fmla="val 5357"/>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8" name="Text 6"/>
          <p:cNvSpPr txBox="1"/>
          <p:nvPr/>
        </p:nvSpPr>
        <p:spPr>
          <a:xfrm>
            <a:off x="896112" y="2560320"/>
            <a:ext cx="2139696" cy="512064"/>
          </a:xfrm>
          <a:prstGeom prst="rect">
            <a:avLst/>
          </a:prstGeom>
          <a:noFill/>
          <a:ln/>
        </p:spPr>
        <p:txBody>
          <a:bodyPr wrap="square" lIns="0" tIns="0" rIns="0" bIns="0" rtlCol="0" anchor="ctr"/>
          <a:lstStyle/>
          <a:p>
            <a:pPr indent="0" marL="0">
              <a:buNone/>
            </a:pPr>
            <a:r>
              <a:rPr lang="en-US" sz="3400" b="1" dirty="0">
                <a:solidFill>
                  <a:srgbClr val="1A1917"/>
                </a:solidFill>
                <a:latin typeface="Cambria" pitchFamily="34" charset="0"/>
                <a:ea typeface="Cambria" pitchFamily="34" charset="-122"/>
                <a:cs typeface="Cambria" pitchFamily="34" charset="-120"/>
              </a:rPr>
              <a:t>51</a:t>
            </a:r>
            <a:endParaRPr lang="en-US" sz="3400" dirty="0"/>
          </a:p>
        </p:txBody>
      </p:sp>
      <p:sp>
        <p:nvSpPr>
          <p:cNvPr id="9" name="Text 7"/>
          <p:cNvSpPr txBox="1"/>
          <p:nvPr/>
        </p:nvSpPr>
        <p:spPr>
          <a:xfrm>
            <a:off x="896112" y="3072384"/>
            <a:ext cx="2139696" cy="274320"/>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packaged items</a:t>
            </a:r>
            <a:endParaRPr lang="en-US" sz="1250" dirty="0"/>
          </a:p>
        </p:txBody>
      </p:sp>
      <p:sp>
        <p:nvSpPr>
          <p:cNvPr id="10" name="Shape 8"/>
          <p:cNvSpPr/>
          <p:nvPr/>
        </p:nvSpPr>
        <p:spPr>
          <a:xfrm>
            <a:off x="3529584" y="2432304"/>
            <a:ext cx="2615184" cy="1024128"/>
          </a:xfrm>
          <a:prstGeom prst="roundRect">
            <a:avLst>
              <a:gd name="adj" fmla="val 5357"/>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1" name="Text 9"/>
          <p:cNvSpPr txBox="1"/>
          <p:nvPr/>
        </p:nvSpPr>
        <p:spPr>
          <a:xfrm>
            <a:off x="3767328" y="2560320"/>
            <a:ext cx="2139696" cy="512064"/>
          </a:xfrm>
          <a:prstGeom prst="rect">
            <a:avLst/>
          </a:prstGeom>
          <a:noFill/>
          <a:ln/>
        </p:spPr>
        <p:txBody>
          <a:bodyPr wrap="square" lIns="0" tIns="0" rIns="0" bIns="0" rtlCol="0" anchor="ctr"/>
          <a:lstStyle/>
          <a:p>
            <a:pPr indent="0" marL="0">
              <a:buNone/>
            </a:pPr>
            <a:r>
              <a:rPr lang="en-US" sz="3400" b="1" dirty="0">
                <a:solidFill>
                  <a:srgbClr val="1A1917"/>
                </a:solidFill>
                <a:latin typeface="Cambria" pitchFamily="34" charset="0"/>
                <a:ea typeface="Cambria" pitchFamily="34" charset="-122"/>
                <a:cs typeface="Cambria" pitchFamily="34" charset="-120"/>
              </a:rPr>
              <a:t>31</a:t>
            </a:r>
            <a:endParaRPr lang="en-US" sz="3400" dirty="0"/>
          </a:p>
        </p:txBody>
      </p:sp>
      <p:sp>
        <p:nvSpPr>
          <p:cNvPr id="12" name="Text 10"/>
          <p:cNvSpPr txBox="1"/>
          <p:nvPr/>
        </p:nvSpPr>
        <p:spPr>
          <a:xfrm>
            <a:off x="3767328" y="3072384"/>
            <a:ext cx="2139696" cy="274320"/>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applications</a:t>
            </a:r>
            <a:endParaRPr lang="en-US" sz="1250" dirty="0"/>
          </a:p>
        </p:txBody>
      </p:sp>
      <p:sp>
        <p:nvSpPr>
          <p:cNvPr id="13" name="Shape 11"/>
          <p:cNvSpPr/>
          <p:nvPr/>
        </p:nvSpPr>
        <p:spPr>
          <a:xfrm>
            <a:off x="658368" y="3657600"/>
            <a:ext cx="2615184" cy="1024128"/>
          </a:xfrm>
          <a:prstGeom prst="roundRect">
            <a:avLst>
              <a:gd name="adj" fmla="val 5357"/>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4" name="Text 12"/>
          <p:cNvSpPr txBox="1"/>
          <p:nvPr/>
        </p:nvSpPr>
        <p:spPr>
          <a:xfrm>
            <a:off x="896112" y="3785616"/>
            <a:ext cx="2139696" cy="512064"/>
          </a:xfrm>
          <a:prstGeom prst="rect">
            <a:avLst/>
          </a:prstGeom>
          <a:noFill/>
          <a:ln/>
        </p:spPr>
        <p:txBody>
          <a:bodyPr wrap="square" lIns="0" tIns="0" rIns="0" bIns="0" rtlCol="0" anchor="ctr"/>
          <a:lstStyle/>
          <a:p>
            <a:pPr indent="0" marL="0">
              <a:buNone/>
            </a:pPr>
            <a:r>
              <a:rPr lang="en-US" sz="3400" b="1" dirty="0">
                <a:solidFill>
                  <a:srgbClr val="1A1917"/>
                </a:solidFill>
                <a:latin typeface="Cambria" pitchFamily="34" charset="0"/>
                <a:ea typeface="Cambria" pitchFamily="34" charset="-122"/>
                <a:cs typeface="Cambria" pitchFamily="34" charset="-120"/>
              </a:rPr>
              <a:t>~10</a:t>
            </a:r>
            <a:endParaRPr lang="en-US" sz="3400" dirty="0"/>
          </a:p>
        </p:txBody>
      </p:sp>
      <p:sp>
        <p:nvSpPr>
          <p:cNvPr id="15" name="Text 13"/>
          <p:cNvSpPr txBox="1"/>
          <p:nvPr/>
        </p:nvSpPr>
        <p:spPr>
          <a:xfrm>
            <a:off x="896112" y="4297680"/>
            <a:ext cx="2139696" cy="274320"/>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built more than once</a:t>
            </a:r>
            <a:endParaRPr lang="en-US" sz="1250" dirty="0"/>
          </a:p>
        </p:txBody>
      </p:sp>
      <p:sp>
        <p:nvSpPr>
          <p:cNvPr id="16" name="Shape 14"/>
          <p:cNvSpPr/>
          <p:nvPr/>
        </p:nvSpPr>
        <p:spPr>
          <a:xfrm>
            <a:off x="3529584" y="3657600"/>
            <a:ext cx="2615184" cy="1024128"/>
          </a:xfrm>
          <a:prstGeom prst="roundRect">
            <a:avLst>
              <a:gd name="adj" fmla="val 5357"/>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7" name="Text 15"/>
          <p:cNvSpPr txBox="1"/>
          <p:nvPr/>
        </p:nvSpPr>
        <p:spPr>
          <a:xfrm>
            <a:off x="3767328" y="3785616"/>
            <a:ext cx="2139696" cy="512064"/>
          </a:xfrm>
          <a:prstGeom prst="rect">
            <a:avLst/>
          </a:prstGeom>
          <a:noFill/>
          <a:ln/>
        </p:spPr>
        <p:txBody>
          <a:bodyPr wrap="square" lIns="0" tIns="0" rIns="0" bIns="0" rtlCol="0" anchor="ctr"/>
          <a:lstStyle/>
          <a:p>
            <a:pPr indent="0" marL="0">
              <a:buNone/>
            </a:pPr>
            <a:r>
              <a:rPr lang="en-US" sz="3400" b="1" dirty="0">
                <a:solidFill>
                  <a:srgbClr val="B3261E"/>
                </a:solidFill>
                <a:latin typeface="Cambria" pitchFamily="34" charset="0"/>
                <a:ea typeface="Cambria" pitchFamily="34" charset="-122"/>
                <a:cs typeface="Cambria" pitchFamily="34" charset="-120"/>
              </a:rPr>
              <a:t>1</a:t>
            </a:r>
            <a:endParaRPr lang="en-US" sz="3400" dirty="0"/>
          </a:p>
        </p:txBody>
      </p:sp>
      <p:sp>
        <p:nvSpPr>
          <p:cNvPr id="18" name="Text 16"/>
          <p:cNvSpPr txBox="1"/>
          <p:nvPr/>
        </p:nvSpPr>
        <p:spPr>
          <a:xfrm>
            <a:off x="3767328" y="4297680"/>
            <a:ext cx="2139696" cy="274320"/>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evaluation suite</a:t>
            </a:r>
            <a:endParaRPr lang="en-US" sz="1250" dirty="0"/>
          </a:p>
        </p:txBody>
      </p:sp>
      <p:sp>
        <p:nvSpPr>
          <p:cNvPr id="19" name="Shape 17"/>
          <p:cNvSpPr/>
          <p:nvPr/>
        </p:nvSpPr>
        <p:spPr>
          <a:xfrm>
            <a:off x="6455664" y="2432304"/>
            <a:ext cx="5074920" cy="3054096"/>
          </a:xfrm>
          <a:prstGeom prst="roundRect">
            <a:avLst>
              <a:gd name="adj" fmla="val 1796"/>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20" name="Text 18"/>
          <p:cNvSpPr txBox="1"/>
          <p:nvPr/>
        </p:nvSpPr>
        <p:spPr>
          <a:xfrm>
            <a:off x="6784848" y="2651760"/>
            <a:ext cx="4416552" cy="310896"/>
          </a:xfrm>
          <a:prstGeom prst="rect">
            <a:avLst/>
          </a:prstGeom>
          <a:noFill/>
          <a:ln/>
        </p:spPr>
        <p:txBody>
          <a:bodyPr wrap="square" lIns="0" tIns="0" rIns="0" bIns="0" rtlCol="0" anchor="ctr"/>
          <a:lstStyle/>
          <a:p>
            <a:pPr indent="0" marL="0">
              <a:buNone/>
            </a:pPr>
            <a:r>
              <a:rPr lang="en-US" sz="1300" b="1" dirty="0">
                <a:solidFill>
                  <a:srgbClr val="7D5900"/>
                </a:solidFill>
                <a:latin typeface="Calibri" pitchFamily="34" charset="0"/>
                <a:ea typeface="Calibri" pitchFamily="34" charset="-122"/>
                <a:cs typeface="Calibri" pitchFamily="34" charset="-120"/>
              </a:rPr>
              <a:t>And it is organized by who wrote it</a:t>
            </a:r>
            <a:endParaRPr lang="en-US" sz="1300" dirty="0"/>
          </a:p>
        </p:txBody>
      </p:sp>
      <p:sp>
        <p:nvSpPr>
          <p:cNvPr id="21" name="Text 19"/>
          <p:cNvSpPr txBox="1"/>
          <p:nvPr/>
        </p:nvSpPr>
        <p:spPr>
          <a:xfrm>
            <a:off x="6784848" y="3072384"/>
            <a:ext cx="4206240" cy="292608"/>
          </a:xfrm>
          <a:prstGeom prst="rect">
            <a:avLst/>
          </a:prstGeom>
          <a:noFill/>
          <a:ln/>
        </p:spPr>
        <p:txBody>
          <a:bodyPr wrap="square" lIns="0" tIns="0" rIns="0" bIns="0" rtlCol="0" anchor="ctr"/>
          <a:lstStyle/>
          <a:p>
            <a:pPr indent="0" marL="0">
              <a:buNone/>
            </a:pPr>
            <a:r>
              <a:rPr lang="en-US" sz="1300" dirty="0">
                <a:solidFill>
                  <a:srgbClr val="1A1917"/>
                </a:solidFill>
                <a:latin typeface="Courier New" pitchFamily="34" charset="0"/>
                <a:ea typeface="Courier New" pitchFamily="34" charset="-122"/>
                <a:cs typeface="Courier New" pitchFamily="34" charset="-120"/>
              </a:rPr>
              <a:t>draft-like-jamie</a:t>
            </a:r>
            <a:endParaRPr lang="en-US" sz="1300" dirty="0"/>
          </a:p>
        </p:txBody>
      </p:sp>
      <p:sp>
        <p:nvSpPr>
          <p:cNvPr id="22" name="Text 20"/>
          <p:cNvSpPr txBox="1"/>
          <p:nvPr/>
        </p:nvSpPr>
        <p:spPr>
          <a:xfrm>
            <a:off x="6784848" y="3419856"/>
            <a:ext cx="4206240" cy="292608"/>
          </a:xfrm>
          <a:prstGeom prst="rect">
            <a:avLst/>
          </a:prstGeom>
          <a:noFill/>
          <a:ln/>
        </p:spPr>
        <p:txBody>
          <a:bodyPr wrap="square" lIns="0" tIns="0" rIns="0" bIns="0" rtlCol="0" anchor="ctr"/>
          <a:lstStyle/>
          <a:p>
            <a:pPr indent="0" marL="0">
              <a:buNone/>
            </a:pPr>
            <a:r>
              <a:rPr lang="en-US" sz="1300" dirty="0">
                <a:solidFill>
                  <a:srgbClr val="1A1917"/>
                </a:solidFill>
                <a:latin typeface="Courier New" pitchFamily="34" charset="0"/>
                <a:ea typeface="Courier New" pitchFamily="34" charset="-122"/>
                <a:cs typeface="Courier New" pitchFamily="34" charset="-120"/>
              </a:rPr>
              <a:t>draft-like-drew</a:t>
            </a:r>
            <a:endParaRPr lang="en-US" sz="1300" dirty="0"/>
          </a:p>
        </p:txBody>
      </p:sp>
      <p:sp>
        <p:nvSpPr>
          <p:cNvPr id="23" name="Text 21"/>
          <p:cNvSpPr txBox="1"/>
          <p:nvPr/>
        </p:nvSpPr>
        <p:spPr>
          <a:xfrm>
            <a:off x="6784848" y="3767328"/>
            <a:ext cx="4206240" cy="292608"/>
          </a:xfrm>
          <a:prstGeom prst="rect">
            <a:avLst/>
          </a:prstGeom>
          <a:noFill/>
          <a:ln/>
        </p:spPr>
        <p:txBody>
          <a:bodyPr wrap="square" lIns="0" tIns="0" rIns="0" bIns="0" rtlCol="0" anchor="ctr"/>
          <a:lstStyle/>
          <a:p>
            <a:pPr indent="0" marL="0">
              <a:buNone/>
            </a:pPr>
            <a:r>
              <a:rPr lang="en-US" sz="1300" dirty="0">
                <a:solidFill>
                  <a:srgbClr val="1A1917"/>
                </a:solidFill>
                <a:latin typeface="Courier New" pitchFamily="34" charset="0"/>
                <a:ea typeface="Courier New" pitchFamily="34" charset="-122"/>
                <a:cs typeface="Courier New" pitchFamily="34" charset="-120"/>
              </a:rPr>
              <a:t>jamie-simulator</a:t>
            </a:r>
            <a:endParaRPr lang="en-US" sz="1300" dirty="0"/>
          </a:p>
        </p:txBody>
      </p:sp>
      <p:sp>
        <p:nvSpPr>
          <p:cNvPr id="24" name="Text 22"/>
          <p:cNvSpPr txBox="1"/>
          <p:nvPr/>
        </p:nvSpPr>
        <p:spPr>
          <a:xfrm>
            <a:off x="6784848" y="4114800"/>
            <a:ext cx="4206240" cy="292608"/>
          </a:xfrm>
          <a:prstGeom prst="rect">
            <a:avLst/>
          </a:prstGeom>
          <a:noFill/>
          <a:ln/>
        </p:spPr>
        <p:txBody>
          <a:bodyPr wrap="square" lIns="0" tIns="0" rIns="0" bIns="0" rtlCol="0" anchor="ctr"/>
          <a:lstStyle/>
          <a:p>
            <a:pPr indent="0" marL="0">
              <a:buNone/>
            </a:pPr>
            <a:r>
              <a:rPr lang="en-US" sz="1300" dirty="0">
                <a:solidFill>
                  <a:srgbClr val="1A1917"/>
                </a:solidFill>
                <a:latin typeface="Courier New" pitchFamily="34" charset="0"/>
                <a:ea typeface="Courier New" pitchFamily="34" charset="-122"/>
                <a:cs typeface="Courier New" pitchFamily="34" charset="-120"/>
              </a:rPr>
              <a:t>drew-simulator</a:t>
            </a:r>
            <a:endParaRPr lang="en-US" sz="1300" dirty="0"/>
          </a:p>
        </p:txBody>
      </p:sp>
      <p:sp>
        <p:nvSpPr>
          <p:cNvPr id="25" name="Text 23"/>
          <p:cNvSpPr txBox="1"/>
          <p:nvPr/>
        </p:nvSpPr>
        <p:spPr>
          <a:xfrm>
            <a:off x="6784848" y="4462272"/>
            <a:ext cx="4206240" cy="292608"/>
          </a:xfrm>
          <a:prstGeom prst="rect">
            <a:avLst/>
          </a:prstGeom>
          <a:noFill/>
          <a:ln/>
        </p:spPr>
        <p:txBody>
          <a:bodyPr wrap="square" lIns="0" tIns="0" rIns="0" bIns="0" rtlCol="0" anchor="ctr"/>
          <a:lstStyle/>
          <a:p>
            <a:pPr indent="0" marL="0">
              <a:buNone/>
            </a:pPr>
            <a:r>
              <a:rPr lang="en-US" sz="1300" dirty="0">
                <a:solidFill>
                  <a:srgbClr val="1A1917"/>
                </a:solidFill>
                <a:latin typeface="Courier New" pitchFamily="34" charset="0"/>
                <a:ea typeface="Courier New" pitchFamily="34" charset="-122"/>
                <a:cs typeface="Courier New" pitchFamily="34" charset="-120"/>
              </a:rPr>
              <a:t>meeting-schedule  x3</a:t>
            </a:r>
            <a:endParaRPr lang="en-US" sz="1300" dirty="0"/>
          </a:p>
        </p:txBody>
      </p:sp>
      <p:sp>
        <p:nvSpPr>
          <p:cNvPr id="26" name="Text 24"/>
          <p:cNvSpPr txBox="1"/>
          <p:nvPr/>
        </p:nvSpPr>
        <p:spPr>
          <a:xfrm>
            <a:off x="6784848" y="4846320"/>
            <a:ext cx="4416552" cy="548640"/>
          </a:xfrm>
          <a:prstGeom prst="rect">
            <a:avLst/>
          </a:prstGeom>
          <a:noFill/>
          <a:ln/>
        </p:spPr>
        <p:txBody>
          <a:bodyPr wrap="square" lIns="0" tIns="0" rIns="0" bIns="0" rtlCol="0" anchor="ctr"/>
          <a:lstStyle/>
          <a:p>
            <a:pPr indent="0" marL="0">
              <a:lnSpc>
                <a:spcPct val="115000"/>
              </a:lnSpc>
              <a:buNone/>
            </a:pPr>
            <a:r>
              <a:rPr lang="en-US" sz="1250" dirty="0">
                <a:solidFill>
                  <a:srgbClr val="5F5B51"/>
                </a:solidFill>
                <a:latin typeface="Calibri" pitchFamily="34" charset="0"/>
                <a:ea typeface="Calibri" pitchFamily="34" charset="-122"/>
                <a:cs typeface="Calibri" pitchFamily="34" charset="-120"/>
              </a:rPr>
              <a:t>Six of the ten duplicates are duplicated once per person. Nobody did anything wrong: there was no shared place, so copying was the only move the system allowed.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THE COST</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This is already doing damage.</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658368" y="2286000"/>
            <a:ext cx="3380232" cy="2651760"/>
          </a:xfrm>
          <a:prstGeom prst="roundRect">
            <a:avLst>
              <a:gd name="adj" fmla="val 2069"/>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7" name="Shape 5"/>
          <p:cNvSpPr/>
          <p:nvPr/>
        </p:nvSpPr>
        <p:spPr>
          <a:xfrm>
            <a:off x="969264" y="2560320"/>
            <a:ext cx="941832" cy="265176"/>
          </a:xfrm>
          <a:prstGeom prst="roundRect">
            <a:avLst>
              <a:gd name="adj" fmla="val 50000"/>
            </a:avLst>
          </a:prstGeom>
          <a:solidFill>
            <a:srgbClr val="F9E8E7"/>
          </a:solidFill>
          <a:ln w="12700">
            <a:solidFill>
              <a:srgbClr val="F9E8E7"/>
            </a:solidFill>
            <a:prstDash val="solid"/>
          </a:ln>
        </p:spPr>
      </p:sp>
      <p:sp>
        <p:nvSpPr>
          <p:cNvPr id="8" name="Text 6"/>
          <p:cNvSpPr txBox="1"/>
          <p:nvPr/>
        </p:nvSpPr>
        <p:spPr>
          <a:xfrm>
            <a:off x="969264" y="2560320"/>
            <a:ext cx="941832" cy="265176"/>
          </a:xfrm>
          <a:prstGeom prst="rect">
            <a:avLst/>
          </a:prstGeom>
          <a:noFill/>
          <a:ln/>
        </p:spPr>
        <p:txBody>
          <a:bodyPr wrap="square" lIns="0" tIns="0" rIns="0" bIns="0" rtlCol="0" anchor="ctr"/>
          <a:lstStyle/>
          <a:p>
            <a:pPr algn="ctr" indent="0" marL="0">
              <a:buNone/>
            </a:pPr>
            <a:r>
              <a:rPr lang="en-US" sz="1000" b="1" dirty="0">
                <a:solidFill>
                  <a:srgbClr val="B3261E"/>
                </a:solidFill>
                <a:latin typeface="Calibri" pitchFamily="34" charset="0"/>
                <a:ea typeface="Calibri" pitchFamily="34" charset="-122"/>
                <a:cs typeface="Calibri" pitchFamily="34" charset="-120"/>
              </a:rPr>
              <a:t>compliance</a:t>
            </a:r>
            <a:endParaRPr lang="en-US" sz="1000" dirty="0"/>
          </a:p>
        </p:txBody>
      </p:sp>
      <p:sp>
        <p:nvSpPr>
          <p:cNvPr id="9" name="Text 7"/>
          <p:cNvSpPr txBox="1"/>
          <p:nvPr/>
        </p:nvSpPr>
        <p:spPr>
          <a:xfrm>
            <a:off x="969264" y="3035808"/>
            <a:ext cx="2758440" cy="640080"/>
          </a:xfrm>
          <a:prstGeom prst="rect">
            <a:avLst/>
          </a:prstGeom>
          <a:noFill/>
          <a:ln/>
        </p:spPr>
        <p:txBody>
          <a:bodyPr wrap="square" lIns="0" tIns="0" rIns="0" bIns="0" rtlCol="0" anchor="ctr"/>
          <a:lstStyle/>
          <a:p>
            <a:pPr indent="0" marL="0">
              <a:lnSpc>
                <a:spcPct val="108000"/>
              </a:lnSpc>
              <a:buNone/>
            </a:pPr>
            <a:r>
              <a:rPr lang="en-US" sz="1900" b="1" dirty="0">
                <a:solidFill>
                  <a:srgbClr val="1A1917"/>
                </a:solidFill>
                <a:latin typeface="Cambria" pitchFamily="34" charset="0"/>
                <a:ea typeface="Cambria" pitchFamily="34" charset="-122"/>
                <a:cs typeface="Cambria" pitchFamily="34" charset="-120"/>
              </a:rPr>
              <a:t>A safety rule only some apps follow</a:t>
            </a:r>
            <a:endParaRPr lang="en-US" sz="1900" dirty="0"/>
          </a:p>
        </p:txBody>
      </p:sp>
      <p:sp>
        <p:nvSpPr>
          <p:cNvPr id="10" name="Text 8"/>
          <p:cNvSpPr txBox="1"/>
          <p:nvPr/>
        </p:nvSpPr>
        <p:spPr>
          <a:xfrm>
            <a:off x="969264" y="3749040"/>
            <a:ext cx="2758440" cy="1097280"/>
          </a:xfrm>
          <a:prstGeom prst="rect">
            <a:avLst/>
          </a:prstGeom>
          <a:noFill/>
          <a:ln/>
        </p:spPr>
        <p:txBody>
          <a:bodyPr wrap="square" lIns="0" tIns="0" rIns="0" bIns="0" rtlCol="0" anchor="ctr"/>
          <a:lstStyle/>
          <a:p>
            <a:pPr indent="0" marL="0">
              <a:lnSpc>
                <a:spcPct val="118000"/>
              </a:lnSpc>
              <a:buNone/>
            </a:pPr>
            <a:r>
              <a:rPr lang="en-US" sz="1300" dirty="0">
                <a:solidFill>
                  <a:srgbClr val="5F5B51"/>
                </a:solidFill>
                <a:latin typeface="Calibri" pitchFamily="34" charset="0"/>
                <a:ea typeface="Calibri" pitchFamily="34" charset="-122"/>
                <a:cs typeface="Calibri" pitchFamily="34" charset="-120"/>
              </a:rPr>
              <a:t>Four applications write the investor database. Three go through a guardrail. One writes directly.</a:t>
            </a:r>
            <a:endParaRPr lang="en-US" sz="1300" dirty="0"/>
          </a:p>
        </p:txBody>
      </p:sp>
      <p:sp>
        <p:nvSpPr>
          <p:cNvPr id="11" name="Shape 9"/>
          <p:cNvSpPr/>
          <p:nvPr/>
        </p:nvSpPr>
        <p:spPr>
          <a:xfrm>
            <a:off x="4404360" y="2286000"/>
            <a:ext cx="3380232" cy="2651760"/>
          </a:xfrm>
          <a:prstGeom prst="roundRect">
            <a:avLst>
              <a:gd name="adj" fmla="val 2069"/>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2" name="Shape 10"/>
          <p:cNvSpPr/>
          <p:nvPr/>
        </p:nvSpPr>
        <p:spPr>
          <a:xfrm>
            <a:off x="4715256" y="2560320"/>
            <a:ext cx="1014070" cy="265176"/>
          </a:xfrm>
          <a:prstGeom prst="roundRect">
            <a:avLst>
              <a:gd name="adj" fmla="val 50000"/>
            </a:avLst>
          </a:prstGeom>
          <a:solidFill>
            <a:srgbClr val="FBF1D8"/>
          </a:solidFill>
          <a:ln w="12700">
            <a:solidFill>
              <a:srgbClr val="FBF1D8"/>
            </a:solidFill>
            <a:prstDash val="solid"/>
          </a:ln>
        </p:spPr>
      </p:sp>
      <p:sp>
        <p:nvSpPr>
          <p:cNvPr id="13" name="Text 11"/>
          <p:cNvSpPr txBox="1"/>
          <p:nvPr/>
        </p:nvSpPr>
        <p:spPr>
          <a:xfrm>
            <a:off x="4715256" y="2560320"/>
            <a:ext cx="1014070" cy="265176"/>
          </a:xfrm>
          <a:prstGeom prst="rect">
            <a:avLst/>
          </a:prstGeom>
          <a:noFill/>
          <a:ln/>
        </p:spPr>
        <p:txBody>
          <a:bodyPr wrap="square" lIns="0" tIns="0" rIns="0" bIns="0" rtlCol="0" anchor="ctr"/>
          <a:lstStyle/>
          <a:p>
            <a:pPr algn="ctr" indent="0" marL="0">
              <a:buNone/>
            </a:pPr>
            <a:r>
              <a:rPr lang="en-US" sz="1000" b="1" dirty="0">
                <a:solidFill>
                  <a:srgbClr val="7D5900"/>
                </a:solidFill>
                <a:latin typeface="Calibri" pitchFamily="34" charset="0"/>
                <a:ea typeface="Calibri" pitchFamily="34" charset="-122"/>
                <a:cs typeface="Calibri" pitchFamily="34" charset="-120"/>
              </a:rPr>
              <a:t>correctness</a:t>
            </a:r>
            <a:endParaRPr lang="en-US" sz="1000" dirty="0"/>
          </a:p>
        </p:txBody>
      </p:sp>
      <p:sp>
        <p:nvSpPr>
          <p:cNvPr id="14" name="Text 12"/>
          <p:cNvSpPr txBox="1"/>
          <p:nvPr/>
        </p:nvSpPr>
        <p:spPr>
          <a:xfrm>
            <a:off x="4715256" y="3035808"/>
            <a:ext cx="2758440" cy="640080"/>
          </a:xfrm>
          <a:prstGeom prst="rect">
            <a:avLst/>
          </a:prstGeom>
          <a:noFill/>
          <a:ln/>
        </p:spPr>
        <p:txBody>
          <a:bodyPr wrap="square" lIns="0" tIns="0" rIns="0" bIns="0" rtlCol="0" anchor="ctr"/>
          <a:lstStyle/>
          <a:p>
            <a:pPr indent="0" marL="0">
              <a:lnSpc>
                <a:spcPct val="108000"/>
              </a:lnSpc>
              <a:buNone/>
            </a:pPr>
            <a:r>
              <a:rPr lang="en-US" sz="1900" b="1" dirty="0">
                <a:solidFill>
                  <a:srgbClr val="1A1917"/>
                </a:solidFill>
                <a:latin typeface="Cambria" pitchFamily="34" charset="0"/>
                <a:ea typeface="Cambria" pitchFamily="34" charset="-122"/>
                <a:cs typeface="Cambria" pitchFamily="34" charset="-120"/>
              </a:rPr>
              <a:t>A control that quietly diverged</a:t>
            </a:r>
            <a:endParaRPr lang="en-US" sz="1900" dirty="0"/>
          </a:p>
        </p:txBody>
      </p:sp>
      <p:sp>
        <p:nvSpPr>
          <p:cNvPr id="15" name="Text 13"/>
          <p:cNvSpPr txBox="1"/>
          <p:nvPr/>
        </p:nvSpPr>
        <p:spPr>
          <a:xfrm>
            <a:off x="4715256" y="3749040"/>
            <a:ext cx="2758440" cy="1097280"/>
          </a:xfrm>
          <a:prstGeom prst="rect">
            <a:avLst/>
          </a:prstGeom>
          <a:noFill/>
          <a:ln/>
        </p:spPr>
        <p:txBody>
          <a:bodyPr wrap="square" lIns="0" tIns="0" rIns="0" bIns="0" rtlCol="0" anchor="ctr"/>
          <a:lstStyle/>
          <a:p>
            <a:pPr indent="0" marL="0">
              <a:lnSpc>
                <a:spcPct val="118000"/>
              </a:lnSpc>
              <a:buNone/>
            </a:pPr>
            <a:r>
              <a:rPr lang="en-US" sz="1300" dirty="0">
                <a:solidFill>
                  <a:srgbClr val="5F5B51"/>
                </a:solidFill>
                <a:latin typeface="Calibri" pitchFamily="34" charset="0"/>
                <a:ea typeface="Calibri" pitchFamily="34" charset="-122"/>
                <a:cs typeface="Calibri" pitchFamily="34" charset="-120"/>
              </a:rPr>
              <a:t>A compliance rule was copied by hand into two repositories. The copies no longer agree.</a:t>
            </a:r>
            <a:endParaRPr lang="en-US" sz="1300" dirty="0"/>
          </a:p>
        </p:txBody>
      </p:sp>
      <p:sp>
        <p:nvSpPr>
          <p:cNvPr id="16" name="Shape 14"/>
          <p:cNvSpPr/>
          <p:nvPr/>
        </p:nvSpPr>
        <p:spPr>
          <a:xfrm>
            <a:off x="8150352" y="2286000"/>
            <a:ext cx="3380232" cy="2651760"/>
          </a:xfrm>
          <a:prstGeom prst="roundRect">
            <a:avLst>
              <a:gd name="adj" fmla="val 2069"/>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7" name="Shape 15"/>
          <p:cNvSpPr/>
          <p:nvPr/>
        </p:nvSpPr>
        <p:spPr>
          <a:xfrm>
            <a:off x="8461248" y="2560320"/>
            <a:ext cx="508406" cy="265176"/>
          </a:xfrm>
          <a:prstGeom prst="roundRect">
            <a:avLst>
              <a:gd name="adj" fmla="val 50000"/>
            </a:avLst>
          </a:prstGeom>
          <a:solidFill>
            <a:srgbClr val="EDEBE1"/>
          </a:solidFill>
          <a:ln w="12700">
            <a:solidFill>
              <a:srgbClr val="EDEBE1"/>
            </a:solidFill>
            <a:prstDash val="solid"/>
          </a:ln>
        </p:spPr>
      </p:sp>
      <p:sp>
        <p:nvSpPr>
          <p:cNvPr id="18" name="Text 16"/>
          <p:cNvSpPr txBox="1"/>
          <p:nvPr/>
        </p:nvSpPr>
        <p:spPr>
          <a:xfrm>
            <a:off x="8461248" y="2560320"/>
            <a:ext cx="508406" cy="265176"/>
          </a:xfrm>
          <a:prstGeom prst="rect">
            <a:avLst/>
          </a:prstGeom>
          <a:noFill/>
          <a:ln/>
        </p:spPr>
        <p:txBody>
          <a:bodyPr wrap="square" lIns="0" tIns="0" rIns="0" bIns="0" rtlCol="0" anchor="ctr"/>
          <a:lstStyle/>
          <a:p>
            <a:pPr algn="ctr" indent="0" marL="0">
              <a:buNone/>
            </a:pPr>
            <a:r>
              <a:rPr lang="en-US" sz="1000" b="1" dirty="0">
                <a:solidFill>
                  <a:srgbClr val="5F5B51"/>
                </a:solidFill>
                <a:latin typeface="Calibri" pitchFamily="34" charset="0"/>
                <a:ea typeface="Calibri" pitchFamily="34" charset="-122"/>
                <a:cs typeface="Calibri" pitchFamily="34" charset="-120"/>
              </a:rPr>
              <a:t>cost</a:t>
            </a:r>
            <a:endParaRPr lang="en-US" sz="1000" dirty="0"/>
          </a:p>
        </p:txBody>
      </p:sp>
      <p:sp>
        <p:nvSpPr>
          <p:cNvPr id="19" name="Text 17"/>
          <p:cNvSpPr txBox="1"/>
          <p:nvPr/>
        </p:nvSpPr>
        <p:spPr>
          <a:xfrm>
            <a:off x="8461248" y="3035808"/>
            <a:ext cx="2758440" cy="640080"/>
          </a:xfrm>
          <a:prstGeom prst="rect">
            <a:avLst/>
          </a:prstGeom>
          <a:noFill/>
          <a:ln/>
        </p:spPr>
        <p:txBody>
          <a:bodyPr wrap="square" lIns="0" tIns="0" rIns="0" bIns="0" rtlCol="0" anchor="ctr"/>
          <a:lstStyle/>
          <a:p>
            <a:pPr indent="0" marL="0">
              <a:lnSpc>
                <a:spcPct val="108000"/>
              </a:lnSpc>
              <a:buNone/>
            </a:pPr>
            <a:r>
              <a:rPr lang="en-US" sz="1900" b="1" dirty="0">
                <a:solidFill>
                  <a:srgbClr val="1A1917"/>
                </a:solidFill>
                <a:latin typeface="Cambria" pitchFamily="34" charset="0"/>
                <a:ea typeface="Cambria" pitchFamily="34" charset="-122"/>
                <a:cs typeface="Cambria" pitchFamily="34" charset="-120"/>
              </a:rPr>
              <a:t>Savings nobody can collect</a:t>
            </a:r>
            <a:endParaRPr lang="en-US" sz="1900" dirty="0"/>
          </a:p>
        </p:txBody>
      </p:sp>
      <p:sp>
        <p:nvSpPr>
          <p:cNvPr id="20" name="Text 18"/>
          <p:cNvSpPr txBox="1"/>
          <p:nvPr/>
        </p:nvSpPr>
        <p:spPr>
          <a:xfrm>
            <a:off x="8461248" y="3749040"/>
            <a:ext cx="2758440" cy="1097280"/>
          </a:xfrm>
          <a:prstGeom prst="rect">
            <a:avLst/>
          </a:prstGeom>
          <a:noFill/>
          <a:ln/>
        </p:spPr>
        <p:txBody>
          <a:bodyPr wrap="square" lIns="0" tIns="0" rIns="0" bIns="0" rtlCol="0" anchor="ctr"/>
          <a:lstStyle/>
          <a:p>
            <a:pPr indent="0" marL="0">
              <a:lnSpc>
                <a:spcPct val="118000"/>
              </a:lnSpc>
              <a:buNone/>
            </a:pPr>
            <a:r>
              <a:rPr lang="en-US" sz="1300" dirty="0">
                <a:solidFill>
                  <a:srgbClr val="5F5B51"/>
                </a:solidFill>
                <a:latin typeface="Calibri" pitchFamily="34" charset="0"/>
                <a:ea typeface="Calibri" pitchFamily="34" charset="-122"/>
                <a:cs typeface="Calibri" pitchFamily="34" charset="-120"/>
              </a:rPr>
              <a:t>Swapping a cheaper model into work that does not need a frontier one would have to be found and done separately in every copy.</a:t>
            </a:r>
            <a:endParaRPr lang="en-US" sz="1300" dirty="0"/>
          </a:p>
        </p:txBody>
      </p:sp>
      <p:sp>
        <p:nvSpPr>
          <p:cNvPr id="21" name="Text 19"/>
          <p:cNvSpPr txBox="1"/>
          <p:nvPr/>
        </p:nvSpPr>
        <p:spPr>
          <a:xfrm>
            <a:off x="658368" y="5230368"/>
            <a:ext cx="10872216" cy="402336"/>
          </a:xfrm>
          <a:prstGeom prst="rect">
            <a:avLst/>
          </a:prstGeom>
          <a:noFill/>
          <a:ln/>
        </p:spPr>
        <p:txBody>
          <a:bodyPr wrap="square" lIns="0" tIns="0" rIns="0" bIns="0" rtlCol="0" anchor="ctr"/>
          <a:lstStyle/>
          <a:p>
            <a:pPr indent="0" marL="0">
              <a:buNone/>
            </a:pPr>
            <a:r>
              <a:rPr lang="en-US" sz="1800" b="1" dirty="0">
                <a:solidFill>
                  <a:srgbClr val="7D5900"/>
                </a:solidFill>
                <a:latin typeface="Cambria" pitchFamily="34" charset="0"/>
                <a:ea typeface="Cambria" pitchFamily="34" charset="-122"/>
                <a:cs typeface="Cambria" pitchFamily="34" charset="-120"/>
              </a:rPr>
              <a:t>A compliance control enforced by copy and paste is a control by memory. Memory is the thing that ran out.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THE OBVIOUS ANSWER</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So build a catalog.</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5</a:t>
            </a:r>
            <a:endParaRPr lang="en-US" sz="900" dirty="0"/>
          </a:p>
        </p:txBody>
      </p:sp>
      <p:pic>
        <p:nvPicPr>
          <p:cNvPr id="6" name="Image 0" descr="preencoded.png">    </p:cNvPr>
          <p:cNvPicPr>
            <a:picLocks noChangeAspect="1"/>
          </p:cNvPicPr>
          <p:nvPr/>
        </p:nvPicPr>
        <p:blipFill>
          <a:blip r:embed="rId1"/>
          <a:stretch>
            <a:fillRect/>
          </a:stretch>
        </p:blipFill>
        <p:spPr>
          <a:xfrm>
            <a:off x="658368" y="2139696"/>
            <a:ext cx="6858000" cy="2980944"/>
          </a:xfrm>
          <a:prstGeom prst="rect">
            <a:avLst/>
          </a:prstGeom>
        </p:spPr>
      </p:pic>
      <p:sp>
        <p:nvSpPr>
          <p:cNvPr id="7" name="Shape 4"/>
          <p:cNvSpPr/>
          <p:nvPr/>
        </p:nvSpPr>
        <p:spPr>
          <a:xfrm>
            <a:off x="658368" y="2139696"/>
            <a:ext cx="6858000" cy="2980944"/>
          </a:xfrm>
          <a:prstGeom prst="roundRect">
            <a:avLst>
              <a:gd name="adj" fmla="val 1227"/>
            </a:avLst>
          </a:prstGeom>
          <a:solidFill>
            <a:srgbClr val="FFFFFF">
              <a:alpha val="0"/>
            </a:srgbClr>
          </a:solidFill>
          <a:ln w="12700">
            <a:solidFill>
              <a:srgbClr val="E3E1D7"/>
            </a:solidFill>
            <a:prstDash val="solid"/>
          </a:ln>
        </p:spPr>
      </p:sp>
      <p:sp>
        <p:nvSpPr>
          <p:cNvPr id="8" name="Shape 5"/>
          <p:cNvSpPr/>
          <p:nvPr/>
        </p:nvSpPr>
        <p:spPr>
          <a:xfrm>
            <a:off x="7882128" y="2139696"/>
            <a:ext cx="3648456" cy="2980944"/>
          </a:xfrm>
          <a:prstGeom prst="roundRect">
            <a:avLst>
              <a:gd name="adj" fmla="val 1840"/>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9" name="Text 6"/>
          <p:cNvSpPr txBox="1"/>
          <p:nvPr/>
        </p:nvSpPr>
        <p:spPr>
          <a:xfrm>
            <a:off x="8247888" y="2450592"/>
            <a:ext cx="2916936" cy="1005840"/>
          </a:xfrm>
          <a:prstGeom prst="rect">
            <a:avLst/>
          </a:prstGeom>
          <a:noFill/>
          <a:ln/>
        </p:spPr>
        <p:txBody>
          <a:bodyPr wrap="square" lIns="0" tIns="0" rIns="0" bIns="0" rtlCol="0" anchor="ctr"/>
          <a:lstStyle/>
          <a:p>
            <a:pPr indent="0" marL="0">
              <a:lnSpc>
                <a:spcPct val="112000"/>
              </a:lnSpc>
              <a:buNone/>
            </a:pPr>
            <a:r>
              <a:rPr lang="en-US" sz="2000" b="1" dirty="0">
                <a:solidFill>
                  <a:srgbClr val="F8F7F1"/>
                </a:solidFill>
                <a:latin typeface="Cambria" pitchFamily="34" charset="0"/>
                <a:ea typeface="Cambria" pitchFamily="34" charset="-122"/>
                <a:cs typeface="Cambria" pitchFamily="34" charset="-120"/>
              </a:rPr>
              <a:t>One place to log in, see everything Capital Factory has built, and launch what you need.</a:t>
            </a:r>
            <a:endParaRPr lang="en-US" sz="2000" dirty="0"/>
          </a:p>
        </p:txBody>
      </p:sp>
      <p:sp>
        <p:nvSpPr>
          <p:cNvPr id="10" name="Text 7"/>
          <p:cNvSpPr txBox="1"/>
          <p:nvPr/>
        </p:nvSpPr>
        <p:spPr>
          <a:xfrm>
            <a:off x="8247888" y="3621024"/>
            <a:ext cx="2916936" cy="1280160"/>
          </a:xfrm>
          <a:prstGeom prst="rect">
            <a:avLst/>
          </a:prstGeom>
          <a:noFill/>
          <a:ln/>
        </p:spPr>
        <p:txBody>
          <a:bodyPr wrap="square" lIns="0" tIns="0" rIns="0" bIns="0" rtlCol="0" anchor="ctr"/>
          <a:lstStyle/>
          <a:p>
            <a:pPr indent="0" marL="0">
              <a:lnSpc>
                <a:spcPct val="120000"/>
              </a:lnSpc>
              <a:buNone/>
            </a:pPr>
            <a:r>
              <a:rPr lang="en-US" sz="1400" dirty="0">
                <a:solidFill>
                  <a:srgbClr val="C8C3B8"/>
                </a:solidFill>
                <a:latin typeface="Calibri" pitchFamily="34" charset="0"/>
                <a:ea typeface="Calibri" pitchFamily="34" charset="-122"/>
                <a:cs typeface="Calibri" pitchFamily="34" charset="-120"/>
              </a:rPr>
              <a:t>This is what we proposed first.</a:t>
            </a:r>
            <a:endParaRPr lang="en-US" sz="1400" dirty="0"/>
          </a:p>
          <a:p>
            <a:pPr indent="0" marL="0">
              <a:lnSpc>
                <a:spcPct val="120000"/>
              </a:lnSpc>
              <a:buNone/>
            </a:pPr>
            <a:endParaRPr lang="en-US" sz="1400" dirty="0"/>
          </a:p>
          <a:p>
            <a:pPr indent="0" marL="0">
              <a:lnSpc>
                <a:spcPct val="120000"/>
              </a:lnSpc>
              <a:buNone/>
            </a:pPr>
            <a:r>
              <a:rPr lang="en-US" sz="1400" dirty="0">
                <a:solidFill>
                  <a:srgbClr val="C8C3B8"/>
                </a:solidFill>
                <a:latin typeface="Calibri" pitchFamily="34" charset="0"/>
                <a:ea typeface="Calibri" pitchFamily="34" charset="-122"/>
                <a:cs typeface="Calibri" pitchFamily="34" charset="-120"/>
              </a:rPr>
              <a:t>It is also, as it turns out, what an entire industry sells. We come back to that.</a:t>
            </a:r>
            <a:endParaRPr lang="en-US" sz="1400" dirty="0"/>
          </a:p>
        </p:txBody>
      </p:sp>
      <p:sp>
        <p:nvSpPr>
          <p:cNvPr id="11" name="Text 8"/>
          <p:cNvSpPr txBox="1"/>
          <p:nvPr/>
        </p:nvSpPr>
        <p:spPr>
          <a:xfrm>
            <a:off x="658368" y="5358384"/>
            <a:ext cx="10872216" cy="365760"/>
          </a:xfrm>
          <a:prstGeom prst="rect">
            <a:avLst/>
          </a:prstGeom>
          <a:noFill/>
          <a:ln/>
        </p:spPr>
        <p:txBody>
          <a:bodyPr wrap="square" lIns="0" tIns="0" rIns="0" bIns="0" rtlCol="0" anchor="ctr"/>
          <a:lstStyle/>
          <a:p>
            <a:pPr indent="0" marL="0">
              <a:buNone/>
            </a:pPr>
            <a:r>
              <a:rPr lang="en-US" sz="1500" b="1" dirty="0">
                <a:solidFill>
                  <a:srgbClr val="1A1917"/>
                </a:solidFill>
                <a:latin typeface="Calibri" pitchFamily="34" charset="0"/>
                <a:ea typeface="Calibri" pitchFamily="34" charset="-122"/>
                <a:cs typeface="Calibri" pitchFamily="34" charset="-120"/>
              </a:rPr>
              <a:t>The instinct is right. The shape is wrong, for two reasons.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WHY IT FAILS, ONE</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Nobody goes there.</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658368" y="2286000"/>
            <a:ext cx="10872216" cy="1207008"/>
          </a:xfrm>
          <a:prstGeom prst="roundRect">
            <a:avLst>
              <a:gd name="adj" fmla="val 4545"/>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1115568" y="2542032"/>
            <a:ext cx="9957816" cy="457200"/>
          </a:xfrm>
          <a:prstGeom prst="rect">
            <a:avLst/>
          </a:prstGeom>
          <a:noFill/>
          <a:ln/>
        </p:spPr>
        <p:txBody>
          <a:bodyPr wrap="square" lIns="0" tIns="0" rIns="0" bIns="0" rtlCol="0" anchor="ctr"/>
          <a:lstStyle/>
          <a:p>
            <a:pPr indent="0" marL="0">
              <a:buNone/>
            </a:pPr>
            <a:r>
              <a:rPr lang="en-US" sz="2200" b="1" i="1" dirty="0">
                <a:solidFill>
                  <a:srgbClr val="F8F7F1"/>
                </a:solidFill>
                <a:latin typeface="Cambria" pitchFamily="34" charset="0"/>
                <a:ea typeface="Cambria" pitchFamily="34" charset="-122"/>
                <a:cs typeface="Cambria" pitchFamily="34" charset="-120"/>
              </a:rPr>
              <a:t>“I don't want our employees to have to worry about what's in the core.”</a:t>
            </a:r>
            <a:endParaRPr lang="en-US" sz="2200" dirty="0"/>
          </a:p>
        </p:txBody>
      </p:sp>
      <p:sp>
        <p:nvSpPr>
          <p:cNvPr id="8" name="Text 6"/>
          <p:cNvSpPr txBox="1"/>
          <p:nvPr/>
        </p:nvSpPr>
        <p:spPr>
          <a:xfrm>
            <a:off x="1115568" y="3035808"/>
            <a:ext cx="9957816" cy="274320"/>
          </a:xfrm>
          <a:prstGeom prst="rect">
            <a:avLst/>
          </a:prstGeom>
          <a:noFill/>
          <a:ln/>
        </p:spPr>
        <p:txBody>
          <a:bodyPr wrap="square" lIns="0" tIns="0" rIns="0" bIns="0" rtlCol="0" anchor="ctr"/>
          <a:lstStyle/>
          <a:p>
            <a:pPr indent="0" marL="0">
              <a:buNone/>
            </a:pPr>
            <a:r>
              <a:rPr lang="en-US" sz="1150" dirty="0">
                <a:solidFill>
                  <a:srgbClr val="F2A900"/>
                </a:solidFill>
                <a:latin typeface="Calibri" pitchFamily="34" charset="0"/>
                <a:ea typeface="Calibri" pitchFamily="34" charset="-122"/>
                <a:cs typeface="Calibri" pitchFamily="34" charset="-120"/>
              </a:rPr>
              <a:t>The person paying for the platform, on whether anyone would use it</a:t>
            </a:r>
            <a:endParaRPr lang="en-US" sz="1150" dirty="0"/>
          </a:p>
        </p:txBody>
      </p:sp>
      <p:sp>
        <p:nvSpPr>
          <p:cNvPr id="9" name="Text 7"/>
          <p:cNvSpPr txBox="1"/>
          <p:nvPr/>
        </p:nvSpPr>
        <p:spPr>
          <a:xfrm>
            <a:off x="658368" y="3749040"/>
            <a:ext cx="10872216" cy="310896"/>
          </a:xfrm>
          <a:prstGeom prst="rect">
            <a:avLst/>
          </a:prstGeom>
          <a:noFill/>
          <a:ln/>
        </p:spPr>
        <p:txBody>
          <a:bodyPr wrap="square" lIns="0" tIns="0" rIns="0" bIns="0" rtlCol="0" anchor="ctr"/>
          <a:lstStyle/>
          <a:p>
            <a:pPr indent="0" marL="0">
              <a:buNone/>
            </a:pPr>
            <a:r>
              <a:rPr lang="en-US" sz="1400" b="1" dirty="0">
                <a:solidFill>
                  <a:srgbClr val="1A1917"/>
                </a:solidFill>
                <a:latin typeface="Calibri" pitchFamily="34" charset="0"/>
                <a:ea typeface="Calibri" pitchFamily="34" charset="-122"/>
                <a:cs typeface="Calibri" pitchFamily="34" charset="-120"/>
              </a:rPr>
              <a:t>They already work somewhere. Four somewheres.</a:t>
            </a:r>
            <a:endParaRPr lang="en-US" sz="1400" dirty="0"/>
          </a:p>
        </p:txBody>
      </p:sp>
      <p:sp>
        <p:nvSpPr>
          <p:cNvPr id="10" name="Shape 8"/>
          <p:cNvSpPr/>
          <p:nvPr/>
        </p:nvSpPr>
        <p:spPr>
          <a:xfrm>
            <a:off x="658368" y="4151376"/>
            <a:ext cx="1664208" cy="658368"/>
          </a:xfrm>
          <a:prstGeom prst="roundRect">
            <a:avLst>
              <a:gd name="adj" fmla="val 8333"/>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1" name="Text 9"/>
          <p:cNvSpPr txBox="1"/>
          <p:nvPr/>
        </p:nvSpPr>
        <p:spPr>
          <a:xfrm>
            <a:off x="658368" y="4151376"/>
            <a:ext cx="1664208" cy="658368"/>
          </a:xfrm>
          <a:prstGeom prst="rect">
            <a:avLst/>
          </a:prstGeom>
          <a:noFill/>
          <a:ln/>
        </p:spPr>
        <p:txBody>
          <a:bodyPr wrap="square" lIns="0" tIns="0" rIns="0" bIns="0" rtlCol="0" anchor="ctr"/>
          <a:lstStyle/>
          <a:p>
            <a:pPr algn="ctr" indent="0" marL="0">
              <a:buNone/>
            </a:pPr>
            <a:r>
              <a:rPr lang="en-US" sz="1350" b="1" dirty="0">
                <a:solidFill>
                  <a:srgbClr val="1A1917"/>
                </a:solidFill>
                <a:latin typeface="Calibri" pitchFamily="34" charset="0"/>
                <a:ea typeface="Calibri" pitchFamily="34" charset="-122"/>
                <a:cs typeface="Calibri" pitchFamily="34" charset="-120"/>
              </a:rPr>
              <a:t>Claude</a:t>
            </a:r>
            <a:endParaRPr lang="en-US" sz="1350" dirty="0"/>
          </a:p>
        </p:txBody>
      </p:sp>
      <p:sp>
        <p:nvSpPr>
          <p:cNvPr id="12" name="Shape 10"/>
          <p:cNvSpPr/>
          <p:nvPr/>
        </p:nvSpPr>
        <p:spPr>
          <a:xfrm>
            <a:off x="2542032" y="4151376"/>
            <a:ext cx="1664208" cy="658368"/>
          </a:xfrm>
          <a:prstGeom prst="roundRect">
            <a:avLst>
              <a:gd name="adj" fmla="val 8333"/>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3" name="Text 11"/>
          <p:cNvSpPr txBox="1"/>
          <p:nvPr/>
        </p:nvSpPr>
        <p:spPr>
          <a:xfrm>
            <a:off x="2542032" y="4151376"/>
            <a:ext cx="1664208" cy="658368"/>
          </a:xfrm>
          <a:prstGeom prst="rect">
            <a:avLst/>
          </a:prstGeom>
          <a:noFill/>
          <a:ln/>
        </p:spPr>
        <p:txBody>
          <a:bodyPr wrap="square" lIns="0" tIns="0" rIns="0" bIns="0" rtlCol="0" anchor="ctr"/>
          <a:lstStyle/>
          <a:p>
            <a:pPr algn="ctr" indent="0" marL="0">
              <a:buNone/>
            </a:pPr>
            <a:r>
              <a:rPr lang="en-US" sz="1350" b="1" dirty="0">
                <a:solidFill>
                  <a:srgbClr val="1A1917"/>
                </a:solidFill>
                <a:latin typeface="Calibri" pitchFamily="34" charset="0"/>
                <a:ea typeface="Calibri" pitchFamily="34" charset="-122"/>
                <a:cs typeface="Calibri" pitchFamily="34" charset="-120"/>
              </a:rPr>
              <a:t>GitHub</a:t>
            </a:r>
            <a:endParaRPr lang="en-US" sz="1350" dirty="0"/>
          </a:p>
        </p:txBody>
      </p:sp>
      <p:sp>
        <p:nvSpPr>
          <p:cNvPr id="14" name="Shape 12"/>
          <p:cNvSpPr/>
          <p:nvPr/>
        </p:nvSpPr>
        <p:spPr>
          <a:xfrm>
            <a:off x="4425696" y="4151376"/>
            <a:ext cx="1664208" cy="658368"/>
          </a:xfrm>
          <a:prstGeom prst="roundRect">
            <a:avLst>
              <a:gd name="adj" fmla="val 8333"/>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5" name="Text 13"/>
          <p:cNvSpPr txBox="1"/>
          <p:nvPr/>
        </p:nvSpPr>
        <p:spPr>
          <a:xfrm>
            <a:off x="4425696" y="4151376"/>
            <a:ext cx="1664208" cy="658368"/>
          </a:xfrm>
          <a:prstGeom prst="rect">
            <a:avLst/>
          </a:prstGeom>
          <a:noFill/>
          <a:ln/>
        </p:spPr>
        <p:txBody>
          <a:bodyPr wrap="square" lIns="0" tIns="0" rIns="0" bIns="0" rtlCol="0" anchor="ctr"/>
          <a:lstStyle/>
          <a:p>
            <a:pPr algn="ctr" indent="0" marL="0">
              <a:buNone/>
            </a:pPr>
            <a:r>
              <a:rPr lang="en-US" sz="1350" b="1" dirty="0">
                <a:solidFill>
                  <a:srgbClr val="1A1917"/>
                </a:solidFill>
                <a:latin typeface="Calibri" pitchFamily="34" charset="0"/>
                <a:ea typeface="Calibri" pitchFamily="34" charset="-122"/>
                <a:cs typeface="Calibri" pitchFamily="34" charset="-120"/>
              </a:rPr>
              <a:t>Vercel</a:t>
            </a:r>
            <a:endParaRPr lang="en-US" sz="1350" dirty="0"/>
          </a:p>
        </p:txBody>
      </p:sp>
      <p:sp>
        <p:nvSpPr>
          <p:cNvPr id="16" name="Shape 14"/>
          <p:cNvSpPr/>
          <p:nvPr/>
        </p:nvSpPr>
        <p:spPr>
          <a:xfrm>
            <a:off x="6309360" y="4151376"/>
            <a:ext cx="1664208" cy="658368"/>
          </a:xfrm>
          <a:prstGeom prst="roundRect">
            <a:avLst>
              <a:gd name="adj" fmla="val 8333"/>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7" name="Text 15"/>
          <p:cNvSpPr txBox="1"/>
          <p:nvPr/>
        </p:nvSpPr>
        <p:spPr>
          <a:xfrm>
            <a:off x="6309360" y="4151376"/>
            <a:ext cx="1664208" cy="658368"/>
          </a:xfrm>
          <a:prstGeom prst="rect">
            <a:avLst/>
          </a:prstGeom>
          <a:noFill/>
          <a:ln/>
        </p:spPr>
        <p:txBody>
          <a:bodyPr wrap="square" lIns="0" tIns="0" rIns="0" bIns="0" rtlCol="0" anchor="ctr"/>
          <a:lstStyle/>
          <a:p>
            <a:pPr algn="ctr" indent="0" marL="0">
              <a:buNone/>
            </a:pPr>
            <a:r>
              <a:rPr lang="en-US" sz="1350" b="1" dirty="0">
                <a:solidFill>
                  <a:srgbClr val="1A1917"/>
                </a:solidFill>
                <a:latin typeface="Calibri" pitchFamily="34" charset="0"/>
                <a:ea typeface="Calibri" pitchFamily="34" charset="-122"/>
                <a:cs typeface="Calibri" pitchFamily="34" charset="-120"/>
              </a:rPr>
              <a:t>Their own apps</a:t>
            </a:r>
            <a:endParaRPr lang="en-US" sz="1350" dirty="0"/>
          </a:p>
        </p:txBody>
      </p:sp>
      <p:sp>
        <p:nvSpPr>
          <p:cNvPr id="18" name="Text 16"/>
          <p:cNvSpPr txBox="1"/>
          <p:nvPr/>
        </p:nvSpPr>
        <p:spPr>
          <a:xfrm>
            <a:off x="8193024" y="4151376"/>
            <a:ext cx="1463040" cy="658368"/>
          </a:xfrm>
          <a:prstGeom prst="rect">
            <a:avLst/>
          </a:prstGeom>
          <a:noFill/>
          <a:ln/>
        </p:spPr>
        <p:txBody>
          <a:bodyPr wrap="square" lIns="0" tIns="0" rIns="0" bIns="0" rtlCol="0" anchor="ctr"/>
          <a:lstStyle/>
          <a:p>
            <a:pPr indent="0" marL="0">
              <a:buNone/>
            </a:pPr>
            <a:r>
              <a:rPr lang="en-US" sz="1350" b="1" dirty="0">
                <a:solidFill>
                  <a:srgbClr val="B3261E"/>
                </a:solidFill>
                <a:latin typeface="Calibri" pitchFamily="34" charset="0"/>
                <a:ea typeface="Calibri" pitchFamily="34" charset="-122"/>
                <a:cs typeface="Calibri" pitchFamily="34" charset="-120"/>
              </a:rPr>
              <a:t>+ a catalog</a:t>
            </a:r>
            <a:endParaRPr lang="en-US" sz="1350" dirty="0"/>
          </a:p>
        </p:txBody>
      </p:sp>
      <p:sp>
        <p:nvSpPr>
          <p:cNvPr id="19" name="Text 17"/>
          <p:cNvSpPr txBox="1"/>
          <p:nvPr/>
        </p:nvSpPr>
        <p:spPr>
          <a:xfrm>
            <a:off x="658368" y="5084064"/>
            <a:ext cx="9784994" cy="640080"/>
          </a:xfrm>
          <a:prstGeom prst="rect">
            <a:avLst/>
          </a:prstGeom>
          <a:noFill/>
          <a:ln/>
        </p:spPr>
        <p:txBody>
          <a:bodyPr wrap="square" lIns="0" tIns="0" rIns="0" bIns="0" rtlCol="0" anchor="ctr"/>
          <a:lstStyle/>
          <a:p>
            <a:pPr indent="0" marL="0">
              <a:lnSpc>
                <a:spcPct val="118000"/>
              </a:lnSpc>
              <a:buNone/>
            </a:pPr>
            <a:r>
              <a:rPr lang="en-US" sz="1400" dirty="0">
                <a:solidFill>
                  <a:srgbClr val="5F5B51"/>
                </a:solidFill>
                <a:latin typeface="Calibri" pitchFamily="34" charset="0"/>
                <a:ea typeface="Calibri" pitchFamily="34" charset="-122"/>
                <a:cs typeface="Calibri" pitchFamily="34" charset="-120"/>
              </a:rPr>
              <a:t>A fifth destination, maintained part time, competing for attention with the four places the work actually happens. It asks people to stop and visit somewhere before doing the thing they wanted to do.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WHY IT FAILS, TWO</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And even if they did, it finds out too late.</a:t>
            </a:r>
            <a:endParaRPr lang="en-US" sz="3300" dirty="0"/>
          </a:p>
        </p:txBody>
      </p:sp>
      <p:sp>
        <p:nvSpPr>
          <p:cNvPr id="4" name="Text 2"/>
          <p:cNvSpPr txBox="1"/>
          <p:nvPr/>
        </p:nvSpPr>
        <p:spPr>
          <a:xfrm>
            <a:off x="658368" y="1536192"/>
            <a:ext cx="9567550" cy="512064"/>
          </a:xfrm>
          <a:prstGeom prst="rect">
            <a:avLst/>
          </a:prstGeom>
          <a:noFill/>
          <a:ln/>
        </p:spPr>
        <p:txBody>
          <a:bodyPr wrap="square" lIns="0" tIns="0" rIns="0" bIns="0" rtlCol="0" anchor="ctr"/>
          <a:lstStyle/>
          <a:p>
            <a:pPr indent="0" marL="0">
              <a:lnSpc>
                <a:spcPct val="115000"/>
              </a:lnSpc>
              <a:buNone/>
            </a:pPr>
            <a:r>
              <a:rPr lang="en-US" sz="1500" dirty="0">
                <a:solidFill>
                  <a:srgbClr val="5F5B51"/>
                </a:solidFill>
                <a:latin typeface="Calibri" pitchFamily="34" charset="0"/>
                <a:ea typeface="Calibri" pitchFamily="34" charset="-122"/>
                <a:cs typeface="Calibri" pitchFamily="34" charset="-120"/>
              </a:rPr>
              <a:t>A catalog is a record of what has been built. Follow what that means.</a:t>
            </a:r>
            <a:endParaRPr lang="en-US" sz="1500" dirty="0"/>
          </a:p>
        </p:txBody>
      </p:sp>
      <p:sp>
        <p:nvSpPr>
          <p:cNvPr id="5" name="Text 3"/>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6" name="Text 4"/>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658368" y="2651760"/>
            <a:ext cx="2402586" cy="1645920"/>
          </a:xfrm>
          <a:prstGeom prst="roundRect">
            <a:avLst>
              <a:gd name="adj" fmla="val 3333"/>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8" name="Shape 6"/>
          <p:cNvSpPr/>
          <p:nvPr/>
        </p:nvSpPr>
        <p:spPr>
          <a:xfrm>
            <a:off x="932688" y="2871216"/>
            <a:ext cx="384048" cy="384048"/>
          </a:xfrm>
          <a:prstGeom prst="roundRect">
            <a:avLst>
              <a:gd name="adj" fmla="val 23810"/>
            </a:avLst>
          </a:prstGeom>
          <a:solidFill>
            <a:srgbClr val="EDEBE1"/>
          </a:solidFill>
          <a:ln w="12700">
            <a:solidFill>
              <a:srgbClr val="EDEBE1"/>
            </a:solidFill>
            <a:prstDash val="solid"/>
          </a:ln>
        </p:spPr>
      </p:sp>
      <p:sp>
        <p:nvSpPr>
          <p:cNvPr id="9" name="Text 7"/>
          <p:cNvSpPr txBox="1"/>
          <p:nvPr/>
        </p:nvSpPr>
        <p:spPr>
          <a:xfrm>
            <a:off x="932688" y="2871216"/>
            <a:ext cx="384048" cy="384048"/>
          </a:xfrm>
          <a:prstGeom prst="rect">
            <a:avLst/>
          </a:prstGeom>
          <a:noFill/>
          <a:ln/>
        </p:spPr>
        <p:txBody>
          <a:bodyPr wrap="square" lIns="0" tIns="0" rIns="0" bIns="0" rtlCol="0" anchor="ctr"/>
          <a:lstStyle/>
          <a:p>
            <a:pPr algn="ctr" indent="0" marL="0">
              <a:buNone/>
            </a:pPr>
            <a:r>
              <a:rPr lang="en-US" sz="1400" b="1" dirty="0">
                <a:solidFill>
                  <a:srgbClr val="5F5B51"/>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932688" y="3383280"/>
            <a:ext cx="1853946" cy="512064"/>
          </a:xfrm>
          <a:prstGeom prst="rect">
            <a:avLst/>
          </a:prstGeom>
          <a:noFill/>
          <a:ln/>
        </p:spPr>
        <p:txBody>
          <a:bodyPr wrap="square" lIns="0" tIns="0" rIns="0" bIns="0" rtlCol="0" anchor="ctr"/>
          <a:lstStyle/>
          <a:p>
            <a:pPr indent="0" marL="0">
              <a:lnSpc>
                <a:spcPct val="110000"/>
              </a:lnSpc>
              <a:buNone/>
            </a:pPr>
            <a:r>
              <a:rPr lang="en-US" sz="1350" b="1" dirty="0">
                <a:solidFill>
                  <a:srgbClr val="1A1917"/>
                </a:solidFill>
                <a:latin typeface="Calibri" pitchFamily="34" charset="0"/>
                <a:ea typeface="Calibri" pitchFamily="34" charset="-122"/>
                <a:cs typeface="Calibri" pitchFamily="34" charset="-120"/>
              </a:rPr>
              <a:t>Someone needs a capability</a:t>
            </a:r>
            <a:endParaRPr lang="en-US" sz="1350" dirty="0"/>
          </a:p>
        </p:txBody>
      </p:sp>
      <p:sp>
        <p:nvSpPr>
          <p:cNvPr id="11" name="Text 9"/>
          <p:cNvSpPr txBox="1"/>
          <p:nvPr/>
        </p:nvSpPr>
        <p:spPr>
          <a:xfrm>
            <a:off x="932688" y="3877056"/>
            <a:ext cx="1853946" cy="310896"/>
          </a:xfrm>
          <a:prstGeom prst="rect">
            <a:avLst/>
          </a:prstGeom>
          <a:noFill/>
          <a:ln/>
        </p:spPr>
        <p:txBody>
          <a:bodyPr wrap="square" lIns="0" tIns="0" rIns="0" bIns="0" rtlCol="0" anchor="ctr"/>
          <a:lstStyle/>
          <a:p>
            <a:pPr indent="0" marL="0">
              <a:buNone/>
            </a:pPr>
            <a:r>
              <a:rPr lang="en-US" sz="1200" dirty="0">
                <a:solidFill>
                  <a:srgbClr val="5F5B51"/>
                </a:solidFill>
                <a:latin typeface="Calibri" pitchFamily="34" charset="0"/>
                <a:ea typeface="Calibri" pitchFamily="34" charset="-122"/>
                <a:cs typeface="Calibri" pitchFamily="34" charset="-120"/>
              </a:rPr>
              <a:t>and starts building</a:t>
            </a:r>
            <a:endParaRPr lang="en-US" sz="1200" dirty="0"/>
          </a:p>
        </p:txBody>
      </p:sp>
      <p:sp>
        <p:nvSpPr>
          <p:cNvPr id="12" name="Text 10"/>
          <p:cNvSpPr txBox="1"/>
          <p:nvPr/>
        </p:nvSpPr>
        <p:spPr>
          <a:xfrm>
            <a:off x="3060954" y="3291840"/>
            <a:ext cx="420624" cy="274320"/>
          </a:xfrm>
          <a:prstGeom prst="rect">
            <a:avLst/>
          </a:prstGeom>
          <a:noFill/>
          <a:ln/>
        </p:spPr>
        <p:txBody>
          <a:bodyPr wrap="square" lIns="0" tIns="0" rIns="0" bIns="0" rtlCol="0" anchor="ctr"/>
          <a:lstStyle/>
          <a:p>
            <a:pPr algn="ctr" indent="0" marL="0">
              <a:buNone/>
            </a:pPr>
            <a:r>
              <a:rPr lang="en-US" sz="1500" dirty="0">
                <a:solidFill>
                  <a:srgbClr val="7D5900"/>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3481578" y="2651760"/>
            <a:ext cx="2402586" cy="1645920"/>
          </a:xfrm>
          <a:prstGeom prst="roundRect">
            <a:avLst>
              <a:gd name="adj" fmla="val 3333"/>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4" name="Shape 12"/>
          <p:cNvSpPr/>
          <p:nvPr/>
        </p:nvSpPr>
        <p:spPr>
          <a:xfrm>
            <a:off x="3755898" y="2871216"/>
            <a:ext cx="384048" cy="384048"/>
          </a:xfrm>
          <a:prstGeom prst="roundRect">
            <a:avLst>
              <a:gd name="adj" fmla="val 23810"/>
            </a:avLst>
          </a:prstGeom>
          <a:solidFill>
            <a:srgbClr val="EDEBE1"/>
          </a:solidFill>
          <a:ln w="12700">
            <a:solidFill>
              <a:srgbClr val="EDEBE1"/>
            </a:solidFill>
            <a:prstDash val="solid"/>
          </a:ln>
        </p:spPr>
      </p:sp>
      <p:sp>
        <p:nvSpPr>
          <p:cNvPr id="15" name="Text 13"/>
          <p:cNvSpPr txBox="1"/>
          <p:nvPr/>
        </p:nvSpPr>
        <p:spPr>
          <a:xfrm>
            <a:off x="3755898" y="2871216"/>
            <a:ext cx="384048" cy="384048"/>
          </a:xfrm>
          <a:prstGeom prst="rect">
            <a:avLst/>
          </a:prstGeom>
          <a:noFill/>
          <a:ln/>
        </p:spPr>
        <p:txBody>
          <a:bodyPr wrap="square" lIns="0" tIns="0" rIns="0" bIns="0" rtlCol="0" anchor="ctr"/>
          <a:lstStyle/>
          <a:p>
            <a:pPr algn="ctr" indent="0" marL="0">
              <a:buNone/>
            </a:pPr>
            <a:r>
              <a:rPr lang="en-US" sz="1400" b="1" dirty="0">
                <a:solidFill>
                  <a:srgbClr val="5F5B51"/>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3755898" y="3383280"/>
            <a:ext cx="1853946" cy="512064"/>
          </a:xfrm>
          <a:prstGeom prst="rect">
            <a:avLst/>
          </a:prstGeom>
          <a:noFill/>
          <a:ln/>
        </p:spPr>
        <p:txBody>
          <a:bodyPr wrap="square" lIns="0" tIns="0" rIns="0" bIns="0" rtlCol="0" anchor="ctr"/>
          <a:lstStyle/>
          <a:p>
            <a:pPr indent="0" marL="0">
              <a:lnSpc>
                <a:spcPct val="110000"/>
              </a:lnSpc>
              <a:buNone/>
            </a:pPr>
            <a:r>
              <a:rPr lang="en-US" sz="1350" b="1" dirty="0">
                <a:solidFill>
                  <a:srgbClr val="1A1917"/>
                </a:solidFill>
                <a:latin typeface="Calibri" pitchFamily="34" charset="0"/>
                <a:ea typeface="Calibri" pitchFamily="34" charset="-122"/>
                <a:cs typeface="Calibri" pitchFamily="34" charset="-120"/>
              </a:rPr>
              <a:t>They build the fourth copy</a:t>
            </a:r>
            <a:endParaRPr lang="en-US" sz="1350" dirty="0"/>
          </a:p>
        </p:txBody>
      </p:sp>
      <p:sp>
        <p:nvSpPr>
          <p:cNvPr id="17" name="Text 15"/>
          <p:cNvSpPr txBox="1"/>
          <p:nvPr/>
        </p:nvSpPr>
        <p:spPr>
          <a:xfrm>
            <a:off x="3755898" y="3877056"/>
            <a:ext cx="1853946" cy="310896"/>
          </a:xfrm>
          <a:prstGeom prst="rect">
            <a:avLst/>
          </a:prstGeom>
          <a:noFill/>
          <a:ln/>
        </p:spPr>
        <p:txBody>
          <a:bodyPr wrap="square" lIns="0" tIns="0" rIns="0" bIns="0" rtlCol="0" anchor="ctr"/>
          <a:lstStyle/>
          <a:p>
            <a:pPr indent="0" marL="0">
              <a:buNone/>
            </a:pPr>
            <a:r>
              <a:rPr lang="en-US" sz="1200" dirty="0">
                <a:solidFill>
                  <a:srgbClr val="5F5B51"/>
                </a:solidFill>
                <a:latin typeface="Calibri" pitchFamily="34" charset="0"/>
                <a:ea typeface="Calibri" pitchFamily="34" charset="-122"/>
                <a:cs typeface="Calibri" pitchFamily="34" charset="-120"/>
              </a:rPr>
              <a:t>because nothing asked</a:t>
            </a:r>
            <a:endParaRPr lang="en-US" sz="1200" dirty="0"/>
          </a:p>
        </p:txBody>
      </p:sp>
      <p:sp>
        <p:nvSpPr>
          <p:cNvPr id="18" name="Text 16"/>
          <p:cNvSpPr txBox="1"/>
          <p:nvPr/>
        </p:nvSpPr>
        <p:spPr>
          <a:xfrm>
            <a:off x="5884164" y="3291840"/>
            <a:ext cx="420624" cy="274320"/>
          </a:xfrm>
          <a:prstGeom prst="rect">
            <a:avLst/>
          </a:prstGeom>
          <a:noFill/>
          <a:ln/>
        </p:spPr>
        <p:txBody>
          <a:bodyPr wrap="square" lIns="0" tIns="0" rIns="0" bIns="0" rtlCol="0" anchor="ctr"/>
          <a:lstStyle/>
          <a:p>
            <a:pPr algn="ctr" indent="0" marL="0">
              <a:buNone/>
            </a:pPr>
            <a:r>
              <a:rPr lang="en-US" sz="1500" dirty="0">
                <a:solidFill>
                  <a:srgbClr val="7D5900"/>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6304788" y="2651760"/>
            <a:ext cx="2402586" cy="1645920"/>
          </a:xfrm>
          <a:prstGeom prst="roundRect">
            <a:avLst>
              <a:gd name="adj" fmla="val 3333"/>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20" name="Shape 18"/>
          <p:cNvSpPr/>
          <p:nvPr/>
        </p:nvSpPr>
        <p:spPr>
          <a:xfrm>
            <a:off x="6579108" y="2871216"/>
            <a:ext cx="384048" cy="384048"/>
          </a:xfrm>
          <a:prstGeom prst="roundRect">
            <a:avLst>
              <a:gd name="adj" fmla="val 23810"/>
            </a:avLst>
          </a:prstGeom>
          <a:solidFill>
            <a:srgbClr val="EDEBE1"/>
          </a:solidFill>
          <a:ln w="12700">
            <a:solidFill>
              <a:srgbClr val="EDEBE1"/>
            </a:solidFill>
            <a:prstDash val="solid"/>
          </a:ln>
        </p:spPr>
      </p:sp>
      <p:sp>
        <p:nvSpPr>
          <p:cNvPr id="21" name="Text 19"/>
          <p:cNvSpPr txBox="1"/>
          <p:nvPr/>
        </p:nvSpPr>
        <p:spPr>
          <a:xfrm>
            <a:off x="6579108" y="2871216"/>
            <a:ext cx="384048" cy="384048"/>
          </a:xfrm>
          <a:prstGeom prst="rect">
            <a:avLst/>
          </a:prstGeom>
          <a:noFill/>
          <a:ln/>
        </p:spPr>
        <p:txBody>
          <a:bodyPr wrap="square" lIns="0" tIns="0" rIns="0" bIns="0" rtlCol="0" anchor="ctr"/>
          <a:lstStyle/>
          <a:p>
            <a:pPr algn="ctr" indent="0" marL="0">
              <a:buNone/>
            </a:pPr>
            <a:r>
              <a:rPr lang="en-US" sz="1400" b="1" dirty="0">
                <a:solidFill>
                  <a:srgbClr val="5F5B51"/>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6579108" y="3383280"/>
            <a:ext cx="1853946" cy="512064"/>
          </a:xfrm>
          <a:prstGeom prst="rect">
            <a:avLst/>
          </a:prstGeom>
          <a:noFill/>
          <a:ln/>
        </p:spPr>
        <p:txBody>
          <a:bodyPr wrap="square" lIns="0" tIns="0" rIns="0" bIns="0" rtlCol="0" anchor="ctr"/>
          <a:lstStyle/>
          <a:p>
            <a:pPr indent="0" marL="0">
              <a:lnSpc>
                <a:spcPct val="110000"/>
              </a:lnSpc>
              <a:buNone/>
            </a:pPr>
            <a:r>
              <a:rPr lang="en-US" sz="1350" b="1" dirty="0">
                <a:solidFill>
                  <a:srgbClr val="1A1917"/>
                </a:solidFill>
                <a:latin typeface="Calibri" pitchFamily="34" charset="0"/>
                <a:ea typeface="Calibri" pitchFamily="34" charset="-122"/>
                <a:cs typeface="Calibri" pitchFamily="34" charset="-120"/>
              </a:rPr>
              <a:t>It ships</a:t>
            </a:r>
            <a:endParaRPr lang="en-US" sz="1350" dirty="0"/>
          </a:p>
        </p:txBody>
      </p:sp>
      <p:sp>
        <p:nvSpPr>
          <p:cNvPr id="23" name="Text 21"/>
          <p:cNvSpPr txBox="1"/>
          <p:nvPr/>
        </p:nvSpPr>
        <p:spPr>
          <a:xfrm>
            <a:off x="6579108" y="3877056"/>
            <a:ext cx="1853946" cy="310896"/>
          </a:xfrm>
          <a:prstGeom prst="rect">
            <a:avLst/>
          </a:prstGeom>
          <a:noFill/>
          <a:ln/>
        </p:spPr>
        <p:txBody>
          <a:bodyPr wrap="square" lIns="0" tIns="0" rIns="0" bIns="0" rtlCol="0" anchor="ctr"/>
          <a:lstStyle/>
          <a:p>
            <a:pPr indent="0" marL="0">
              <a:buNone/>
            </a:pPr>
            <a:r>
              <a:rPr lang="en-US" sz="1200" dirty="0">
                <a:solidFill>
                  <a:srgbClr val="5F5B51"/>
                </a:solidFill>
                <a:latin typeface="Calibri" pitchFamily="34" charset="0"/>
                <a:ea typeface="Calibri" pitchFamily="34" charset="-122"/>
                <a:cs typeface="Calibri" pitchFamily="34" charset="-120"/>
              </a:rPr>
              <a:t>and enters the estate</a:t>
            </a:r>
            <a:endParaRPr lang="en-US" sz="1200" dirty="0"/>
          </a:p>
        </p:txBody>
      </p:sp>
      <p:sp>
        <p:nvSpPr>
          <p:cNvPr id="24" name="Text 22"/>
          <p:cNvSpPr txBox="1"/>
          <p:nvPr/>
        </p:nvSpPr>
        <p:spPr>
          <a:xfrm>
            <a:off x="8707374" y="3291840"/>
            <a:ext cx="420624" cy="274320"/>
          </a:xfrm>
          <a:prstGeom prst="rect">
            <a:avLst/>
          </a:prstGeom>
          <a:noFill/>
          <a:ln/>
        </p:spPr>
        <p:txBody>
          <a:bodyPr wrap="square" lIns="0" tIns="0" rIns="0" bIns="0" rtlCol="0" anchor="ctr"/>
          <a:lstStyle/>
          <a:p>
            <a:pPr algn="ctr" indent="0" marL="0">
              <a:buNone/>
            </a:pPr>
            <a:r>
              <a:rPr lang="en-US" sz="1500" dirty="0">
                <a:solidFill>
                  <a:srgbClr val="7D5900"/>
                </a:solidFill>
                <a:latin typeface="Calibri" pitchFamily="34" charset="0"/>
                <a:ea typeface="Calibri" pitchFamily="34" charset="-122"/>
                <a:cs typeface="Calibri" pitchFamily="34" charset="-120"/>
              </a:rPr>
              <a:t>→</a:t>
            </a:r>
            <a:endParaRPr lang="en-US" sz="1500" dirty="0"/>
          </a:p>
        </p:txBody>
      </p:sp>
      <p:sp>
        <p:nvSpPr>
          <p:cNvPr id="25" name="Shape 23"/>
          <p:cNvSpPr/>
          <p:nvPr/>
        </p:nvSpPr>
        <p:spPr>
          <a:xfrm>
            <a:off x="9127998" y="2651760"/>
            <a:ext cx="2402586" cy="1645920"/>
          </a:xfrm>
          <a:prstGeom prst="roundRect">
            <a:avLst>
              <a:gd name="adj" fmla="val 3333"/>
            </a:avLst>
          </a:prstGeom>
          <a:solidFill>
            <a:srgbClr val="F9E8E7"/>
          </a:solidFill>
          <a:ln w="12700">
            <a:solidFill>
              <a:srgbClr val="F9E8E7"/>
            </a:solidFill>
            <a:prstDash val="solid"/>
          </a:ln>
          <a:effectLst>
            <a:outerShdw sx="100000" sy="100000" kx="0" ky="0" algn="bl" rotWithShape="0" blurRad="101600" dist="12700" dir="5400000">
              <a:srgbClr val="1A1917">
                <a:alpha val="7000"/>
              </a:srgbClr>
            </a:outerShdw>
          </a:effectLst>
        </p:spPr>
      </p:sp>
      <p:sp>
        <p:nvSpPr>
          <p:cNvPr id="26" name="Shape 24"/>
          <p:cNvSpPr/>
          <p:nvPr/>
        </p:nvSpPr>
        <p:spPr>
          <a:xfrm>
            <a:off x="9402318" y="2871216"/>
            <a:ext cx="384048" cy="384048"/>
          </a:xfrm>
          <a:prstGeom prst="roundRect">
            <a:avLst>
              <a:gd name="adj" fmla="val 23810"/>
            </a:avLst>
          </a:prstGeom>
          <a:solidFill>
            <a:srgbClr val="B3261E"/>
          </a:solidFill>
          <a:ln w="12700">
            <a:solidFill>
              <a:srgbClr val="B3261E"/>
            </a:solidFill>
            <a:prstDash val="solid"/>
          </a:ln>
        </p:spPr>
      </p:sp>
      <p:sp>
        <p:nvSpPr>
          <p:cNvPr id="27" name="Text 25"/>
          <p:cNvSpPr txBox="1"/>
          <p:nvPr/>
        </p:nvSpPr>
        <p:spPr>
          <a:xfrm>
            <a:off x="9402318" y="28712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txBox="1"/>
          <p:nvPr/>
        </p:nvSpPr>
        <p:spPr>
          <a:xfrm>
            <a:off x="9402318" y="3383280"/>
            <a:ext cx="1853946" cy="512064"/>
          </a:xfrm>
          <a:prstGeom prst="rect">
            <a:avLst/>
          </a:prstGeom>
          <a:noFill/>
          <a:ln/>
        </p:spPr>
        <p:txBody>
          <a:bodyPr wrap="square" lIns="0" tIns="0" rIns="0" bIns="0" rtlCol="0" anchor="ctr"/>
          <a:lstStyle/>
          <a:p>
            <a:pPr indent="0" marL="0">
              <a:lnSpc>
                <a:spcPct val="110000"/>
              </a:lnSpc>
              <a:buNone/>
            </a:pPr>
            <a:r>
              <a:rPr lang="en-US" sz="1350" b="1" dirty="0">
                <a:solidFill>
                  <a:srgbClr val="1A1917"/>
                </a:solidFill>
                <a:latin typeface="Calibri" pitchFamily="34" charset="0"/>
                <a:ea typeface="Calibri" pitchFamily="34" charset="-122"/>
                <a:cs typeface="Calibri" pitchFamily="34" charset="-120"/>
              </a:rPr>
              <a:t>The catalog lists it</a:t>
            </a:r>
            <a:endParaRPr lang="en-US" sz="1350" dirty="0"/>
          </a:p>
        </p:txBody>
      </p:sp>
      <p:sp>
        <p:nvSpPr>
          <p:cNvPr id="29" name="Text 27"/>
          <p:cNvSpPr txBox="1"/>
          <p:nvPr/>
        </p:nvSpPr>
        <p:spPr>
          <a:xfrm>
            <a:off x="9402318" y="3877056"/>
            <a:ext cx="1853946" cy="310896"/>
          </a:xfrm>
          <a:prstGeom prst="rect">
            <a:avLst/>
          </a:prstGeom>
          <a:noFill/>
          <a:ln/>
        </p:spPr>
        <p:txBody>
          <a:bodyPr wrap="square" lIns="0" tIns="0" rIns="0" bIns="0" rtlCol="0" anchor="ctr"/>
          <a:lstStyle/>
          <a:p>
            <a:pPr indent="0" marL="0">
              <a:buNone/>
            </a:pPr>
            <a:r>
              <a:rPr lang="en-US" sz="1200" dirty="0">
                <a:solidFill>
                  <a:srgbClr val="5F5B51"/>
                </a:solidFill>
                <a:latin typeface="Calibri" pitchFamily="34" charset="0"/>
                <a:ea typeface="Calibri" pitchFamily="34" charset="-122"/>
                <a:cs typeface="Calibri" pitchFamily="34" charset="-120"/>
              </a:rPr>
              <a:t>now there are four</a:t>
            </a:r>
            <a:endParaRPr lang="en-US" sz="1200" dirty="0"/>
          </a:p>
        </p:txBody>
      </p:sp>
      <p:sp>
        <p:nvSpPr>
          <p:cNvPr id="30" name="Shape 28"/>
          <p:cNvSpPr/>
          <p:nvPr/>
        </p:nvSpPr>
        <p:spPr>
          <a:xfrm>
            <a:off x="658368" y="4663440"/>
            <a:ext cx="10872216" cy="1097280"/>
          </a:xfrm>
          <a:prstGeom prst="roundRect">
            <a:avLst>
              <a:gd name="adj" fmla="val 5000"/>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31" name="Text 29"/>
          <p:cNvSpPr txBox="1"/>
          <p:nvPr/>
        </p:nvSpPr>
        <p:spPr>
          <a:xfrm>
            <a:off x="1115568" y="4956048"/>
            <a:ext cx="9957816" cy="512064"/>
          </a:xfrm>
          <a:prstGeom prst="rect">
            <a:avLst/>
          </a:prstGeom>
          <a:noFill/>
          <a:ln/>
        </p:spPr>
        <p:txBody>
          <a:bodyPr wrap="square" lIns="0" tIns="0" rIns="0" bIns="0" rtlCol="0" anchor="ctr"/>
          <a:lstStyle/>
          <a:p>
            <a:pPr indent="0" marL="0">
              <a:buNone/>
            </a:pPr>
            <a:r>
              <a:rPr lang="en-US" sz="2000" b="1" dirty="0">
                <a:solidFill>
                  <a:srgbClr val="F2A900"/>
                </a:solidFill>
                <a:latin typeface="Cambria" pitchFamily="34" charset="0"/>
                <a:ea typeface="Cambria" pitchFamily="34" charset="-122"/>
                <a:cs typeface="Cambria" pitchFamily="34" charset="-120"/>
              </a:rPr>
              <a:t>A catalog can tell you that you have a problem. It cannot stop you from creating one.</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30F"/>
        </a:solidFill>
      </p:bgPr>
    </p:bg>
    <p:spTree>
      <p:nvGrpSpPr>
        <p:cNvPr id="1" name=""/>
        <p:cNvGrpSpPr/>
        <p:nvPr/>
      </p:nvGrpSpPr>
      <p:grpSpPr>
        <a:xfrm>
          <a:off x="0" y="0"/>
          <a:ext cx="0" cy="0"/>
          <a:chOff x="0" y="0"/>
          <a:chExt cx="0" cy="0"/>
        </a:xfrm>
      </p:grpSpPr>
      <p:sp>
        <p:nvSpPr>
          <p:cNvPr id="2" name="Text 0"/>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6E6A5F"/>
                </a:solidFill>
                <a:latin typeface="Calibri" pitchFamily="34" charset="0"/>
                <a:ea typeface="Calibri" pitchFamily="34" charset="-122"/>
                <a:cs typeface="Calibri" pitchFamily="34" charset="-120"/>
              </a:rPr>
              <a:t>Capital Factory  ·  working concept</a:t>
            </a:r>
            <a:endParaRPr lang="en-US" sz="900" dirty="0"/>
          </a:p>
        </p:txBody>
      </p:sp>
      <p:sp>
        <p:nvSpPr>
          <p:cNvPr id="3" name="Text 1"/>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6E6A5F"/>
                </a:solidFill>
                <a:latin typeface="Calibri" pitchFamily="34" charset="0"/>
                <a:ea typeface="Calibri" pitchFamily="34" charset="-122"/>
                <a:cs typeface="Calibri" pitchFamily="34" charset="-120"/>
              </a:rPr>
              <a:t>8</a:t>
            </a:r>
            <a:endParaRPr lang="en-US" sz="900" dirty="0"/>
          </a:p>
        </p:txBody>
      </p:sp>
      <p:sp>
        <p:nvSpPr>
          <p:cNvPr id="4" name="Text 2"/>
          <p:cNvSpPr txBox="1"/>
          <p:nvPr/>
        </p:nvSpPr>
        <p:spPr>
          <a:xfrm>
            <a:off x="658368" y="1371600"/>
            <a:ext cx="10872216" cy="274320"/>
          </a:xfrm>
          <a:prstGeom prst="rect">
            <a:avLst/>
          </a:prstGeom>
          <a:noFill/>
          <a:ln/>
        </p:spPr>
        <p:txBody>
          <a:bodyPr wrap="square" lIns="0" tIns="0" rIns="0" bIns="0" rtlCol="0" anchor="ctr"/>
          <a:lstStyle/>
          <a:p>
            <a:pPr indent="0" marL="0">
              <a:buNone/>
            </a:pPr>
            <a:r>
              <a:rPr lang="en-US" sz="1100" b="1" spc="300" kern="0" dirty="0">
                <a:solidFill>
                  <a:srgbClr val="F2A900"/>
                </a:solidFill>
                <a:latin typeface="Calibri" pitchFamily="34" charset="0"/>
                <a:ea typeface="Calibri" pitchFamily="34" charset="-122"/>
                <a:cs typeface="Calibri" pitchFamily="34" charset="-120"/>
              </a:rPr>
              <a:t>THE REQUIREMENT</a:t>
            </a:r>
            <a:endParaRPr lang="en-US" sz="1100" dirty="0"/>
          </a:p>
        </p:txBody>
      </p:sp>
      <p:sp>
        <p:nvSpPr>
          <p:cNvPr id="5" name="Text 3"/>
          <p:cNvSpPr txBox="1"/>
          <p:nvPr/>
        </p:nvSpPr>
        <p:spPr>
          <a:xfrm>
            <a:off x="658368" y="1755648"/>
            <a:ext cx="10872216" cy="640080"/>
          </a:xfrm>
          <a:prstGeom prst="rect">
            <a:avLst/>
          </a:prstGeom>
          <a:noFill/>
          <a:ln/>
        </p:spPr>
        <p:txBody>
          <a:bodyPr wrap="square" lIns="0" tIns="0" rIns="0" bIns="0" rtlCol="0" anchor="ctr"/>
          <a:lstStyle/>
          <a:p>
            <a:pPr indent="0" marL="0">
              <a:buNone/>
            </a:pPr>
            <a:r>
              <a:rPr lang="en-US" sz="3400" b="1" dirty="0">
                <a:solidFill>
                  <a:srgbClr val="F8F7F1"/>
                </a:solidFill>
                <a:latin typeface="Cambria" pitchFamily="34" charset="0"/>
                <a:ea typeface="Cambria" pitchFamily="34" charset="-122"/>
                <a:cs typeface="Cambria" pitchFamily="34" charset="-120"/>
              </a:rPr>
              <a:t>So what would actually work?</a:t>
            </a:r>
            <a:endParaRPr lang="en-US" sz="3400" dirty="0"/>
          </a:p>
        </p:txBody>
      </p:sp>
      <p:sp>
        <p:nvSpPr>
          <p:cNvPr id="6" name="Shape 4"/>
          <p:cNvSpPr/>
          <p:nvPr/>
        </p:nvSpPr>
        <p:spPr>
          <a:xfrm>
            <a:off x="658368" y="2871216"/>
            <a:ext cx="384048" cy="384048"/>
          </a:xfrm>
          <a:prstGeom prst="roundRect">
            <a:avLst>
              <a:gd name="adj" fmla="val 23810"/>
            </a:avLst>
          </a:prstGeom>
          <a:solidFill>
            <a:srgbClr val="F2A900"/>
          </a:solidFill>
          <a:ln w="12700">
            <a:solidFill>
              <a:srgbClr val="F2A900"/>
            </a:solidFill>
            <a:prstDash val="solid"/>
          </a:ln>
        </p:spPr>
      </p:sp>
      <p:sp>
        <p:nvSpPr>
          <p:cNvPr id="7" name="Text 5"/>
          <p:cNvSpPr txBox="1"/>
          <p:nvPr/>
        </p:nvSpPr>
        <p:spPr>
          <a:xfrm>
            <a:off x="658368" y="2871216"/>
            <a:ext cx="384048" cy="384048"/>
          </a:xfrm>
          <a:prstGeom prst="rect">
            <a:avLst/>
          </a:prstGeom>
          <a:noFill/>
          <a:ln/>
        </p:spPr>
        <p:txBody>
          <a:bodyPr wrap="square" lIns="0" tIns="0" rIns="0" bIns="0" rtlCol="0" anchor="ctr"/>
          <a:lstStyle/>
          <a:p>
            <a:pPr algn="ctr" indent="0" marL="0">
              <a:buNone/>
            </a:pPr>
            <a:r>
              <a:rPr lang="en-US" sz="1400" b="1" dirty="0">
                <a:solidFill>
                  <a:srgbClr val="1A1917"/>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389888" y="2834640"/>
            <a:ext cx="9866376" cy="329184"/>
          </a:xfrm>
          <a:prstGeom prst="rect">
            <a:avLst/>
          </a:prstGeom>
          <a:noFill/>
          <a:ln/>
        </p:spPr>
        <p:txBody>
          <a:bodyPr wrap="square" lIns="0" tIns="0" rIns="0" bIns="0" rtlCol="0" anchor="ctr"/>
          <a:lstStyle/>
          <a:p>
            <a:pPr indent="0" marL="0">
              <a:buNone/>
            </a:pPr>
            <a:r>
              <a:rPr lang="en-US" sz="1700" b="1" dirty="0">
                <a:solidFill>
                  <a:srgbClr val="F8F7F1"/>
                </a:solidFill>
                <a:latin typeface="Calibri" pitchFamily="34" charset="0"/>
                <a:ea typeface="Calibri" pitchFamily="34" charset="-122"/>
                <a:cs typeface="Calibri" pitchFamily="34" charset="-120"/>
              </a:rPr>
              <a:t>The answer has to arrive before the work starts.</a:t>
            </a:r>
            <a:endParaRPr lang="en-US" sz="1700" dirty="0"/>
          </a:p>
        </p:txBody>
      </p:sp>
      <p:sp>
        <p:nvSpPr>
          <p:cNvPr id="9" name="Text 7"/>
          <p:cNvSpPr txBox="1"/>
          <p:nvPr/>
        </p:nvSpPr>
        <p:spPr>
          <a:xfrm>
            <a:off x="1389888" y="3200400"/>
            <a:ext cx="9866376" cy="365760"/>
          </a:xfrm>
          <a:prstGeom prst="rect">
            <a:avLst/>
          </a:prstGeom>
          <a:noFill/>
          <a:ln/>
        </p:spPr>
        <p:txBody>
          <a:bodyPr wrap="square" lIns="0" tIns="0" rIns="0" bIns="0" rtlCol="0" anchor="ctr"/>
          <a:lstStyle/>
          <a:p>
            <a:pPr indent="0" marL="0">
              <a:buNone/>
            </a:pPr>
            <a:r>
              <a:rPr lang="en-US" sz="1350" dirty="0">
                <a:solidFill>
                  <a:srgbClr val="9C978C"/>
                </a:solidFill>
                <a:latin typeface="Calibri" pitchFamily="34" charset="0"/>
                <a:ea typeface="Calibri" pitchFamily="34" charset="-122"/>
                <a:cs typeface="Calibri" pitchFamily="34" charset="-120"/>
              </a:rPr>
              <a:t>Not after it ships. Not in a weekly report.</a:t>
            </a:r>
            <a:endParaRPr lang="en-US" sz="1350" dirty="0"/>
          </a:p>
        </p:txBody>
      </p:sp>
      <p:sp>
        <p:nvSpPr>
          <p:cNvPr id="10" name="Shape 8"/>
          <p:cNvSpPr/>
          <p:nvPr/>
        </p:nvSpPr>
        <p:spPr>
          <a:xfrm>
            <a:off x="658368" y="3895344"/>
            <a:ext cx="384048" cy="384048"/>
          </a:xfrm>
          <a:prstGeom prst="roundRect">
            <a:avLst>
              <a:gd name="adj" fmla="val 23810"/>
            </a:avLst>
          </a:prstGeom>
          <a:solidFill>
            <a:srgbClr val="F2A900"/>
          </a:solidFill>
          <a:ln w="12700">
            <a:solidFill>
              <a:srgbClr val="F2A900"/>
            </a:solidFill>
            <a:prstDash val="solid"/>
          </a:ln>
        </p:spPr>
      </p:sp>
      <p:sp>
        <p:nvSpPr>
          <p:cNvPr id="11" name="Text 9"/>
          <p:cNvSpPr txBox="1"/>
          <p:nvPr/>
        </p:nvSpPr>
        <p:spPr>
          <a:xfrm>
            <a:off x="658368" y="3895344"/>
            <a:ext cx="384048" cy="384048"/>
          </a:xfrm>
          <a:prstGeom prst="rect">
            <a:avLst/>
          </a:prstGeom>
          <a:noFill/>
          <a:ln/>
        </p:spPr>
        <p:txBody>
          <a:bodyPr wrap="square" lIns="0" tIns="0" rIns="0" bIns="0" rtlCol="0" anchor="ctr"/>
          <a:lstStyle/>
          <a:p>
            <a:pPr algn="ctr" indent="0" marL="0">
              <a:buNone/>
            </a:pPr>
            <a:r>
              <a:rPr lang="en-US" sz="1400" b="1" dirty="0">
                <a:solidFill>
                  <a:srgbClr val="1A1917"/>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389888" y="3858768"/>
            <a:ext cx="9866376" cy="329184"/>
          </a:xfrm>
          <a:prstGeom prst="rect">
            <a:avLst/>
          </a:prstGeom>
          <a:noFill/>
          <a:ln/>
        </p:spPr>
        <p:txBody>
          <a:bodyPr wrap="square" lIns="0" tIns="0" rIns="0" bIns="0" rtlCol="0" anchor="ctr"/>
          <a:lstStyle/>
          <a:p>
            <a:pPr indent="0" marL="0">
              <a:buNone/>
            </a:pPr>
            <a:r>
              <a:rPr lang="en-US" sz="1700" b="1" dirty="0">
                <a:solidFill>
                  <a:srgbClr val="F8F7F1"/>
                </a:solidFill>
                <a:latin typeface="Calibri" pitchFamily="34" charset="0"/>
                <a:ea typeface="Calibri" pitchFamily="34" charset="-122"/>
                <a:cs typeface="Calibri" pitchFamily="34" charset="-120"/>
              </a:rPr>
              <a:t>Nobody can be required to go and get it.</a:t>
            </a:r>
            <a:endParaRPr lang="en-US" sz="1700" dirty="0"/>
          </a:p>
        </p:txBody>
      </p:sp>
      <p:sp>
        <p:nvSpPr>
          <p:cNvPr id="13" name="Text 11"/>
          <p:cNvSpPr txBox="1"/>
          <p:nvPr/>
        </p:nvSpPr>
        <p:spPr>
          <a:xfrm>
            <a:off x="1389888" y="4224528"/>
            <a:ext cx="9866376" cy="365760"/>
          </a:xfrm>
          <a:prstGeom prst="rect">
            <a:avLst/>
          </a:prstGeom>
          <a:noFill/>
          <a:ln/>
        </p:spPr>
        <p:txBody>
          <a:bodyPr wrap="square" lIns="0" tIns="0" rIns="0" bIns="0" rtlCol="0" anchor="ctr"/>
          <a:lstStyle/>
          <a:p>
            <a:pPr indent="0" marL="0">
              <a:buNone/>
            </a:pPr>
            <a:r>
              <a:rPr lang="en-US" sz="1350" dirty="0">
                <a:solidFill>
                  <a:srgbClr val="9C978C"/>
                </a:solidFill>
                <a:latin typeface="Calibri" pitchFamily="34" charset="0"/>
                <a:ea typeface="Calibri" pitchFamily="34" charset="-122"/>
                <a:cs typeface="Calibri" pitchFamily="34" charset="-120"/>
              </a:rPr>
              <a:t>If using it is a separate step, it becomes optional, and optional means skipped.</a:t>
            </a:r>
            <a:endParaRPr lang="en-US" sz="1350" dirty="0"/>
          </a:p>
        </p:txBody>
      </p:sp>
      <p:sp>
        <p:nvSpPr>
          <p:cNvPr id="14" name="Shape 12"/>
          <p:cNvSpPr/>
          <p:nvPr/>
        </p:nvSpPr>
        <p:spPr>
          <a:xfrm>
            <a:off x="658368" y="4919472"/>
            <a:ext cx="384048" cy="384048"/>
          </a:xfrm>
          <a:prstGeom prst="roundRect">
            <a:avLst>
              <a:gd name="adj" fmla="val 23810"/>
            </a:avLst>
          </a:prstGeom>
          <a:solidFill>
            <a:srgbClr val="F2A900"/>
          </a:solidFill>
          <a:ln w="12700">
            <a:solidFill>
              <a:srgbClr val="F2A900"/>
            </a:solidFill>
            <a:prstDash val="solid"/>
          </a:ln>
        </p:spPr>
      </p:sp>
      <p:sp>
        <p:nvSpPr>
          <p:cNvPr id="15" name="Text 13"/>
          <p:cNvSpPr txBox="1"/>
          <p:nvPr/>
        </p:nvSpPr>
        <p:spPr>
          <a:xfrm>
            <a:off x="658368" y="4919472"/>
            <a:ext cx="384048" cy="384048"/>
          </a:xfrm>
          <a:prstGeom prst="rect">
            <a:avLst/>
          </a:prstGeom>
          <a:noFill/>
          <a:ln/>
        </p:spPr>
        <p:txBody>
          <a:bodyPr wrap="square" lIns="0" tIns="0" rIns="0" bIns="0" rtlCol="0" anchor="ctr"/>
          <a:lstStyle/>
          <a:p>
            <a:pPr algn="ctr" indent="0" marL="0">
              <a:buNone/>
            </a:pPr>
            <a:r>
              <a:rPr lang="en-US" sz="1400" b="1" dirty="0">
                <a:solidFill>
                  <a:srgbClr val="1A1917"/>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389888" y="4882896"/>
            <a:ext cx="9866376" cy="329184"/>
          </a:xfrm>
          <a:prstGeom prst="rect">
            <a:avLst/>
          </a:prstGeom>
          <a:noFill/>
          <a:ln/>
        </p:spPr>
        <p:txBody>
          <a:bodyPr wrap="square" lIns="0" tIns="0" rIns="0" bIns="0" rtlCol="0" anchor="ctr"/>
          <a:lstStyle/>
          <a:p>
            <a:pPr indent="0" marL="0">
              <a:buNone/>
            </a:pPr>
            <a:r>
              <a:rPr lang="en-US" sz="1700" b="1" dirty="0">
                <a:solidFill>
                  <a:srgbClr val="F8F7F1"/>
                </a:solidFill>
                <a:latin typeface="Calibri" pitchFamily="34" charset="0"/>
                <a:ea typeface="Calibri" pitchFamily="34" charset="-122"/>
                <a:cs typeface="Calibri" pitchFamily="34" charset="-120"/>
              </a:rPr>
              <a:t>It has to be useful to whoever is doing the building.</a:t>
            </a:r>
            <a:endParaRPr lang="en-US" sz="1700" dirty="0"/>
          </a:p>
        </p:txBody>
      </p:sp>
      <p:sp>
        <p:nvSpPr>
          <p:cNvPr id="17" name="Text 15"/>
          <p:cNvSpPr txBox="1"/>
          <p:nvPr/>
        </p:nvSpPr>
        <p:spPr>
          <a:xfrm>
            <a:off x="1389888" y="5248656"/>
            <a:ext cx="9866376" cy="365760"/>
          </a:xfrm>
          <a:prstGeom prst="rect">
            <a:avLst/>
          </a:prstGeom>
          <a:noFill/>
          <a:ln/>
        </p:spPr>
        <p:txBody>
          <a:bodyPr wrap="square" lIns="0" tIns="0" rIns="0" bIns="0" rtlCol="0" anchor="ctr"/>
          <a:lstStyle/>
          <a:p>
            <a:pPr indent="0" marL="0">
              <a:buNone/>
            </a:pPr>
            <a:r>
              <a:rPr lang="en-US" sz="1350" dirty="0">
                <a:solidFill>
                  <a:srgbClr val="9C978C"/>
                </a:solidFill>
                <a:latin typeface="Calibri" pitchFamily="34" charset="0"/>
                <a:ea typeface="Calibri" pitchFamily="34" charset="-122"/>
                <a:cs typeface="Calibri" pitchFamily="34" charset="-120"/>
              </a:rPr>
              <a:t>At Capital Factory that is not only a person.</a:t>
            </a:r>
            <a:endParaRPr lang="en-US" sz="1350" dirty="0"/>
          </a:p>
        </p:txBody>
      </p:sp>
      <p:sp>
        <p:nvSpPr>
          <p:cNvPr id="18" name="Text 16"/>
          <p:cNvSpPr txBox="1"/>
          <p:nvPr/>
        </p:nvSpPr>
        <p:spPr>
          <a:xfrm>
            <a:off x="658368" y="5760720"/>
            <a:ext cx="10872216" cy="365760"/>
          </a:xfrm>
          <a:prstGeom prst="rect">
            <a:avLst/>
          </a:prstGeom>
          <a:noFill/>
          <a:ln/>
        </p:spPr>
        <p:txBody>
          <a:bodyPr wrap="square" lIns="0" tIns="0" rIns="0" bIns="0" rtlCol="0" anchor="ctr"/>
          <a:lstStyle/>
          <a:p>
            <a:pPr indent="0" marL="0">
              <a:buNone/>
            </a:pPr>
            <a:r>
              <a:rPr lang="en-US" sz="1300" i="1" dirty="0">
                <a:solidFill>
                  <a:srgbClr val="8E897D"/>
                </a:solidFill>
                <a:latin typeface="Calibri" pitchFamily="34" charset="0"/>
                <a:ea typeface="Calibri" pitchFamily="34" charset="-122"/>
                <a:cs typeface="Calibri" pitchFamily="34" charset="-120"/>
              </a:rPr>
              <a:t>Those three rule out every version of a place people visit. Including a chat interface, which is a catalog with a different input box.</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THE ANSWER</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Put the answer where the work already happens.</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658368" y="2377440"/>
            <a:ext cx="10872216" cy="1737360"/>
          </a:xfrm>
          <a:prstGeom prst="roundRect">
            <a:avLst>
              <a:gd name="adj" fmla="val 3158"/>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1207008" y="2706624"/>
            <a:ext cx="9774936" cy="1097280"/>
          </a:xfrm>
          <a:prstGeom prst="rect">
            <a:avLst/>
          </a:prstGeom>
          <a:noFill/>
          <a:ln/>
        </p:spPr>
        <p:txBody>
          <a:bodyPr wrap="square" lIns="0" tIns="0" rIns="0" bIns="0" rtlCol="0" anchor="ctr"/>
          <a:lstStyle/>
          <a:p>
            <a:pPr indent="0" marL="0">
              <a:lnSpc>
                <a:spcPct val="116000"/>
              </a:lnSpc>
              <a:buNone/>
            </a:pPr>
            <a:r>
              <a:rPr lang="en-US" sz="2300" b="1" dirty="0">
                <a:solidFill>
                  <a:srgbClr val="F8F7F1"/>
                </a:solidFill>
                <a:latin typeface="Cambria" pitchFamily="34" charset="0"/>
                <a:ea typeface="Cambria" pitchFamily="34" charset="-122"/>
                <a:cs typeface="Cambria" pitchFamily="34" charset="-120"/>
              </a:rPr>
              <a:t>Everyone at Capital Factory already builds with Claude.</a:t>
            </a:r>
            <a:endParaRPr lang="en-US" sz="2300" dirty="0"/>
          </a:p>
          <a:p>
            <a:pPr indent="0" marL="0">
              <a:lnSpc>
                <a:spcPct val="116000"/>
              </a:lnSpc>
              <a:buNone/>
            </a:pPr>
            <a:r>
              <a:rPr lang="en-US" sz="2300" b="1" dirty="0">
                <a:solidFill>
                  <a:srgbClr val="F8F7F1"/>
                </a:solidFill>
                <a:latin typeface="Cambria" pitchFamily="34" charset="0"/>
                <a:ea typeface="Cambria" pitchFamily="34" charset="-122"/>
                <a:cs typeface="Cambria" pitchFamily="34" charset="-120"/>
              </a:rPr>
              <a:t>So don't build a place for people to go. Give Claude access to what the company knows.</a:t>
            </a:r>
            <a:endParaRPr lang="en-US" sz="2300" dirty="0"/>
          </a:p>
        </p:txBody>
      </p:sp>
      <p:sp>
        <p:nvSpPr>
          <p:cNvPr id="8" name="Shape 6"/>
          <p:cNvSpPr/>
          <p:nvPr/>
        </p:nvSpPr>
        <p:spPr>
          <a:xfrm>
            <a:off x="658368" y="4370832"/>
            <a:ext cx="3380232" cy="1371600"/>
          </a:xfrm>
          <a:prstGeom prst="roundRect">
            <a:avLst>
              <a:gd name="adj" fmla="val 4000"/>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9" name="Text 7"/>
          <p:cNvSpPr txBox="1"/>
          <p:nvPr/>
        </p:nvSpPr>
        <p:spPr>
          <a:xfrm>
            <a:off x="950976" y="4572000"/>
            <a:ext cx="2795016" cy="310896"/>
          </a:xfrm>
          <a:prstGeom prst="rect">
            <a:avLst/>
          </a:prstGeom>
          <a:noFill/>
          <a:ln/>
        </p:spPr>
        <p:txBody>
          <a:bodyPr wrap="square" lIns="0" tIns="0" rIns="0" bIns="0" rtlCol="0" anchor="ctr"/>
          <a:lstStyle/>
          <a:p>
            <a:pPr indent="0" marL="0">
              <a:buNone/>
            </a:pPr>
            <a:r>
              <a:rPr lang="en-US" sz="1400" b="1" dirty="0">
                <a:solidFill>
                  <a:srgbClr val="1A1917"/>
                </a:solidFill>
                <a:latin typeface="Calibri" pitchFamily="34" charset="0"/>
                <a:ea typeface="Calibri" pitchFamily="34" charset="-122"/>
                <a:cs typeface="Calibri" pitchFamily="34" charset="-120"/>
              </a:rPr>
              <a:t>Nobody visits anything</a:t>
            </a:r>
            <a:endParaRPr lang="en-US" sz="1400" dirty="0"/>
          </a:p>
        </p:txBody>
      </p:sp>
      <p:sp>
        <p:nvSpPr>
          <p:cNvPr id="10" name="Text 8"/>
          <p:cNvSpPr txBox="1"/>
          <p:nvPr/>
        </p:nvSpPr>
        <p:spPr>
          <a:xfrm>
            <a:off x="950976" y="4901184"/>
            <a:ext cx="2795016" cy="731520"/>
          </a:xfrm>
          <a:prstGeom prst="rect">
            <a:avLst/>
          </a:prstGeom>
          <a:noFill/>
          <a:ln/>
        </p:spPr>
        <p:txBody>
          <a:bodyPr wrap="square" lIns="0" tIns="0" rIns="0" bIns="0" rtlCol="0" anchor="ctr"/>
          <a:lstStyle/>
          <a:p>
            <a:pPr indent="0" marL="0">
              <a:lnSpc>
                <a:spcPct val="115000"/>
              </a:lnSpc>
              <a:buNone/>
            </a:pPr>
            <a:r>
              <a:rPr lang="en-US" sz="1250" dirty="0">
                <a:solidFill>
                  <a:srgbClr val="5F5B51"/>
                </a:solidFill>
                <a:latin typeface="Calibri" pitchFamily="34" charset="0"/>
                <a:ea typeface="Calibri" pitchFamily="34" charset="-122"/>
                <a:cs typeface="Calibri" pitchFamily="34" charset="-120"/>
              </a:rPr>
              <a:t>The question gets asked during planning, by the tool already open.</a:t>
            </a:r>
            <a:endParaRPr lang="en-US" sz="1250" dirty="0"/>
          </a:p>
        </p:txBody>
      </p:sp>
      <p:sp>
        <p:nvSpPr>
          <p:cNvPr id="11" name="Shape 9"/>
          <p:cNvSpPr/>
          <p:nvPr/>
        </p:nvSpPr>
        <p:spPr>
          <a:xfrm>
            <a:off x="4404360" y="4370832"/>
            <a:ext cx="3380232" cy="1371600"/>
          </a:xfrm>
          <a:prstGeom prst="roundRect">
            <a:avLst>
              <a:gd name="adj" fmla="val 4000"/>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2" name="Text 10"/>
          <p:cNvSpPr txBox="1"/>
          <p:nvPr/>
        </p:nvSpPr>
        <p:spPr>
          <a:xfrm>
            <a:off x="4696968" y="4572000"/>
            <a:ext cx="2795016" cy="310896"/>
          </a:xfrm>
          <a:prstGeom prst="rect">
            <a:avLst/>
          </a:prstGeom>
          <a:noFill/>
          <a:ln/>
        </p:spPr>
        <p:txBody>
          <a:bodyPr wrap="square" lIns="0" tIns="0" rIns="0" bIns="0" rtlCol="0" anchor="ctr"/>
          <a:lstStyle/>
          <a:p>
            <a:pPr indent="0" marL="0">
              <a:buNone/>
            </a:pPr>
            <a:r>
              <a:rPr lang="en-US" sz="1400" b="1" dirty="0">
                <a:solidFill>
                  <a:srgbClr val="1A1917"/>
                </a:solidFill>
                <a:latin typeface="Calibri" pitchFamily="34" charset="0"/>
                <a:ea typeface="Calibri" pitchFamily="34" charset="-122"/>
                <a:cs typeface="Calibri" pitchFamily="34" charset="-120"/>
              </a:rPr>
              <a:t>Nobody learns a new system</a:t>
            </a:r>
            <a:endParaRPr lang="en-US" sz="1400" dirty="0"/>
          </a:p>
        </p:txBody>
      </p:sp>
      <p:sp>
        <p:nvSpPr>
          <p:cNvPr id="13" name="Text 11"/>
          <p:cNvSpPr txBox="1"/>
          <p:nvPr/>
        </p:nvSpPr>
        <p:spPr>
          <a:xfrm>
            <a:off x="4696968" y="4901184"/>
            <a:ext cx="2795016" cy="731520"/>
          </a:xfrm>
          <a:prstGeom prst="rect">
            <a:avLst/>
          </a:prstGeom>
          <a:noFill/>
          <a:ln/>
        </p:spPr>
        <p:txBody>
          <a:bodyPr wrap="square" lIns="0" tIns="0" rIns="0" bIns="0" rtlCol="0" anchor="ctr"/>
          <a:lstStyle/>
          <a:p>
            <a:pPr indent="0" marL="0">
              <a:lnSpc>
                <a:spcPct val="115000"/>
              </a:lnSpc>
              <a:buNone/>
            </a:pPr>
            <a:r>
              <a:rPr lang="en-US" sz="1250" dirty="0">
                <a:solidFill>
                  <a:srgbClr val="5F5B51"/>
                </a:solidFill>
                <a:latin typeface="Calibri" pitchFamily="34" charset="0"/>
                <a:ea typeface="Calibri" pitchFamily="34" charset="-122"/>
                <a:cs typeface="Calibri" pitchFamily="34" charset="-120"/>
              </a:rPr>
              <a:t>There is nothing to adopt, no login, no training.</a:t>
            </a:r>
            <a:endParaRPr lang="en-US" sz="1250" dirty="0"/>
          </a:p>
        </p:txBody>
      </p:sp>
      <p:sp>
        <p:nvSpPr>
          <p:cNvPr id="14" name="Shape 12"/>
          <p:cNvSpPr/>
          <p:nvPr/>
        </p:nvSpPr>
        <p:spPr>
          <a:xfrm>
            <a:off x="8150352" y="4370832"/>
            <a:ext cx="3380232" cy="1371600"/>
          </a:xfrm>
          <a:prstGeom prst="roundRect">
            <a:avLst>
              <a:gd name="adj" fmla="val 4000"/>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5" name="Text 13"/>
          <p:cNvSpPr txBox="1"/>
          <p:nvPr/>
        </p:nvSpPr>
        <p:spPr>
          <a:xfrm>
            <a:off x="8442960" y="4572000"/>
            <a:ext cx="2795016" cy="310896"/>
          </a:xfrm>
          <a:prstGeom prst="rect">
            <a:avLst/>
          </a:prstGeom>
          <a:noFill/>
          <a:ln/>
        </p:spPr>
        <p:txBody>
          <a:bodyPr wrap="square" lIns="0" tIns="0" rIns="0" bIns="0" rtlCol="0" anchor="ctr"/>
          <a:lstStyle/>
          <a:p>
            <a:pPr indent="0" marL="0">
              <a:buNone/>
            </a:pPr>
            <a:r>
              <a:rPr lang="en-US" sz="1400" b="1" dirty="0">
                <a:solidFill>
                  <a:srgbClr val="1A1917"/>
                </a:solidFill>
                <a:latin typeface="Calibri" pitchFamily="34" charset="0"/>
                <a:ea typeface="Calibri" pitchFamily="34" charset="-122"/>
                <a:cs typeface="Calibri" pitchFamily="34" charset="-120"/>
              </a:rPr>
              <a:t>It happens before the work</a:t>
            </a:r>
            <a:endParaRPr lang="en-US" sz="1400" dirty="0"/>
          </a:p>
        </p:txBody>
      </p:sp>
      <p:sp>
        <p:nvSpPr>
          <p:cNvPr id="16" name="Text 14"/>
          <p:cNvSpPr txBox="1"/>
          <p:nvPr/>
        </p:nvSpPr>
        <p:spPr>
          <a:xfrm>
            <a:off x="8442960" y="4901184"/>
            <a:ext cx="2795016" cy="731520"/>
          </a:xfrm>
          <a:prstGeom prst="rect">
            <a:avLst/>
          </a:prstGeom>
          <a:noFill/>
          <a:ln/>
        </p:spPr>
        <p:txBody>
          <a:bodyPr wrap="square" lIns="0" tIns="0" rIns="0" bIns="0" rtlCol="0" anchor="ctr"/>
          <a:lstStyle/>
          <a:p>
            <a:pPr indent="0" marL="0">
              <a:lnSpc>
                <a:spcPct val="115000"/>
              </a:lnSpc>
              <a:buNone/>
            </a:pPr>
            <a:r>
              <a:rPr lang="en-US" sz="1250" dirty="0">
                <a:solidFill>
                  <a:srgbClr val="5F5B51"/>
                </a:solidFill>
                <a:latin typeface="Calibri" pitchFamily="34" charset="0"/>
                <a:ea typeface="Calibri" pitchFamily="34" charset="-122"/>
                <a:cs typeface="Calibri" pitchFamily="34" charset="-120"/>
              </a:rPr>
              <a:t>Which is the only moment duplication can still be prevented.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WHAT CHANGES</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Nothing moves. Something gets added underneath.</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658368" y="2286000"/>
            <a:ext cx="5244084" cy="3200400"/>
          </a:xfrm>
          <a:prstGeom prst="roundRect">
            <a:avLst>
              <a:gd name="adj" fmla="val 1714"/>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1024128" y="2542032"/>
            <a:ext cx="4512564" cy="384048"/>
          </a:xfrm>
          <a:prstGeom prst="rect">
            <a:avLst/>
          </a:prstGeom>
          <a:noFill/>
          <a:ln/>
        </p:spPr>
        <p:txBody>
          <a:bodyPr wrap="square" lIns="0" tIns="0" rIns="0" bIns="0" rtlCol="0" anchor="ctr"/>
          <a:lstStyle/>
          <a:p>
            <a:pPr indent="0" marL="0">
              <a:buNone/>
            </a:pPr>
            <a:r>
              <a:rPr lang="en-US" sz="2400" b="1" dirty="0">
                <a:solidFill>
                  <a:srgbClr val="1A1917"/>
                </a:solidFill>
                <a:latin typeface="Cambria" pitchFamily="34" charset="0"/>
                <a:ea typeface="Cambria" pitchFamily="34" charset="-122"/>
                <a:cs typeface="Cambria" pitchFamily="34" charset="-120"/>
              </a:rPr>
              <a:t>What executes</a:t>
            </a:r>
            <a:endParaRPr lang="en-US" sz="2400" dirty="0"/>
          </a:p>
        </p:txBody>
      </p:sp>
      <p:sp>
        <p:nvSpPr>
          <p:cNvPr id="8" name="Text 6"/>
          <p:cNvSpPr txBox="1"/>
          <p:nvPr/>
        </p:nvSpPr>
        <p:spPr>
          <a:xfrm>
            <a:off x="1024128" y="2926080"/>
            <a:ext cx="4512564" cy="274320"/>
          </a:xfrm>
          <a:prstGeom prst="rect">
            <a:avLst/>
          </a:prstGeom>
          <a:noFill/>
          <a:ln/>
        </p:spPr>
        <p:txBody>
          <a:bodyPr wrap="square" lIns="0" tIns="0" rIns="0" bIns="0" rtlCol="0" anchor="ctr"/>
          <a:lstStyle/>
          <a:p>
            <a:pPr indent="0" marL="0">
              <a:buNone/>
            </a:pPr>
            <a:r>
              <a:rPr lang="en-US" sz="1300" b="1" dirty="0">
                <a:solidFill>
                  <a:srgbClr val="2F6B3F"/>
                </a:solidFill>
                <a:latin typeface="Calibri" pitchFamily="34" charset="0"/>
                <a:ea typeface="Calibri" pitchFamily="34" charset="-122"/>
                <a:cs typeface="Calibri" pitchFamily="34" charset="-120"/>
              </a:rPr>
              <a:t>stays exactly where it is</a:t>
            </a:r>
            <a:endParaRPr lang="en-US" sz="1300" dirty="0"/>
          </a:p>
        </p:txBody>
      </p:sp>
      <p:sp>
        <p:nvSpPr>
          <p:cNvPr id="9" name="Text 7"/>
          <p:cNvSpPr txBox="1"/>
          <p:nvPr/>
        </p:nvSpPr>
        <p:spPr>
          <a:xfrm>
            <a:off x="1024128" y="3383280"/>
            <a:ext cx="4512564" cy="173736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5F5B51"/>
                </a:solidFill>
                <a:latin typeface="Calibri" pitchFamily="34" charset="0"/>
                <a:ea typeface="Calibri" pitchFamily="34" charset="-122"/>
                <a:cs typeface="Calibri" pitchFamily="34" charset="-120"/>
              </a:rPr>
              <a:t>GitHub is GitHub</a:t>
            </a:r>
            <a:endParaRPr lang="en-US" sz="1400" dirty="0"/>
          </a:p>
          <a:p>
            <a:pPr marL="342900" indent="-342900">
              <a:spcAft>
                <a:spcPts val="900"/>
              </a:spcAft>
              <a:buSzPct val="100000"/>
              <a:buChar char="•"/>
            </a:pPr>
            <a:r>
              <a:rPr lang="en-US" sz="1400" dirty="0">
                <a:solidFill>
                  <a:srgbClr val="5F5B51"/>
                </a:solidFill>
                <a:latin typeface="Calibri" pitchFamily="34" charset="0"/>
                <a:ea typeface="Calibri" pitchFamily="34" charset="-122"/>
                <a:cs typeface="Calibri" pitchFamily="34" charset="-120"/>
              </a:rPr>
              <a:t>Vercel is Vercel</a:t>
            </a:r>
            <a:endParaRPr lang="en-US" sz="1400" dirty="0"/>
          </a:p>
          <a:p>
            <a:pPr marL="342900" indent="-342900">
              <a:spcAft>
                <a:spcPts val="900"/>
              </a:spcAft>
              <a:buSzPct val="100000"/>
              <a:buChar char="•"/>
            </a:pPr>
            <a:r>
              <a:rPr lang="en-US" sz="1400" dirty="0">
                <a:solidFill>
                  <a:srgbClr val="5F5B51"/>
                </a:solidFill>
                <a:latin typeface="Calibri" pitchFamily="34" charset="0"/>
                <a:ea typeface="Calibri" pitchFamily="34" charset="-122"/>
                <a:cs typeface="Calibri" pitchFamily="34" charset="-120"/>
              </a:rPr>
              <a:t>Applications stay deployed where they are</a:t>
            </a:r>
            <a:endParaRPr lang="en-US" sz="1400" dirty="0"/>
          </a:p>
          <a:p>
            <a:pPr marL="342900" indent="-342900">
              <a:spcAft>
                <a:spcPts val="900"/>
              </a:spcAft>
              <a:buSzPct val="100000"/>
              <a:buChar char="•"/>
            </a:pPr>
            <a:r>
              <a:rPr lang="en-US" sz="1400" dirty="0">
                <a:solidFill>
                  <a:srgbClr val="5F5B51"/>
                </a:solidFill>
                <a:latin typeface="Calibri" pitchFamily="34" charset="0"/>
                <a:ea typeface="Calibri" pitchFamily="34" charset="-122"/>
                <a:cs typeface="Calibri" pitchFamily="34" charset="-120"/>
              </a:rPr>
              <a:t>No migration, no freeze, nobody stops shipping</a:t>
            </a:r>
            <a:endParaRPr lang="en-US" sz="1400" dirty="0"/>
          </a:p>
        </p:txBody>
      </p:sp>
      <p:sp>
        <p:nvSpPr>
          <p:cNvPr id="10" name="Shape 8"/>
          <p:cNvSpPr/>
          <p:nvPr/>
        </p:nvSpPr>
        <p:spPr>
          <a:xfrm>
            <a:off x="6286500" y="2286000"/>
            <a:ext cx="5244084" cy="3200400"/>
          </a:xfrm>
          <a:prstGeom prst="roundRect">
            <a:avLst>
              <a:gd name="adj" fmla="val 1714"/>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11" name="Text 9"/>
          <p:cNvSpPr txBox="1"/>
          <p:nvPr/>
        </p:nvSpPr>
        <p:spPr>
          <a:xfrm>
            <a:off x="6652260" y="2542032"/>
            <a:ext cx="4512564" cy="384048"/>
          </a:xfrm>
          <a:prstGeom prst="rect">
            <a:avLst/>
          </a:prstGeom>
          <a:noFill/>
          <a:ln/>
        </p:spPr>
        <p:txBody>
          <a:bodyPr wrap="square" lIns="0" tIns="0" rIns="0" bIns="0" rtlCol="0" anchor="ctr"/>
          <a:lstStyle/>
          <a:p>
            <a:pPr indent="0" marL="0">
              <a:buNone/>
            </a:pPr>
            <a:r>
              <a:rPr lang="en-US" sz="2400" b="1" dirty="0">
                <a:solidFill>
                  <a:srgbClr val="F2A900"/>
                </a:solidFill>
                <a:latin typeface="Cambria" pitchFamily="34" charset="0"/>
                <a:ea typeface="Cambria" pitchFamily="34" charset="-122"/>
                <a:cs typeface="Cambria" pitchFamily="34" charset="-120"/>
              </a:rPr>
              <a:t>What understands</a:t>
            </a:r>
            <a:endParaRPr lang="en-US" sz="2400" dirty="0"/>
          </a:p>
        </p:txBody>
      </p:sp>
      <p:sp>
        <p:nvSpPr>
          <p:cNvPr id="12" name="Text 10"/>
          <p:cNvSpPr txBox="1"/>
          <p:nvPr/>
        </p:nvSpPr>
        <p:spPr>
          <a:xfrm>
            <a:off x="6652260" y="2926080"/>
            <a:ext cx="4512564" cy="274320"/>
          </a:xfrm>
          <a:prstGeom prst="rect">
            <a:avLst/>
          </a:prstGeom>
          <a:noFill/>
          <a:ln/>
        </p:spPr>
        <p:txBody>
          <a:bodyPr wrap="square" lIns="0" tIns="0" rIns="0" bIns="0" rtlCol="0" anchor="ctr"/>
          <a:lstStyle/>
          <a:p>
            <a:pPr indent="0" marL="0">
              <a:buNone/>
            </a:pPr>
            <a:r>
              <a:rPr lang="en-US" sz="1300" b="1" dirty="0">
                <a:solidFill>
                  <a:srgbClr val="C8C3B8"/>
                </a:solidFill>
                <a:latin typeface="Calibri" pitchFamily="34" charset="0"/>
                <a:ea typeface="Calibri" pitchFamily="34" charset="-122"/>
                <a:cs typeface="Calibri" pitchFamily="34" charset="-120"/>
              </a:rPr>
              <a:t>is the new part</a:t>
            </a:r>
            <a:endParaRPr lang="en-US" sz="1300" dirty="0"/>
          </a:p>
        </p:txBody>
      </p:sp>
      <p:sp>
        <p:nvSpPr>
          <p:cNvPr id="13" name="Text 11"/>
          <p:cNvSpPr txBox="1"/>
          <p:nvPr/>
        </p:nvSpPr>
        <p:spPr>
          <a:xfrm>
            <a:off x="6652260" y="3383280"/>
            <a:ext cx="4512564" cy="173736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C8C3B8"/>
                </a:solidFill>
                <a:latin typeface="Calibri" pitchFamily="34" charset="0"/>
                <a:ea typeface="Calibri" pitchFamily="34" charset="-122"/>
                <a:cs typeface="Calibri" pitchFamily="34" charset="-120"/>
              </a:rPr>
              <a:t>What have we built</a:t>
            </a:r>
            <a:endParaRPr lang="en-US" sz="1400" dirty="0"/>
          </a:p>
          <a:p>
            <a:pPr marL="342900" indent="-342900">
              <a:spcAft>
                <a:spcPts val="900"/>
              </a:spcAft>
              <a:buSzPct val="100000"/>
              <a:buChar char="•"/>
            </a:pPr>
            <a:r>
              <a:rPr lang="en-US" sz="1400" dirty="0">
                <a:solidFill>
                  <a:srgbClr val="C8C3B8"/>
                </a:solidFill>
                <a:latin typeface="Calibri" pitchFamily="34" charset="0"/>
                <a:ea typeface="Calibri" pitchFamily="34" charset="-122"/>
                <a:cs typeface="Calibri" pitchFamily="34" charset="-120"/>
              </a:rPr>
              <a:t>What can we already do, and where does it live</a:t>
            </a:r>
            <a:endParaRPr lang="en-US" sz="1400" dirty="0"/>
          </a:p>
          <a:p>
            <a:pPr marL="342900" indent="-342900">
              <a:spcAft>
                <a:spcPts val="900"/>
              </a:spcAft>
              <a:buSzPct val="100000"/>
              <a:buChar char="•"/>
            </a:pPr>
            <a:r>
              <a:rPr lang="en-US" sz="1400" dirty="0">
                <a:solidFill>
                  <a:srgbClr val="C8C3B8"/>
                </a:solidFill>
                <a:latin typeface="Calibri" pitchFamily="34" charset="0"/>
                <a:ea typeface="Calibri" pitchFamily="34" charset="-122"/>
                <a:cs typeface="Calibri" pitchFamily="34" charset="-120"/>
              </a:rPr>
              <a:t>Who owns it and what does it touch</a:t>
            </a:r>
            <a:endParaRPr lang="en-US" sz="1400" dirty="0"/>
          </a:p>
          <a:p>
            <a:pPr marL="342900" indent="-342900">
              <a:spcAft>
                <a:spcPts val="900"/>
              </a:spcAft>
              <a:buSzPct val="100000"/>
              <a:buChar char="•"/>
            </a:pPr>
            <a:r>
              <a:rPr lang="en-US" sz="1400" dirty="0">
                <a:solidFill>
                  <a:srgbClr val="C8C3B8"/>
                </a:solidFill>
                <a:latin typeface="Calibri" pitchFamily="34" charset="0"/>
                <a:ea typeface="Calibri" pitchFamily="34" charset="-122"/>
                <a:cs typeface="Calibri" pitchFamily="34" charset="-120"/>
              </a:rPr>
              <a:t>What should a new application follow</a:t>
            </a:r>
            <a:endParaRPr lang="en-US" sz="1400" dirty="0"/>
          </a:p>
        </p:txBody>
      </p:sp>
      <p:sp>
        <p:nvSpPr>
          <p:cNvPr id="14" name="Text 12"/>
          <p:cNvSpPr txBox="1"/>
          <p:nvPr/>
        </p:nvSpPr>
        <p:spPr>
          <a:xfrm>
            <a:off x="658368" y="5705856"/>
            <a:ext cx="10872216" cy="365760"/>
          </a:xfrm>
          <a:prstGeom prst="rect">
            <a:avLst/>
          </a:prstGeom>
          <a:noFill/>
          <a:ln/>
        </p:spPr>
        <p:txBody>
          <a:bodyPr wrap="square" lIns="0" tIns="0" rIns="0" bIns="0" rtlCol="0" anchor="ctr"/>
          <a:lstStyle/>
          <a:p>
            <a:pPr algn="ctr" indent="0" marL="0">
              <a:buNone/>
            </a:pPr>
            <a:r>
              <a:rPr lang="en-US" sz="1800" b="1" dirty="0">
                <a:solidFill>
                  <a:srgbClr val="7D5900"/>
                </a:solidFill>
                <a:latin typeface="Cambria" pitchFamily="34" charset="0"/>
                <a:ea typeface="Cambria" pitchFamily="34" charset="-122"/>
                <a:cs typeface="Cambria" pitchFamily="34" charset="-120"/>
              </a:rPr>
              <a:t>The estate does not have an interface problem. It has a memory problem, and memory is what gets added.</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THE CONNECTION</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Claude already speaks MCP, so nothing gets installed.</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1298448" y="2395728"/>
            <a:ext cx="4206240" cy="585216"/>
          </a:xfrm>
          <a:prstGeom prst="roundRect">
            <a:avLst>
              <a:gd name="adj" fmla="val 9375"/>
            </a:avLst>
          </a:prstGeom>
          <a:solidFill>
            <a:srgbClr val="EDEBE1"/>
          </a:solidFill>
          <a:ln w="12700">
            <a:solidFill>
              <a:srgbClr val="EDEBE1"/>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1536192" y="2432304"/>
            <a:ext cx="3730752" cy="292608"/>
          </a:xfrm>
          <a:prstGeom prst="rect">
            <a:avLst/>
          </a:prstGeom>
          <a:noFill/>
          <a:ln/>
        </p:spPr>
        <p:txBody>
          <a:bodyPr wrap="square" lIns="0" tIns="0" rIns="0" bIns="0" rtlCol="0" anchor="ctr"/>
          <a:lstStyle/>
          <a:p>
            <a:pPr indent="0" marL="0">
              <a:buNone/>
            </a:pPr>
            <a:r>
              <a:rPr lang="en-US" sz="1400" b="1" dirty="0">
                <a:solidFill>
                  <a:srgbClr val="1A1917"/>
                </a:solidFill>
                <a:latin typeface="Calibri" pitchFamily="34" charset="0"/>
                <a:ea typeface="Calibri" pitchFamily="34" charset="-122"/>
                <a:cs typeface="Calibri" pitchFamily="34" charset="-120"/>
              </a:rPr>
              <a:t>Capital Factory employee</a:t>
            </a:r>
            <a:endParaRPr lang="en-US" sz="1400" dirty="0"/>
          </a:p>
        </p:txBody>
      </p:sp>
      <p:sp>
        <p:nvSpPr>
          <p:cNvPr id="8" name="Text 6"/>
          <p:cNvSpPr txBox="1"/>
          <p:nvPr/>
        </p:nvSpPr>
        <p:spPr>
          <a:xfrm>
            <a:off x="1536192" y="2715768"/>
            <a:ext cx="3730752" cy="219456"/>
          </a:xfrm>
          <a:prstGeom prst="rect">
            <a:avLst/>
          </a:prstGeom>
          <a:noFill/>
          <a:ln/>
        </p:spPr>
        <p:txBody>
          <a:bodyPr wrap="square" lIns="0" tIns="0" rIns="0" bIns="0" rtlCol="0" anchor="ctr"/>
          <a:lstStyle/>
          <a:p>
            <a:pPr indent="0" marL="0">
              <a:buNone/>
            </a:pPr>
            <a:r>
              <a:rPr lang="en-US" sz="1000" dirty="0">
                <a:solidFill>
                  <a:srgbClr val="8A857A"/>
                </a:solidFill>
                <a:latin typeface="Calibri" pitchFamily="34" charset="0"/>
                <a:ea typeface="Calibri" pitchFamily="34" charset="-122"/>
                <a:cs typeface="Calibri" pitchFamily="34" charset="-120"/>
              </a:rPr>
              <a:t>already how they work</a:t>
            </a:r>
            <a:endParaRPr lang="en-US" sz="1000" dirty="0"/>
          </a:p>
        </p:txBody>
      </p:sp>
      <p:sp>
        <p:nvSpPr>
          <p:cNvPr id="9" name="Text 7"/>
          <p:cNvSpPr txBox="1"/>
          <p:nvPr/>
        </p:nvSpPr>
        <p:spPr>
          <a:xfrm>
            <a:off x="1298448" y="2962656"/>
            <a:ext cx="4206240" cy="237744"/>
          </a:xfrm>
          <a:prstGeom prst="rect">
            <a:avLst/>
          </a:prstGeom>
          <a:noFill/>
          <a:ln/>
        </p:spPr>
        <p:txBody>
          <a:bodyPr wrap="square" lIns="0" tIns="0" rIns="0" bIns="0" rtlCol="0" anchor="ctr"/>
          <a:lstStyle/>
          <a:p>
            <a:pPr algn="ctr" indent="0" marL="0">
              <a:buNone/>
            </a:pPr>
            <a:r>
              <a:rPr lang="en-US" sz="1400" dirty="0">
                <a:solidFill>
                  <a:srgbClr val="7D5900"/>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1298448" y="3200400"/>
            <a:ext cx="4206240" cy="585216"/>
          </a:xfrm>
          <a:prstGeom prst="roundRect">
            <a:avLst>
              <a:gd name="adj" fmla="val 9375"/>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1" name="Text 9"/>
          <p:cNvSpPr txBox="1"/>
          <p:nvPr/>
        </p:nvSpPr>
        <p:spPr>
          <a:xfrm>
            <a:off x="1536192" y="3236976"/>
            <a:ext cx="3730752" cy="292608"/>
          </a:xfrm>
          <a:prstGeom prst="rect">
            <a:avLst/>
          </a:prstGeom>
          <a:noFill/>
          <a:ln/>
        </p:spPr>
        <p:txBody>
          <a:bodyPr wrap="square" lIns="0" tIns="0" rIns="0" bIns="0" rtlCol="0" anchor="ctr"/>
          <a:lstStyle/>
          <a:p>
            <a:pPr indent="0" marL="0">
              <a:buNone/>
            </a:pPr>
            <a:r>
              <a:rPr lang="en-US" sz="1400" b="1" dirty="0">
                <a:solidFill>
                  <a:srgbClr val="1A1917"/>
                </a:solidFill>
                <a:latin typeface="Calibri" pitchFamily="34" charset="0"/>
                <a:ea typeface="Calibri" pitchFamily="34" charset="-122"/>
                <a:cs typeface="Calibri" pitchFamily="34" charset="-120"/>
              </a:rPr>
              <a:t>Claude</a:t>
            </a:r>
            <a:endParaRPr lang="en-US" sz="1400" dirty="0"/>
          </a:p>
        </p:txBody>
      </p:sp>
      <p:sp>
        <p:nvSpPr>
          <p:cNvPr id="12" name="Text 10"/>
          <p:cNvSpPr txBox="1"/>
          <p:nvPr/>
        </p:nvSpPr>
        <p:spPr>
          <a:xfrm>
            <a:off x="1536192" y="3520440"/>
            <a:ext cx="3730752" cy="219456"/>
          </a:xfrm>
          <a:prstGeom prst="rect">
            <a:avLst/>
          </a:prstGeom>
          <a:noFill/>
          <a:ln/>
        </p:spPr>
        <p:txBody>
          <a:bodyPr wrap="square" lIns="0" tIns="0" rIns="0" bIns="0" rtlCol="0" anchor="ctr"/>
          <a:lstStyle/>
          <a:p>
            <a:pPr indent="0" marL="0">
              <a:buNone/>
            </a:pPr>
            <a:r>
              <a:rPr lang="en-US" sz="1000" dirty="0">
                <a:solidFill>
                  <a:srgbClr val="8A857A"/>
                </a:solidFill>
                <a:latin typeface="Calibri" pitchFamily="34" charset="0"/>
                <a:ea typeface="Calibri" pitchFamily="34" charset="-122"/>
                <a:cs typeface="Calibri" pitchFamily="34" charset="-120"/>
              </a:rPr>
              <a:t>MCP tool calls</a:t>
            </a:r>
            <a:endParaRPr lang="en-US" sz="1000" dirty="0"/>
          </a:p>
        </p:txBody>
      </p:sp>
      <p:sp>
        <p:nvSpPr>
          <p:cNvPr id="13" name="Text 11"/>
          <p:cNvSpPr txBox="1"/>
          <p:nvPr/>
        </p:nvSpPr>
        <p:spPr>
          <a:xfrm>
            <a:off x="1298448" y="3767328"/>
            <a:ext cx="4206240" cy="237744"/>
          </a:xfrm>
          <a:prstGeom prst="rect">
            <a:avLst/>
          </a:prstGeom>
          <a:noFill/>
          <a:ln/>
        </p:spPr>
        <p:txBody>
          <a:bodyPr wrap="square" lIns="0" tIns="0" rIns="0" bIns="0" rtlCol="0" anchor="ctr"/>
          <a:lstStyle/>
          <a:p>
            <a:pPr algn="ctr" indent="0" marL="0">
              <a:buNone/>
            </a:pPr>
            <a:r>
              <a:rPr lang="en-US" sz="1400" dirty="0">
                <a:solidFill>
                  <a:srgbClr val="7D5900"/>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1298448" y="4005072"/>
            <a:ext cx="4206240" cy="585216"/>
          </a:xfrm>
          <a:prstGeom prst="roundRect">
            <a:avLst>
              <a:gd name="adj" fmla="val 9375"/>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15" name="Text 13"/>
          <p:cNvSpPr txBox="1"/>
          <p:nvPr/>
        </p:nvSpPr>
        <p:spPr>
          <a:xfrm>
            <a:off x="1536192" y="4041648"/>
            <a:ext cx="3730752" cy="292608"/>
          </a:xfrm>
          <a:prstGeom prst="rect">
            <a:avLst/>
          </a:prstGeom>
          <a:noFill/>
          <a:ln/>
        </p:spPr>
        <p:txBody>
          <a:bodyPr wrap="square" lIns="0" tIns="0" rIns="0" bIns="0" rtlCol="0" anchor="ctr"/>
          <a:lstStyle/>
          <a:p>
            <a:pPr indent="0" marL="0">
              <a:buNone/>
            </a:pPr>
            <a:r>
              <a:rPr lang="en-US" sz="1400" b="1" dirty="0">
                <a:solidFill>
                  <a:srgbClr val="F8F7F1"/>
                </a:solidFill>
                <a:latin typeface="Calibri" pitchFamily="34" charset="0"/>
                <a:ea typeface="Calibri" pitchFamily="34" charset="-122"/>
                <a:cs typeface="Calibri" pitchFamily="34" charset="-120"/>
              </a:rPr>
              <a:t>The understanding layer</a:t>
            </a:r>
            <a:endParaRPr lang="en-US" sz="1400" dirty="0"/>
          </a:p>
        </p:txBody>
      </p:sp>
      <p:sp>
        <p:nvSpPr>
          <p:cNvPr id="16" name="Text 14"/>
          <p:cNvSpPr txBox="1"/>
          <p:nvPr/>
        </p:nvSpPr>
        <p:spPr>
          <a:xfrm>
            <a:off x="1536192" y="4325112"/>
            <a:ext cx="3730752" cy="219456"/>
          </a:xfrm>
          <a:prstGeom prst="rect">
            <a:avLst/>
          </a:prstGeom>
          <a:noFill/>
          <a:ln/>
        </p:spPr>
        <p:txBody>
          <a:bodyPr wrap="square" lIns="0" tIns="0" rIns="0" bIns="0" rtlCol="0" anchor="ctr"/>
          <a:lstStyle/>
          <a:p>
            <a:pPr indent="0" marL="0">
              <a:buNone/>
            </a:pPr>
            <a:r>
              <a:rPr lang="en-US" sz="1000" dirty="0">
                <a:solidFill>
                  <a:srgbClr val="A9A499"/>
                </a:solidFill>
                <a:latin typeface="Calibri" pitchFamily="34" charset="0"/>
                <a:ea typeface="Calibri" pitchFamily="34" charset="-122"/>
                <a:cs typeface="Calibri" pitchFamily="34" charset="-120"/>
              </a:rPr>
              <a:t>what exists, who owns it, what it touches</a:t>
            </a:r>
            <a:endParaRPr lang="en-US" sz="1000" dirty="0"/>
          </a:p>
        </p:txBody>
      </p:sp>
      <p:sp>
        <p:nvSpPr>
          <p:cNvPr id="17" name="Text 15"/>
          <p:cNvSpPr txBox="1"/>
          <p:nvPr/>
        </p:nvSpPr>
        <p:spPr>
          <a:xfrm>
            <a:off x="1298448" y="4572000"/>
            <a:ext cx="4206240" cy="237744"/>
          </a:xfrm>
          <a:prstGeom prst="rect">
            <a:avLst/>
          </a:prstGeom>
          <a:noFill/>
          <a:ln/>
        </p:spPr>
        <p:txBody>
          <a:bodyPr wrap="square" lIns="0" tIns="0" rIns="0" bIns="0" rtlCol="0" anchor="ctr"/>
          <a:lstStyle/>
          <a:p>
            <a:pPr algn="ctr" indent="0" marL="0">
              <a:buNone/>
            </a:pPr>
            <a:r>
              <a:rPr lang="en-US" sz="1400" dirty="0">
                <a:solidFill>
                  <a:srgbClr val="7D5900"/>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1298448" y="4809744"/>
            <a:ext cx="4206240" cy="585216"/>
          </a:xfrm>
          <a:prstGeom prst="roundRect">
            <a:avLst>
              <a:gd name="adj" fmla="val 9375"/>
            </a:avLst>
          </a:prstGeom>
          <a:solidFill>
            <a:srgbClr val="EDEBE1"/>
          </a:solidFill>
          <a:ln w="12700">
            <a:solidFill>
              <a:srgbClr val="EDEBE1"/>
            </a:solidFill>
            <a:prstDash val="solid"/>
          </a:ln>
          <a:effectLst>
            <a:outerShdw sx="100000" sy="100000" kx="0" ky="0" algn="bl" rotWithShape="0" blurRad="101600" dist="12700" dir="5400000">
              <a:srgbClr val="1A1917">
                <a:alpha val="7000"/>
              </a:srgbClr>
            </a:outerShdw>
          </a:effectLst>
        </p:spPr>
      </p:sp>
      <p:sp>
        <p:nvSpPr>
          <p:cNvPr id="19" name="Text 17"/>
          <p:cNvSpPr txBox="1"/>
          <p:nvPr/>
        </p:nvSpPr>
        <p:spPr>
          <a:xfrm>
            <a:off x="1536192" y="4846320"/>
            <a:ext cx="3730752" cy="292608"/>
          </a:xfrm>
          <a:prstGeom prst="rect">
            <a:avLst/>
          </a:prstGeom>
          <a:noFill/>
          <a:ln/>
        </p:spPr>
        <p:txBody>
          <a:bodyPr wrap="square" lIns="0" tIns="0" rIns="0" bIns="0" rtlCol="0" anchor="ctr"/>
          <a:lstStyle/>
          <a:p>
            <a:pPr indent="0" marL="0">
              <a:buNone/>
            </a:pPr>
            <a:r>
              <a:rPr lang="en-US" sz="1400" b="1" dirty="0">
                <a:solidFill>
                  <a:srgbClr val="5F5B51"/>
                </a:solidFill>
                <a:latin typeface="Calibri" pitchFamily="34" charset="0"/>
                <a:ea typeface="Calibri" pitchFamily="34" charset="-122"/>
                <a:cs typeface="Calibri" pitchFamily="34" charset="-120"/>
              </a:rPr>
              <a:t>GitHub · Vercel · APIs · MCPs</a:t>
            </a:r>
            <a:endParaRPr lang="en-US" sz="1400" dirty="0"/>
          </a:p>
        </p:txBody>
      </p:sp>
      <p:sp>
        <p:nvSpPr>
          <p:cNvPr id="20" name="Text 18"/>
          <p:cNvSpPr txBox="1"/>
          <p:nvPr/>
        </p:nvSpPr>
        <p:spPr>
          <a:xfrm>
            <a:off x="1536192" y="5129784"/>
            <a:ext cx="3730752" cy="219456"/>
          </a:xfrm>
          <a:prstGeom prst="rect">
            <a:avLst/>
          </a:prstGeom>
          <a:noFill/>
          <a:ln/>
        </p:spPr>
        <p:txBody>
          <a:bodyPr wrap="square" lIns="0" tIns="0" rIns="0" bIns="0" rtlCol="0" anchor="ctr"/>
          <a:lstStyle/>
          <a:p>
            <a:pPr indent="0" marL="0">
              <a:buNone/>
            </a:pPr>
            <a:r>
              <a:rPr lang="en-US" sz="1000" dirty="0">
                <a:solidFill>
                  <a:srgbClr val="8A857A"/>
                </a:solidFill>
                <a:latin typeface="Calibri" pitchFamily="34" charset="0"/>
                <a:ea typeface="Calibri" pitchFamily="34" charset="-122"/>
                <a:cs typeface="Calibri" pitchFamily="34" charset="-120"/>
              </a:rPr>
              <a:t>unchanged</a:t>
            </a:r>
            <a:endParaRPr lang="en-US" sz="1000" dirty="0"/>
          </a:p>
        </p:txBody>
      </p:sp>
      <p:sp>
        <p:nvSpPr>
          <p:cNvPr id="21" name="Text 19"/>
          <p:cNvSpPr txBox="1"/>
          <p:nvPr/>
        </p:nvSpPr>
        <p:spPr>
          <a:xfrm>
            <a:off x="6236208" y="2377440"/>
            <a:ext cx="5294376" cy="274320"/>
          </a:xfrm>
          <a:prstGeom prst="rect">
            <a:avLst/>
          </a:prstGeom>
          <a:noFill/>
          <a:ln/>
        </p:spPr>
        <p:txBody>
          <a:bodyPr wrap="square" lIns="0" tIns="0" rIns="0" bIns="0" rtlCol="0" anchor="ctr"/>
          <a:lstStyle/>
          <a:p>
            <a:pPr indent="0" marL="0">
              <a:buNone/>
            </a:pPr>
            <a:r>
              <a:rPr lang="en-US" sz="1100" b="1" spc="200" kern="0" dirty="0">
                <a:solidFill>
                  <a:srgbClr val="7D5900"/>
                </a:solidFill>
                <a:latin typeface="Calibri" pitchFamily="34" charset="0"/>
                <a:ea typeface="Calibri" pitchFamily="34" charset="-122"/>
                <a:cs typeface="Calibri" pitchFamily="34" charset="-120"/>
              </a:rPr>
              <a:t>Six tools</a:t>
            </a:r>
            <a:endParaRPr lang="en-US" sz="1100" dirty="0"/>
          </a:p>
        </p:txBody>
      </p:sp>
      <p:sp>
        <p:nvSpPr>
          <p:cNvPr id="22" name="Shape 20"/>
          <p:cNvSpPr/>
          <p:nvPr/>
        </p:nvSpPr>
        <p:spPr>
          <a:xfrm>
            <a:off x="6236208" y="2688336"/>
            <a:ext cx="5294376" cy="1828800"/>
          </a:xfrm>
          <a:prstGeom prst="roundRect">
            <a:avLst>
              <a:gd name="adj" fmla="val 2500"/>
            </a:avLst>
          </a:prstGeom>
          <a:solidFill>
            <a:srgbClr val="F7F6F0"/>
          </a:solidFill>
          <a:ln w="12700">
            <a:solidFill>
              <a:srgbClr val="E3E1D7"/>
            </a:solidFill>
            <a:prstDash val="solid"/>
          </a:ln>
        </p:spPr>
      </p:sp>
      <p:sp>
        <p:nvSpPr>
          <p:cNvPr id="23" name="Text 21"/>
          <p:cNvSpPr txBox="1"/>
          <p:nvPr/>
        </p:nvSpPr>
        <p:spPr>
          <a:xfrm>
            <a:off x="6419088" y="2825496"/>
            <a:ext cx="4928616" cy="1554480"/>
          </a:xfrm>
          <a:prstGeom prst="rect">
            <a:avLst/>
          </a:prstGeom>
          <a:noFill/>
          <a:ln/>
        </p:spPr>
        <p:txBody>
          <a:bodyPr wrap="square" lIns="0" tIns="0" rIns="0" bIns="0" rtlCol="0" anchor="ctr"/>
          <a:lstStyle/>
          <a:p>
            <a:pPr indent="0" marL="0">
              <a:lnSpc>
                <a:spcPct val="128000"/>
              </a:lnSpc>
              <a:buNone/>
            </a:pPr>
            <a:r>
              <a:rPr lang="en-US" sz="1100" b="1" dirty="0">
                <a:solidFill>
                  <a:srgbClr val="1A1917"/>
                </a:solidFill>
                <a:latin typeface="Courier New" pitchFamily="34" charset="0"/>
                <a:ea typeface="Courier New" pitchFamily="34" charset="-122"/>
                <a:cs typeface="Courier New" pitchFamily="34" charset="-120"/>
              </a:rPr>
              <a:t>capability_search</a:t>
            </a:r>
            <a:endParaRPr lang="en-US" sz="1100" dirty="0"/>
          </a:p>
          <a:p>
            <a:pPr indent="0" marL="0">
              <a:lnSpc>
                <a:spcPct val="128000"/>
              </a:lnSpc>
              <a:buNone/>
            </a:pPr>
            <a:r>
              <a:rPr lang="en-US" sz="1100" dirty="0">
                <a:solidFill>
                  <a:srgbClr val="5F5B51"/>
                </a:solidFill>
                <a:latin typeface="Courier New" pitchFamily="34" charset="0"/>
                <a:ea typeface="Courier New" pitchFamily="34" charset="-122"/>
                <a:cs typeface="Courier New" pitchFamily="34" charset="-120"/>
              </a:rPr>
              <a:t>capability_get</a:t>
            </a:r>
            <a:endParaRPr lang="en-US" sz="1100" dirty="0"/>
          </a:p>
          <a:p>
            <a:pPr indent="0" marL="0">
              <a:lnSpc>
                <a:spcPct val="128000"/>
              </a:lnSpc>
              <a:buNone/>
            </a:pPr>
            <a:r>
              <a:rPr lang="en-US" sz="1100" dirty="0">
                <a:solidFill>
                  <a:srgbClr val="5F5B51"/>
                </a:solidFill>
                <a:latin typeface="Courier New" pitchFamily="34" charset="0"/>
                <a:ea typeface="Courier New" pitchFamily="34" charset="-122"/>
                <a:cs typeface="Courier New" pitchFamily="34" charset="-120"/>
              </a:rPr>
              <a:t>application_list</a:t>
            </a:r>
            <a:endParaRPr lang="en-US" sz="1100" dirty="0"/>
          </a:p>
          <a:p>
            <a:pPr indent="0" marL="0">
              <a:lnSpc>
                <a:spcPct val="128000"/>
              </a:lnSpc>
              <a:buNone/>
            </a:pPr>
            <a:r>
              <a:rPr lang="en-US" sz="1100" dirty="0">
                <a:solidFill>
                  <a:srgbClr val="5F5B51"/>
                </a:solidFill>
                <a:latin typeface="Courier New" pitchFamily="34" charset="0"/>
                <a:ea typeface="Courier New" pitchFamily="34" charset="-122"/>
                <a:cs typeface="Courier New" pitchFamily="34" charset="-120"/>
              </a:rPr>
              <a:t>standards_get</a:t>
            </a:r>
            <a:endParaRPr lang="en-US" sz="1100" dirty="0"/>
          </a:p>
          <a:p>
            <a:pPr indent="0" marL="0">
              <a:lnSpc>
                <a:spcPct val="128000"/>
              </a:lnSpc>
              <a:buNone/>
            </a:pPr>
            <a:r>
              <a:rPr lang="en-US" sz="1100" dirty="0">
                <a:solidFill>
                  <a:srgbClr val="5F5B51"/>
                </a:solidFill>
                <a:latin typeface="Courier New" pitchFamily="34" charset="0"/>
                <a:ea typeface="Courier New" pitchFamily="34" charset="-122"/>
                <a:cs typeface="Courier New" pitchFamily="34" charset="-120"/>
              </a:rPr>
              <a:t>systems_describe</a:t>
            </a:r>
            <a:endParaRPr lang="en-US" sz="1100" dirty="0"/>
          </a:p>
          <a:p>
            <a:pPr indent="0" marL="0">
              <a:lnSpc>
                <a:spcPct val="128000"/>
              </a:lnSpc>
              <a:buNone/>
            </a:pPr>
            <a:r>
              <a:rPr lang="en-US" sz="1100" dirty="0">
                <a:solidFill>
                  <a:srgbClr val="5F5B51"/>
                </a:solidFill>
                <a:latin typeface="Courier New" pitchFamily="34" charset="0"/>
                <a:ea typeface="Courier New" pitchFamily="34" charset="-122"/>
                <a:cs typeface="Courier New" pitchFamily="34" charset="-120"/>
              </a:rPr>
              <a:t>usage_log</a:t>
            </a:r>
            <a:endParaRPr lang="en-US" sz="1100" dirty="0"/>
          </a:p>
        </p:txBody>
      </p:sp>
      <p:sp>
        <p:nvSpPr>
          <p:cNvPr id="24" name="Text 22"/>
          <p:cNvSpPr txBox="1"/>
          <p:nvPr/>
        </p:nvSpPr>
        <p:spPr>
          <a:xfrm>
            <a:off x="6236208" y="4626864"/>
            <a:ext cx="5294376" cy="548640"/>
          </a:xfrm>
          <a:prstGeom prst="rect">
            <a:avLst/>
          </a:prstGeom>
          <a:noFill/>
          <a:ln/>
        </p:spPr>
        <p:txBody>
          <a:bodyPr wrap="square" lIns="0" tIns="0" rIns="0" bIns="0" rtlCol="0" anchor="ctr"/>
          <a:lstStyle/>
          <a:p>
            <a:pPr indent="0" marL="0">
              <a:lnSpc>
                <a:spcPct val="115000"/>
              </a:lnSpc>
              <a:buNone/>
            </a:pPr>
            <a:r>
              <a:rPr lang="en-US" sz="1250" dirty="0">
                <a:solidFill>
                  <a:srgbClr val="5F5B51"/>
                </a:solidFill>
                <a:latin typeface="Calibri" pitchFamily="34" charset="0"/>
                <a:ea typeface="Calibri" pitchFamily="34" charset="-122"/>
                <a:cs typeface="Calibri" pitchFamily="34" charset="-120"/>
              </a:rPr>
              <a:t>Search matches on what a capability does, not what it is called. In an estate organized by person, names are the least reliable signal there is.</a:t>
            </a:r>
            <a:endParaRPr lang="en-US" sz="1250" dirty="0"/>
          </a:p>
        </p:txBody>
      </p:sp>
      <p:sp>
        <p:nvSpPr>
          <p:cNvPr id="25" name="Text 23"/>
          <p:cNvSpPr txBox="1"/>
          <p:nvPr/>
        </p:nvSpPr>
        <p:spPr>
          <a:xfrm>
            <a:off x="6236208" y="5266944"/>
            <a:ext cx="5294376" cy="457200"/>
          </a:xfrm>
          <a:prstGeom prst="rect">
            <a:avLst/>
          </a:prstGeom>
          <a:noFill/>
          <a:ln/>
        </p:spPr>
        <p:txBody>
          <a:bodyPr wrap="square" lIns="0" tIns="0" rIns="0" bIns="0" rtlCol="0" anchor="ctr"/>
          <a:lstStyle/>
          <a:p>
            <a:pPr indent="0" marL="0">
              <a:lnSpc>
                <a:spcPct val="115000"/>
              </a:lnSpc>
              <a:buNone/>
            </a:pPr>
            <a:r>
              <a:rPr lang="en-US" sz="1250" b="1" dirty="0">
                <a:solidFill>
                  <a:srgbClr val="B3261E"/>
                </a:solidFill>
                <a:latin typeface="Calibri" pitchFamily="34" charset="0"/>
                <a:ea typeface="Calibri" pitchFamily="34" charset="-122"/>
                <a:cs typeface="Calibri" pitchFamily="34" charset="-120"/>
              </a:rPr>
              <a:t>It serves descriptions of capabilities, never the data those capabilities touch.</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IN USE</a:t>
            </a:r>
            <a:endParaRPr lang="en-US" sz="1050" dirty="0"/>
          </a:p>
        </p:txBody>
      </p:sp>
      <p:sp>
        <p:nvSpPr>
          <p:cNvPr id="3" name="Text 1"/>
          <p:cNvSpPr txBox="1"/>
          <p:nvPr/>
        </p:nvSpPr>
        <p:spPr>
          <a:xfrm>
            <a:off x="658368" y="786384"/>
            <a:ext cx="10872216" cy="1133856"/>
          </a:xfrm>
          <a:prstGeom prst="rect">
            <a:avLst/>
          </a:prstGeom>
          <a:noFill/>
          <a:ln/>
        </p:spPr>
        <p:txBody>
          <a:bodyPr wrap="square" lIns="0" tIns="0" rIns="0" bIns="0" rtlCol="0" anchor="ctr"/>
          <a:lstStyle/>
          <a:p>
            <a:pPr indent="0" marL="0">
              <a:lnSpc>
                <a:spcPct val="106000"/>
              </a:lnSpc>
              <a:buNone/>
            </a:pPr>
            <a:r>
              <a:rPr lang="en-US" sz="2900" b="1" dirty="0">
                <a:solidFill>
                  <a:srgbClr val="1A1917"/>
                </a:solidFill>
                <a:latin typeface="Cambria" pitchFamily="34" charset="0"/>
                <a:ea typeface="Cambria" pitchFamily="34" charset="-122"/>
                <a:cs typeface="Cambria" pitchFamily="34" charset="-120"/>
              </a:rPr>
              <a:t>Nick has been here two weeks and will never hear of any of this.</a:t>
            </a:r>
            <a:endParaRPr lang="en-US" sz="29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658368" y="2286000"/>
            <a:ext cx="5244084" cy="3529584"/>
          </a:xfrm>
          <a:prstGeom prst="roundRect">
            <a:avLst>
              <a:gd name="adj" fmla="val 1554"/>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987552" y="2487168"/>
            <a:ext cx="4585716" cy="237744"/>
          </a:xfrm>
          <a:prstGeom prst="rect">
            <a:avLst/>
          </a:prstGeom>
          <a:noFill/>
          <a:ln/>
        </p:spPr>
        <p:txBody>
          <a:bodyPr wrap="square" lIns="0" tIns="0" rIns="0" bIns="0" rtlCol="0" anchor="ctr"/>
          <a:lstStyle/>
          <a:p>
            <a:pPr indent="0" marL="0">
              <a:buNone/>
            </a:pPr>
            <a:r>
              <a:rPr lang="en-US" sz="1000" b="1" spc="200" kern="0" dirty="0">
                <a:solidFill>
                  <a:srgbClr val="8A857A"/>
                </a:solidFill>
                <a:latin typeface="Calibri" pitchFamily="34" charset="0"/>
                <a:ea typeface="Calibri" pitchFamily="34" charset="-122"/>
                <a:cs typeface="Calibri" pitchFamily="34" charset="-120"/>
              </a:rPr>
              <a:t>WHAT NICK SEES</a:t>
            </a:r>
            <a:endParaRPr lang="en-US" sz="1000" dirty="0"/>
          </a:p>
        </p:txBody>
      </p:sp>
      <p:sp>
        <p:nvSpPr>
          <p:cNvPr id="8" name="Shape 6"/>
          <p:cNvSpPr/>
          <p:nvPr/>
        </p:nvSpPr>
        <p:spPr>
          <a:xfrm>
            <a:off x="987552" y="2798064"/>
            <a:ext cx="4585716" cy="694944"/>
          </a:xfrm>
          <a:prstGeom prst="roundRect">
            <a:avLst>
              <a:gd name="adj" fmla="val 6579"/>
            </a:avLst>
          </a:prstGeom>
          <a:solidFill>
            <a:srgbClr val="F1EFE8"/>
          </a:solidFill>
          <a:ln w="12700">
            <a:solidFill>
              <a:srgbClr val="E3E1D7"/>
            </a:solidFill>
            <a:prstDash val="solid"/>
          </a:ln>
        </p:spPr>
      </p:sp>
      <p:sp>
        <p:nvSpPr>
          <p:cNvPr id="9" name="Text 7"/>
          <p:cNvSpPr txBox="1"/>
          <p:nvPr/>
        </p:nvSpPr>
        <p:spPr>
          <a:xfrm>
            <a:off x="1133856" y="2843784"/>
            <a:ext cx="1828800" cy="182880"/>
          </a:xfrm>
          <a:prstGeom prst="rect">
            <a:avLst/>
          </a:prstGeom>
          <a:noFill/>
          <a:ln/>
        </p:spPr>
        <p:txBody>
          <a:bodyPr wrap="square" lIns="0" tIns="0" rIns="0" bIns="0" rtlCol="0" anchor="ctr"/>
          <a:lstStyle/>
          <a:p>
            <a:pPr indent="0" marL="0">
              <a:buNone/>
            </a:pPr>
            <a:r>
              <a:rPr lang="en-US" sz="850" b="1" spc="150" kern="0" dirty="0">
                <a:solidFill>
                  <a:srgbClr val="8A857A"/>
                </a:solidFill>
                <a:latin typeface="Calibri" pitchFamily="34" charset="0"/>
                <a:ea typeface="Calibri" pitchFamily="34" charset="-122"/>
                <a:cs typeface="Calibri" pitchFamily="34" charset="-120"/>
              </a:rPr>
              <a:t>NICK</a:t>
            </a:r>
            <a:endParaRPr lang="en-US" sz="850" dirty="0"/>
          </a:p>
        </p:txBody>
      </p:sp>
      <p:sp>
        <p:nvSpPr>
          <p:cNvPr id="10" name="Text 8"/>
          <p:cNvSpPr txBox="1"/>
          <p:nvPr/>
        </p:nvSpPr>
        <p:spPr>
          <a:xfrm>
            <a:off x="1133856" y="3008376"/>
            <a:ext cx="4293108" cy="438912"/>
          </a:xfrm>
          <a:prstGeom prst="rect">
            <a:avLst/>
          </a:prstGeom>
          <a:noFill/>
          <a:ln/>
        </p:spPr>
        <p:txBody>
          <a:bodyPr wrap="square" lIns="0" tIns="0" rIns="0" bIns="0" rtlCol="0" anchor="ctr"/>
          <a:lstStyle/>
          <a:p>
            <a:pPr indent="0" marL="0">
              <a:lnSpc>
                <a:spcPct val="110000"/>
              </a:lnSpc>
              <a:buNone/>
            </a:pPr>
            <a:r>
              <a:rPr lang="en-US" sz="1150" dirty="0">
                <a:solidFill>
                  <a:srgbClr val="1A1917"/>
                </a:solidFill>
                <a:latin typeface="Calibri" pitchFamily="34" charset="0"/>
                <a:ea typeface="Calibri" pitchFamily="34" charset="-122"/>
                <a:cs typeface="Calibri" pitchFamily="34" charset="-120"/>
              </a:rPr>
              <a:t>I want an app that takes a startup we're considering and tells me the three best mentor matches.</a:t>
            </a:r>
            <a:endParaRPr lang="en-US" sz="1150" dirty="0"/>
          </a:p>
        </p:txBody>
      </p:sp>
      <p:sp>
        <p:nvSpPr>
          <p:cNvPr id="11" name="Shape 9"/>
          <p:cNvSpPr/>
          <p:nvPr/>
        </p:nvSpPr>
        <p:spPr>
          <a:xfrm>
            <a:off x="987552" y="3584448"/>
            <a:ext cx="4585716" cy="566928"/>
          </a:xfrm>
          <a:prstGeom prst="roundRect">
            <a:avLst>
              <a:gd name="adj" fmla="val 8065"/>
            </a:avLst>
          </a:prstGeom>
          <a:solidFill>
            <a:srgbClr val="F1EFE8"/>
          </a:solidFill>
          <a:ln w="12700">
            <a:solidFill>
              <a:srgbClr val="E3E1D7"/>
            </a:solidFill>
            <a:prstDash val="solid"/>
          </a:ln>
        </p:spPr>
      </p:sp>
      <p:sp>
        <p:nvSpPr>
          <p:cNvPr id="12" name="Text 10"/>
          <p:cNvSpPr txBox="1"/>
          <p:nvPr/>
        </p:nvSpPr>
        <p:spPr>
          <a:xfrm>
            <a:off x="1133856" y="3630168"/>
            <a:ext cx="1828800" cy="182880"/>
          </a:xfrm>
          <a:prstGeom prst="rect">
            <a:avLst/>
          </a:prstGeom>
          <a:noFill/>
          <a:ln/>
        </p:spPr>
        <p:txBody>
          <a:bodyPr wrap="square" lIns="0" tIns="0" rIns="0" bIns="0" rtlCol="0" anchor="ctr"/>
          <a:lstStyle/>
          <a:p>
            <a:pPr indent="0" marL="0">
              <a:buNone/>
            </a:pPr>
            <a:r>
              <a:rPr lang="en-US" sz="850" b="1" spc="150" kern="0" dirty="0">
                <a:solidFill>
                  <a:srgbClr val="8A857A"/>
                </a:solidFill>
                <a:latin typeface="Calibri" pitchFamily="34" charset="0"/>
                <a:ea typeface="Calibri" pitchFamily="34" charset="-122"/>
                <a:cs typeface="Calibri" pitchFamily="34" charset="-120"/>
              </a:rPr>
              <a:t>CLAUDE</a:t>
            </a:r>
            <a:endParaRPr lang="en-US" sz="850" dirty="0"/>
          </a:p>
        </p:txBody>
      </p:sp>
      <p:sp>
        <p:nvSpPr>
          <p:cNvPr id="13" name="Text 11"/>
          <p:cNvSpPr txBox="1"/>
          <p:nvPr/>
        </p:nvSpPr>
        <p:spPr>
          <a:xfrm>
            <a:off x="1133856" y="3794760"/>
            <a:ext cx="4293108" cy="310896"/>
          </a:xfrm>
          <a:prstGeom prst="rect">
            <a:avLst/>
          </a:prstGeom>
          <a:noFill/>
          <a:ln/>
        </p:spPr>
        <p:txBody>
          <a:bodyPr wrap="square" lIns="0" tIns="0" rIns="0" bIns="0" rtlCol="0" anchor="ctr"/>
          <a:lstStyle/>
          <a:p>
            <a:pPr indent="0" marL="0">
              <a:lnSpc>
                <a:spcPct val="110000"/>
              </a:lnSpc>
              <a:buNone/>
            </a:pPr>
            <a:r>
              <a:rPr lang="en-US" sz="1150" dirty="0">
                <a:solidFill>
                  <a:srgbClr val="1A1917"/>
                </a:solidFill>
                <a:latin typeface="Calibri" pitchFamily="34" charset="0"/>
                <a:ea typeface="Calibri" pitchFamily="34" charset="-122"/>
                <a:cs typeface="Calibri" pitchFamily="34" charset="-120"/>
              </a:rPr>
              <a:t>What sources for the startup? Who can run it? Does a match need sign-off first?</a:t>
            </a:r>
            <a:endParaRPr lang="en-US" sz="1150" dirty="0"/>
          </a:p>
        </p:txBody>
      </p:sp>
      <p:sp>
        <p:nvSpPr>
          <p:cNvPr id="14" name="Shape 12"/>
          <p:cNvSpPr/>
          <p:nvPr/>
        </p:nvSpPr>
        <p:spPr>
          <a:xfrm>
            <a:off x="987552" y="4242816"/>
            <a:ext cx="4585716" cy="420624"/>
          </a:xfrm>
          <a:prstGeom prst="roundRect">
            <a:avLst>
              <a:gd name="adj" fmla="val 10870"/>
            </a:avLst>
          </a:prstGeom>
          <a:solidFill>
            <a:srgbClr val="F1EFE8"/>
          </a:solidFill>
          <a:ln w="12700">
            <a:solidFill>
              <a:srgbClr val="E3E1D7"/>
            </a:solidFill>
            <a:prstDash val="solid"/>
          </a:ln>
        </p:spPr>
      </p:sp>
      <p:sp>
        <p:nvSpPr>
          <p:cNvPr id="15" name="Text 13"/>
          <p:cNvSpPr txBox="1"/>
          <p:nvPr/>
        </p:nvSpPr>
        <p:spPr>
          <a:xfrm>
            <a:off x="1133856" y="4288536"/>
            <a:ext cx="1828800" cy="182880"/>
          </a:xfrm>
          <a:prstGeom prst="rect">
            <a:avLst/>
          </a:prstGeom>
          <a:noFill/>
          <a:ln/>
        </p:spPr>
        <p:txBody>
          <a:bodyPr wrap="square" lIns="0" tIns="0" rIns="0" bIns="0" rtlCol="0" anchor="ctr"/>
          <a:lstStyle/>
          <a:p>
            <a:pPr indent="0" marL="0">
              <a:buNone/>
            </a:pPr>
            <a:r>
              <a:rPr lang="en-US" sz="850" b="1" spc="150" kern="0" dirty="0">
                <a:solidFill>
                  <a:srgbClr val="8A857A"/>
                </a:solidFill>
                <a:latin typeface="Calibri" pitchFamily="34" charset="0"/>
                <a:ea typeface="Calibri" pitchFamily="34" charset="-122"/>
                <a:cs typeface="Calibri" pitchFamily="34" charset="-120"/>
              </a:rPr>
              <a:t>NICK</a:t>
            </a:r>
            <a:endParaRPr lang="en-US" sz="850" dirty="0"/>
          </a:p>
        </p:txBody>
      </p:sp>
      <p:sp>
        <p:nvSpPr>
          <p:cNvPr id="16" name="Text 14"/>
          <p:cNvSpPr txBox="1"/>
          <p:nvPr/>
        </p:nvSpPr>
        <p:spPr>
          <a:xfrm>
            <a:off x="1133856" y="4453128"/>
            <a:ext cx="4293108" cy="164592"/>
          </a:xfrm>
          <a:prstGeom prst="rect">
            <a:avLst/>
          </a:prstGeom>
          <a:noFill/>
          <a:ln/>
        </p:spPr>
        <p:txBody>
          <a:bodyPr wrap="square" lIns="0" tIns="0" rIns="0" bIns="0" rtlCol="0" anchor="ctr"/>
          <a:lstStyle/>
          <a:p>
            <a:pPr indent="0" marL="0">
              <a:lnSpc>
                <a:spcPct val="110000"/>
              </a:lnSpc>
              <a:buNone/>
            </a:pPr>
            <a:r>
              <a:rPr lang="en-US" sz="1150" dirty="0">
                <a:solidFill>
                  <a:srgbClr val="1A1917"/>
                </a:solidFill>
                <a:latin typeface="Calibri" pitchFamily="34" charset="0"/>
                <a:ea typeface="Calibri" pitchFamily="34" charset="-122"/>
                <a:cs typeface="Calibri" pitchFamily="34" charset="-120"/>
              </a:rPr>
              <a:t>Deck and website. Investment team. Yes, I approve.</a:t>
            </a:r>
            <a:endParaRPr lang="en-US" sz="1150" dirty="0"/>
          </a:p>
        </p:txBody>
      </p:sp>
      <p:sp>
        <p:nvSpPr>
          <p:cNvPr id="17" name="Shape 15"/>
          <p:cNvSpPr/>
          <p:nvPr/>
        </p:nvSpPr>
        <p:spPr>
          <a:xfrm>
            <a:off x="987552" y="4754880"/>
            <a:ext cx="4585716" cy="566928"/>
          </a:xfrm>
          <a:prstGeom prst="roundRect">
            <a:avLst>
              <a:gd name="adj" fmla="val 8065"/>
            </a:avLst>
          </a:prstGeom>
          <a:solidFill>
            <a:srgbClr val="FBF1D8"/>
          </a:solidFill>
          <a:ln w="12700">
            <a:solidFill>
              <a:srgbClr val="F2A900"/>
            </a:solidFill>
            <a:prstDash val="solid"/>
          </a:ln>
        </p:spPr>
      </p:sp>
      <p:sp>
        <p:nvSpPr>
          <p:cNvPr id="18" name="Text 16"/>
          <p:cNvSpPr txBox="1"/>
          <p:nvPr/>
        </p:nvSpPr>
        <p:spPr>
          <a:xfrm>
            <a:off x="1133856" y="4800600"/>
            <a:ext cx="1828800" cy="182880"/>
          </a:xfrm>
          <a:prstGeom prst="rect">
            <a:avLst/>
          </a:prstGeom>
          <a:noFill/>
          <a:ln/>
        </p:spPr>
        <p:txBody>
          <a:bodyPr wrap="square" lIns="0" tIns="0" rIns="0" bIns="0" rtlCol="0" anchor="ctr"/>
          <a:lstStyle/>
          <a:p>
            <a:pPr indent="0" marL="0">
              <a:buNone/>
            </a:pPr>
            <a:r>
              <a:rPr lang="en-US" sz="850" b="1" spc="150" kern="0" dirty="0">
                <a:solidFill>
                  <a:srgbClr val="8A857A"/>
                </a:solidFill>
                <a:latin typeface="Calibri" pitchFamily="34" charset="0"/>
                <a:ea typeface="Calibri" pitchFamily="34" charset="-122"/>
                <a:cs typeface="Calibri" pitchFamily="34" charset="-120"/>
              </a:rPr>
              <a:t>CLAUDE</a:t>
            </a:r>
            <a:endParaRPr lang="en-US" sz="850" dirty="0"/>
          </a:p>
        </p:txBody>
      </p:sp>
      <p:sp>
        <p:nvSpPr>
          <p:cNvPr id="19" name="Text 17"/>
          <p:cNvSpPr txBox="1"/>
          <p:nvPr/>
        </p:nvSpPr>
        <p:spPr>
          <a:xfrm>
            <a:off x="1133856" y="4965192"/>
            <a:ext cx="4293108" cy="310896"/>
          </a:xfrm>
          <a:prstGeom prst="rect">
            <a:avLst/>
          </a:prstGeom>
          <a:noFill/>
          <a:ln/>
        </p:spPr>
        <p:txBody>
          <a:bodyPr wrap="square" lIns="0" tIns="0" rIns="0" bIns="0" rtlCol="0" anchor="ctr"/>
          <a:lstStyle/>
          <a:p>
            <a:pPr indent="0" marL="0">
              <a:lnSpc>
                <a:spcPct val="110000"/>
              </a:lnSpc>
              <a:buNone/>
            </a:pPr>
            <a:r>
              <a:rPr lang="en-US" sz="1150" dirty="0">
                <a:solidFill>
                  <a:srgbClr val="1A1917"/>
                </a:solidFill>
                <a:latin typeface="Calibri" pitchFamily="34" charset="0"/>
                <a:ea typeface="Calibri" pitchFamily="34" charset="-122"/>
                <a:cs typeface="Calibri" pitchFamily="34" charset="-120"/>
              </a:rPr>
              <a:t>Built. It ingests the startup, ranks mentors, and holds each match for you.</a:t>
            </a:r>
            <a:endParaRPr lang="en-US" sz="1150" dirty="0"/>
          </a:p>
        </p:txBody>
      </p:sp>
      <p:sp>
        <p:nvSpPr>
          <p:cNvPr id="20" name="Shape 18"/>
          <p:cNvSpPr/>
          <p:nvPr/>
        </p:nvSpPr>
        <p:spPr>
          <a:xfrm>
            <a:off x="6286500" y="2286000"/>
            <a:ext cx="5244084" cy="3529584"/>
          </a:xfrm>
          <a:prstGeom prst="roundRect">
            <a:avLst>
              <a:gd name="adj" fmla="val 1554"/>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21" name="Text 19"/>
          <p:cNvSpPr txBox="1"/>
          <p:nvPr/>
        </p:nvSpPr>
        <p:spPr>
          <a:xfrm>
            <a:off x="6615684" y="2487168"/>
            <a:ext cx="4585716" cy="237744"/>
          </a:xfrm>
          <a:prstGeom prst="rect">
            <a:avLst/>
          </a:prstGeom>
          <a:noFill/>
          <a:ln/>
        </p:spPr>
        <p:txBody>
          <a:bodyPr wrap="square" lIns="0" tIns="0" rIns="0" bIns="0" rtlCol="0" anchor="ctr"/>
          <a:lstStyle/>
          <a:p>
            <a:pPr indent="0" marL="0">
              <a:buNone/>
            </a:pPr>
            <a:r>
              <a:rPr lang="en-US" sz="1000" b="1" spc="200" kern="0" dirty="0">
                <a:solidFill>
                  <a:srgbClr val="8A857A"/>
                </a:solidFill>
                <a:latin typeface="Calibri" pitchFamily="34" charset="0"/>
                <a:ea typeface="Calibri" pitchFamily="34" charset="-122"/>
                <a:cs typeface="Calibri" pitchFamily="34" charset="-120"/>
              </a:rPr>
              <a:t>WHAT HAPPENED UNDERNEATH</a:t>
            </a:r>
            <a:endParaRPr lang="en-US" sz="1000" dirty="0"/>
          </a:p>
        </p:txBody>
      </p:sp>
      <p:sp>
        <p:nvSpPr>
          <p:cNvPr id="22" name="Shape 20"/>
          <p:cNvSpPr/>
          <p:nvPr/>
        </p:nvSpPr>
        <p:spPr>
          <a:xfrm>
            <a:off x="6615684" y="2798064"/>
            <a:ext cx="4585716" cy="2286000"/>
          </a:xfrm>
          <a:prstGeom prst="roundRect">
            <a:avLst>
              <a:gd name="adj" fmla="val 2000"/>
            </a:avLst>
          </a:prstGeom>
          <a:solidFill>
            <a:srgbClr val="F7F6F0"/>
          </a:solidFill>
          <a:ln w="12700">
            <a:solidFill>
              <a:srgbClr val="E3E1D7"/>
            </a:solidFill>
            <a:prstDash val="solid"/>
          </a:ln>
        </p:spPr>
      </p:sp>
      <p:sp>
        <p:nvSpPr>
          <p:cNvPr id="23" name="Text 21"/>
          <p:cNvSpPr txBox="1"/>
          <p:nvPr/>
        </p:nvSpPr>
        <p:spPr>
          <a:xfrm>
            <a:off x="6798564" y="2935224"/>
            <a:ext cx="4219956" cy="2011680"/>
          </a:xfrm>
          <a:prstGeom prst="rect">
            <a:avLst/>
          </a:prstGeom>
          <a:noFill/>
          <a:ln/>
        </p:spPr>
        <p:txBody>
          <a:bodyPr wrap="square" lIns="0" tIns="0" rIns="0" bIns="0" rtlCol="0" anchor="ctr"/>
          <a:lstStyle/>
          <a:p>
            <a:pPr indent="0" marL="0">
              <a:lnSpc>
                <a:spcPct val="128000"/>
              </a:lnSpc>
              <a:buNone/>
            </a:pPr>
            <a:r>
              <a:rPr lang="en-US" sz="1100" b="1" dirty="0">
                <a:solidFill>
                  <a:srgbClr val="1A1917"/>
                </a:solidFill>
                <a:latin typeface="Courier New" pitchFamily="34" charset="0"/>
                <a:ea typeface="Courier New" pitchFamily="34" charset="-122"/>
                <a:cs typeface="Courier New" pitchFamily="34" charset="-120"/>
              </a:rPr>
              <a:t>plan decomposed → 7 capabilities
</a:t>
            </a:r>
            <a:pPr indent="0" marL="0">
              <a:lnSpc>
                <a:spcPct val="128000"/>
              </a:lnSpc>
              <a:buNone/>
            </a:pPr>
            <a:r>
              <a:rPr lang="en-US" sz="1100" dirty="0">
                <a:solidFill>
                  <a:srgbClr val="5F5B51"/>
                </a:solidFill>
                <a:latin typeface="Courier New" pitchFamily="34" charset="0"/>
                <a:ea typeface="Courier New" pitchFamily="34" charset="-122"/>
                <a:cs typeface="Courier New" pitchFamily="34" charset="-120"/>
              </a:rPr>
              <a:t>startup-ingest     </a:t>
            </a:r>
            <a:pPr indent="0" marL="0">
              <a:lnSpc>
                <a:spcPct val="128000"/>
              </a:lnSpc>
              <a:buNone/>
            </a:pPr>
            <a:r>
              <a:rPr lang="en-US" sz="1100" b="1" dirty="0">
                <a:solidFill>
                  <a:srgbClr val="2F6B3F"/>
                </a:solidFill>
                <a:latin typeface="Courier New" pitchFamily="34" charset="0"/>
                <a:ea typeface="Courier New" pitchFamily="34" charset="-122"/>
                <a:cs typeface="Courier New" pitchFamily="34" charset="-120"/>
              </a:rPr>
              <a:t>reused
</a:t>
            </a:r>
            <a:pPr indent="0" marL="0">
              <a:lnSpc>
                <a:spcPct val="128000"/>
              </a:lnSpc>
              <a:buNone/>
            </a:pPr>
            <a:r>
              <a:rPr lang="en-US" sz="1100" dirty="0">
                <a:solidFill>
                  <a:srgbClr val="5F5B51"/>
                </a:solidFill>
                <a:latin typeface="Courier New" pitchFamily="34" charset="0"/>
                <a:ea typeface="Courier New" pitchFamily="34" charset="-122"/>
                <a:cs typeface="Courier New" pitchFamily="34" charset="-120"/>
              </a:rPr>
              <a:t>mentor-rank        </a:t>
            </a:r>
            <a:pPr indent="0" marL="0">
              <a:lnSpc>
                <a:spcPct val="128000"/>
              </a:lnSpc>
              <a:buNone/>
            </a:pPr>
            <a:r>
              <a:rPr lang="en-US" sz="1100" b="1" dirty="0">
                <a:solidFill>
                  <a:srgbClr val="2F6B3F"/>
                </a:solidFill>
                <a:latin typeface="Courier New" pitchFamily="34" charset="0"/>
                <a:ea typeface="Courier New" pitchFamily="34" charset="-122"/>
                <a:cs typeface="Courier New" pitchFamily="34" charset="-120"/>
              </a:rPr>
              <a:t>reused
</a:t>
            </a:r>
            <a:pPr indent="0" marL="0">
              <a:lnSpc>
                <a:spcPct val="128000"/>
              </a:lnSpc>
              <a:buNone/>
            </a:pPr>
            <a:r>
              <a:rPr lang="en-US" sz="1100" dirty="0">
                <a:solidFill>
                  <a:srgbClr val="5F5B51"/>
                </a:solidFill>
                <a:latin typeface="Courier New" pitchFamily="34" charset="0"/>
                <a:ea typeface="Courier New" pitchFamily="34" charset="-122"/>
                <a:cs typeface="Courier New" pitchFamily="34" charset="-120"/>
              </a:rPr>
              <a:t>approval-gate      </a:t>
            </a:r>
            <a:pPr indent="0" marL="0">
              <a:lnSpc>
                <a:spcPct val="128000"/>
              </a:lnSpc>
              <a:buNone/>
            </a:pPr>
            <a:r>
              <a:rPr lang="en-US" sz="1100" b="1" dirty="0">
                <a:solidFill>
                  <a:srgbClr val="2F6B3F"/>
                </a:solidFill>
                <a:latin typeface="Courier New" pitchFamily="34" charset="0"/>
                <a:ea typeface="Courier New" pitchFamily="34" charset="-122"/>
                <a:cs typeface="Courier New" pitchFamily="34" charset="-120"/>
              </a:rPr>
              <a:t>reused
</a:t>
            </a:r>
            <a:pPr indent="0" marL="0">
              <a:lnSpc>
                <a:spcPct val="128000"/>
              </a:lnSpc>
              <a:buNone/>
            </a:pPr>
            <a:r>
              <a:rPr lang="en-US" sz="1100" dirty="0">
                <a:solidFill>
                  <a:srgbClr val="5F5B51"/>
                </a:solidFill>
                <a:latin typeface="Courier New" pitchFamily="34" charset="0"/>
                <a:ea typeface="Courier New" pitchFamily="34" charset="-122"/>
                <a:cs typeface="Courier New" pitchFamily="34" charset="-120"/>
              </a:rPr>
              <a:t>email-notify       </a:t>
            </a:r>
            <a:pPr indent="0" marL="0">
              <a:lnSpc>
                <a:spcPct val="128000"/>
              </a:lnSpc>
              <a:buNone/>
            </a:pPr>
            <a:r>
              <a:rPr lang="en-US" sz="1100" b="1" dirty="0">
                <a:solidFill>
                  <a:srgbClr val="B3261E"/>
                </a:solidFill>
                <a:latin typeface="Courier New" pitchFamily="34" charset="0"/>
                <a:ea typeface="Courier New" pitchFamily="34" charset="-122"/>
                <a:cs typeface="Courier New" pitchFamily="34" charset="-120"/>
              </a:rPr>
              <a:t>no match
</a:t>
            </a:r>
            <a:pPr indent="0" marL="0">
              <a:lnSpc>
                <a:spcPct val="128000"/>
              </a:lnSpc>
              <a:buNone/>
            </a:pPr>
            <a:r>
              <a:rPr lang="en-US" sz="1100" b="1" dirty="0">
                <a:solidFill>
                  <a:srgbClr val="1A1917"/>
                </a:solidFill>
                <a:latin typeface="Courier New" pitchFamily="34" charset="0"/>
                <a:ea typeface="Courier New" pitchFamily="34" charset="-122"/>
                <a:cs typeface="Courier New" pitchFamily="34" charset="-120"/>
              </a:rPr>
              <a:t>duplication prevented: 2</a:t>
            </a:r>
            <a:endParaRPr lang="en-US" sz="1100" dirty="0"/>
          </a:p>
        </p:txBody>
      </p:sp>
      <p:sp>
        <p:nvSpPr>
          <p:cNvPr id="24" name="Text 22"/>
          <p:cNvSpPr txBox="1"/>
          <p:nvPr/>
        </p:nvSpPr>
        <p:spPr>
          <a:xfrm>
            <a:off x="6615684" y="5193792"/>
            <a:ext cx="4585716" cy="512064"/>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The non-match is worth as much as the matches. It is duplication the estate was about to build, visible before it happened.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STAYING ACCURATE</a:t>
            </a:r>
            <a:endParaRPr lang="en-US" sz="1050" dirty="0"/>
          </a:p>
        </p:txBody>
      </p:sp>
      <p:sp>
        <p:nvSpPr>
          <p:cNvPr id="3" name="Text 1"/>
          <p:cNvSpPr txBox="1"/>
          <p:nvPr/>
        </p:nvSpPr>
        <p:spPr>
          <a:xfrm>
            <a:off x="658368" y="786384"/>
            <a:ext cx="10872216" cy="1133856"/>
          </a:xfrm>
          <a:prstGeom prst="rect">
            <a:avLst/>
          </a:prstGeom>
          <a:noFill/>
          <a:ln/>
        </p:spPr>
        <p:txBody>
          <a:bodyPr wrap="square" lIns="0" tIns="0" rIns="0" bIns="0" rtlCol="0" anchor="ctr"/>
          <a:lstStyle/>
          <a:p>
            <a:pPr indent="0" marL="0">
              <a:lnSpc>
                <a:spcPct val="106000"/>
              </a:lnSpc>
              <a:buNone/>
            </a:pPr>
            <a:r>
              <a:rPr lang="en-US" sz="2900" b="1" dirty="0">
                <a:solidFill>
                  <a:srgbClr val="1A1917"/>
                </a:solidFill>
                <a:latin typeface="Cambria" pitchFamily="34" charset="0"/>
                <a:ea typeface="Cambria" pitchFamily="34" charset="-122"/>
                <a:cs typeface="Cambria" pitchFamily="34" charset="-120"/>
              </a:rPr>
              <a:t>Every new application makes the next one easier to build.</a:t>
            </a:r>
            <a:endParaRPr lang="en-US" sz="29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658368" y="2432304"/>
            <a:ext cx="1925726" cy="1371600"/>
          </a:xfrm>
          <a:prstGeom prst="roundRect">
            <a:avLst>
              <a:gd name="adj" fmla="val 4000"/>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896112" y="2651760"/>
            <a:ext cx="1450238" cy="457200"/>
          </a:xfrm>
          <a:prstGeom prst="rect">
            <a:avLst/>
          </a:prstGeom>
          <a:noFill/>
          <a:ln/>
        </p:spPr>
        <p:txBody>
          <a:bodyPr wrap="square" lIns="0" tIns="0" rIns="0" bIns="0" rtlCol="0" anchor="ctr"/>
          <a:lstStyle/>
          <a:p>
            <a:pPr indent="0" marL="0">
              <a:lnSpc>
                <a:spcPct val="110000"/>
              </a:lnSpc>
              <a:buNone/>
            </a:pPr>
            <a:r>
              <a:rPr lang="en-US" sz="1350" b="1" dirty="0">
                <a:solidFill>
                  <a:srgbClr val="1A1917"/>
                </a:solidFill>
                <a:latin typeface="Calibri" pitchFamily="34" charset="0"/>
                <a:ea typeface="Calibri" pitchFamily="34" charset="-122"/>
                <a:cs typeface="Calibri" pitchFamily="34" charset="-120"/>
              </a:rPr>
              <a:t>Someone builds</a:t>
            </a:r>
            <a:endParaRPr lang="en-US" sz="1350" dirty="0"/>
          </a:p>
        </p:txBody>
      </p:sp>
      <p:sp>
        <p:nvSpPr>
          <p:cNvPr id="8" name="Text 6"/>
          <p:cNvSpPr txBox="1"/>
          <p:nvPr/>
        </p:nvSpPr>
        <p:spPr>
          <a:xfrm>
            <a:off x="896112" y="3108960"/>
            <a:ext cx="1450238" cy="566928"/>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application 52</a:t>
            </a:r>
            <a:endParaRPr lang="en-US" sz="1150" dirty="0"/>
          </a:p>
        </p:txBody>
      </p:sp>
      <p:sp>
        <p:nvSpPr>
          <p:cNvPr id="9" name="Text 7"/>
          <p:cNvSpPr txBox="1"/>
          <p:nvPr/>
        </p:nvSpPr>
        <p:spPr>
          <a:xfrm>
            <a:off x="2584094" y="2962656"/>
            <a:ext cx="310896" cy="274320"/>
          </a:xfrm>
          <a:prstGeom prst="rect">
            <a:avLst/>
          </a:prstGeom>
          <a:noFill/>
          <a:ln/>
        </p:spPr>
        <p:txBody>
          <a:bodyPr wrap="square" lIns="0" tIns="0" rIns="0" bIns="0" rtlCol="0" anchor="ctr"/>
          <a:lstStyle/>
          <a:p>
            <a:pPr algn="ctr" indent="0" marL="0">
              <a:buNone/>
            </a:pPr>
            <a:r>
              <a:rPr lang="en-US" sz="1500" dirty="0">
                <a:solidFill>
                  <a:srgbClr val="7D5900"/>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2894990" y="2432304"/>
            <a:ext cx="1925726" cy="1371600"/>
          </a:xfrm>
          <a:prstGeom prst="roundRect">
            <a:avLst>
              <a:gd name="adj" fmla="val 4000"/>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1" name="Text 9"/>
          <p:cNvSpPr txBox="1"/>
          <p:nvPr/>
        </p:nvSpPr>
        <p:spPr>
          <a:xfrm>
            <a:off x="3132734" y="2651760"/>
            <a:ext cx="1450238" cy="457200"/>
          </a:xfrm>
          <a:prstGeom prst="rect">
            <a:avLst/>
          </a:prstGeom>
          <a:noFill/>
          <a:ln/>
        </p:spPr>
        <p:txBody>
          <a:bodyPr wrap="square" lIns="0" tIns="0" rIns="0" bIns="0" rtlCol="0" anchor="ctr"/>
          <a:lstStyle/>
          <a:p>
            <a:pPr indent="0" marL="0">
              <a:lnSpc>
                <a:spcPct val="110000"/>
              </a:lnSpc>
              <a:buNone/>
            </a:pPr>
            <a:r>
              <a:rPr lang="en-US" sz="1350" b="1" dirty="0">
                <a:solidFill>
                  <a:srgbClr val="1A1917"/>
                </a:solidFill>
                <a:latin typeface="Calibri" pitchFamily="34" charset="0"/>
                <a:ea typeface="Calibri" pitchFamily="34" charset="-122"/>
                <a:cs typeface="Calibri" pitchFamily="34" charset="-120"/>
              </a:rPr>
              <a:t>The layer reads it</a:t>
            </a:r>
            <a:endParaRPr lang="en-US" sz="1350" dirty="0"/>
          </a:p>
        </p:txBody>
      </p:sp>
      <p:sp>
        <p:nvSpPr>
          <p:cNvPr id="12" name="Text 10"/>
          <p:cNvSpPr txBox="1"/>
          <p:nvPr/>
        </p:nvSpPr>
        <p:spPr>
          <a:xfrm>
            <a:off x="3132734" y="3108960"/>
            <a:ext cx="1450238" cy="566928"/>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and records what it does</a:t>
            </a:r>
            <a:endParaRPr lang="en-US" sz="1150" dirty="0"/>
          </a:p>
        </p:txBody>
      </p:sp>
      <p:sp>
        <p:nvSpPr>
          <p:cNvPr id="13" name="Text 11"/>
          <p:cNvSpPr txBox="1"/>
          <p:nvPr/>
        </p:nvSpPr>
        <p:spPr>
          <a:xfrm>
            <a:off x="4820717" y="2962656"/>
            <a:ext cx="310896" cy="274320"/>
          </a:xfrm>
          <a:prstGeom prst="rect">
            <a:avLst/>
          </a:prstGeom>
          <a:noFill/>
          <a:ln/>
        </p:spPr>
        <p:txBody>
          <a:bodyPr wrap="square" lIns="0" tIns="0" rIns="0" bIns="0" rtlCol="0" anchor="ctr"/>
          <a:lstStyle/>
          <a:p>
            <a:pPr algn="ctr" indent="0" marL="0">
              <a:buNone/>
            </a:pPr>
            <a:r>
              <a:rPr lang="en-US" sz="1500" dirty="0">
                <a:solidFill>
                  <a:srgbClr val="7D5900"/>
                </a:solidFill>
                <a:latin typeface="Calibri" pitchFamily="34" charset="0"/>
                <a:ea typeface="Calibri" pitchFamily="34" charset="-122"/>
                <a:cs typeface="Calibri" pitchFamily="34" charset="-120"/>
              </a:rPr>
              <a:t>→</a:t>
            </a:r>
            <a:endParaRPr lang="en-US" sz="1500" dirty="0"/>
          </a:p>
        </p:txBody>
      </p:sp>
      <p:sp>
        <p:nvSpPr>
          <p:cNvPr id="14" name="Shape 12"/>
          <p:cNvSpPr/>
          <p:nvPr/>
        </p:nvSpPr>
        <p:spPr>
          <a:xfrm>
            <a:off x="5131613" y="2432304"/>
            <a:ext cx="1925726" cy="1371600"/>
          </a:xfrm>
          <a:prstGeom prst="roundRect">
            <a:avLst>
              <a:gd name="adj" fmla="val 4000"/>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5" name="Text 13"/>
          <p:cNvSpPr txBox="1"/>
          <p:nvPr/>
        </p:nvSpPr>
        <p:spPr>
          <a:xfrm>
            <a:off x="5369357" y="2651760"/>
            <a:ext cx="1450238" cy="457200"/>
          </a:xfrm>
          <a:prstGeom prst="rect">
            <a:avLst/>
          </a:prstGeom>
          <a:noFill/>
          <a:ln/>
        </p:spPr>
        <p:txBody>
          <a:bodyPr wrap="square" lIns="0" tIns="0" rIns="0" bIns="0" rtlCol="0" anchor="ctr"/>
          <a:lstStyle/>
          <a:p>
            <a:pPr indent="0" marL="0">
              <a:lnSpc>
                <a:spcPct val="110000"/>
              </a:lnSpc>
              <a:buNone/>
            </a:pPr>
            <a:r>
              <a:rPr lang="en-US" sz="1350" b="1" dirty="0">
                <a:solidFill>
                  <a:srgbClr val="1A1917"/>
                </a:solidFill>
                <a:latin typeface="Calibri" pitchFamily="34" charset="0"/>
                <a:ea typeface="Calibri" pitchFamily="34" charset="-122"/>
                <a:cs typeface="Calibri" pitchFamily="34" charset="-120"/>
              </a:rPr>
              <a:t>A weekly pass</a:t>
            </a:r>
            <a:endParaRPr lang="en-US" sz="1350" dirty="0"/>
          </a:p>
        </p:txBody>
      </p:sp>
      <p:sp>
        <p:nvSpPr>
          <p:cNvPr id="16" name="Text 14"/>
          <p:cNvSpPr txBox="1"/>
          <p:nvPr/>
        </p:nvSpPr>
        <p:spPr>
          <a:xfrm>
            <a:off x="5369357" y="3108960"/>
            <a:ext cx="1450238" cy="566928"/>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finds overlap and drift</a:t>
            </a:r>
            <a:endParaRPr lang="en-US" sz="1150" dirty="0"/>
          </a:p>
        </p:txBody>
      </p:sp>
      <p:sp>
        <p:nvSpPr>
          <p:cNvPr id="17" name="Text 15"/>
          <p:cNvSpPr txBox="1"/>
          <p:nvPr/>
        </p:nvSpPr>
        <p:spPr>
          <a:xfrm>
            <a:off x="7057339" y="2962656"/>
            <a:ext cx="310896" cy="274320"/>
          </a:xfrm>
          <a:prstGeom prst="rect">
            <a:avLst/>
          </a:prstGeom>
          <a:noFill/>
          <a:ln/>
        </p:spPr>
        <p:txBody>
          <a:bodyPr wrap="square" lIns="0" tIns="0" rIns="0" bIns="0" rtlCol="0" anchor="ctr"/>
          <a:lstStyle/>
          <a:p>
            <a:pPr algn="ctr" indent="0" marL="0">
              <a:buNone/>
            </a:pPr>
            <a:r>
              <a:rPr lang="en-US" sz="1500" dirty="0">
                <a:solidFill>
                  <a:srgbClr val="7D5900"/>
                </a:solidFill>
                <a:latin typeface="Calibri" pitchFamily="34" charset="0"/>
                <a:ea typeface="Calibri" pitchFamily="34" charset="-122"/>
                <a:cs typeface="Calibri" pitchFamily="34" charset="-120"/>
              </a:rPr>
              <a:t>→</a:t>
            </a:r>
            <a:endParaRPr lang="en-US" sz="1500" dirty="0"/>
          </a:p>
        </p:txBody>
      </p:sp>
      <p:sp>
        <p:nvSpPr>
          <p:cNvPr id="18" name="Shape 16"/>
          <p:cNvSpPr/>
          <p:nvPr/>
        </p:nvSpPr>
        <p:spPr>
          <a:xfrm>
            <a:off x="7368235" y="2432304"/>
            <a:ext cx="1925726" cy="1371600"/>
          </a:xfrm>
          <a:prstGeom prst="roundRect">
            <a:avLst>
              <a:gd name="adj" fmla="val 4000"/>
            </a:avLst>
          </a:prstGeom>
          <a:solidFill>
            <a:srgbClr val="FBF1D8"/>
          </a:solidFill>
          <a:ln w="12700">
            <a:solidFill>
              <a:srgbClr val="FBF1D8"/>
            </a:solidFill>
            <a:prstDash val="solid"/>
          </a:ln>
          <a:effectLst>
            <a:outerShdw sx="100000" sy="100000" kx="0" ky="0" algn="bl" rotWithShape="0" blurRad="101600" dist="12700" dir="5400000">
              <a:srgbClr val="1A1917">
                <a:alpha val="7000"/>
              </a:srgbClr>
            </a:outerShdw>
          </a:effectLst>
        </p:spPr>
      </p:sp>
      <p:sp>
        <p:nvSpPr>
          <p:cNvPr id="19" name="Text 17"/>
          <p:cNvSpPr txBox="1"/>
          <p:nvPr/>
        </p:nvSpPr>
        <p:spPr>
          <a:xfrm>
            <a:off x="7605979" y="2651760"/>
            <a:ext cx="1450238" cy="457200"/>
          </a:xfrm>
          <a:prstGeom prst="rect">
            <a:avLst/>
          </a:prstGeom>
          <a:noFill/>
          <a:ln/>
        </p:spPr>
        <p:txBody>
          <a:bodyPr wrap="square" lIns="0" tIns="0" rIns="0" bIns="0" rtlCol="0" anchor="ctr"/>
          <a:lstStyle/>
          <a:p>
            <a:pPr indent="0" marL="0">
              <a:lnSpc>
                <a:spcPct val="110000"/>
              </a:lnSpc>
              <a:buNone/>
            </a:pPr>
            <a:r>
              <a:rPr lang="en-US" sz="1350" b="1" dirty="0">
                <a:solidFill>
                  <a:srgbClr val="1A1917"/>
                </a:solidFill>
                <a:latin typeface="Calibri" pitchFamily="34" charset="0"/>
                <a:ea typeface="Calibri" pitchFamily="34" charset="-122"/>
                <a:cs typeface="Calibri" pitchFamily="34" charset="-120"/>
              </a:rPr>
              <a:t>A person approves</a:t>
            </a:r>
            <a:endParaRPr lang="en-US" sz="1350" dirty="0"/>
          </a:p>
        </p:txBody>
      </p:sp>
      <p:sp>
        <p:nvSpPr>
          <p:cNvPr id="20" name="Text 18"/>
          <p:cNvSpPr txBox="1"/>
          <p:nvPr/>
        </p:nvSpPr>
        <p:spPr>
          <a:xfrm>
            <a:off x="7605979" y="3108960"/>
            <a:ext cx="1450238" cy="566928"/>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or rejects the proposal</a:t>
            </a:r>
            <a:endParaRPr lang="en-US" sz="1150" dirty="0"/>
          </a:p>
        </p:txBody>
      </p:sp>
      <p:sp>
        <p:nvSpPr>
          <p:cNvPr id="21" name="Text 19"/>
          <p:cNvSpPr txBox="1"/>
          <p:nvPr/>
        </p:nvSpPr>
        <p:spPr>
          <a:xfrm>
            <a:off x="9293962" y="2962656"/>
            <a:ext cx="310896" cy="274320"/>
          </a:xfrm>
          <a:prstGeom prst="rect">
            <a:avLst/>
          </a:prstGeom>
          <a:noFill/>
          <a:ln/>
        </p:spPr>
        <p:txBody>
          <a:bodyPr wrap="square" lIns="0" tIns="0" rIns="0" bIns="0" rtlCol="0" anchor="ctr"/>
          <a:lstStyle/>
          <a:p>
            <a:pPr algn="ctr" indent="0" marL="0">
              <a:buNone/>
            </a:pPr>
            <a:r>
              <a:rPr lang="en-US" sz="1500" dirty="0">
                <a:solidFill>
                  <a:srgbClr val="7D5900"/>
                </a:solidFill>
                <a:latin typeface="Calibri" pitchFamily="34" charset="0"/>
                <a:ea typeface="Calibri" pitchFamily="34" charset="-122"/>
                <a:cs typeface="Calibri" pitchFamily="34" charset="-120"/>
              </a:rPr>
              <a:t>→</a:t>
            </a:r>
            <a:endParaRPr lang="en-US" sz="1500" dirty="0"/>
          </a:p>
        </p:txBody>
      </p:sp>
      <p:sp>
        <p:nvSpPr>
          <p:cNvPr id="22" name="Shape 20"/>
          <p:cNvSpPr/>
          <p:nvPr/>
        </p:nvSpPr>
        <p:spPr>
          <a:xfrm>
            <a:off x="9604858" y="2432304"/>
            <a:ext cx="1925726" cy="1371600"/>
          </a:xfrm>
          <a:prstGeom prst="roundRect">
            <a:avLst>
              <a:gd name="adj" fmla="val 4000"/>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23" name="Text 21"/>
          <p:cNvSpPr txBox="1"/>
          <p:nvPr/>
        </p:nvSpPr>
        <p:spPr>
          <a:xfrm>
            <a:off x="9842602" y="2651760"/>
            <a:ext cx="1450238" cy="457200"/>
          </a:xfrm>
          <a:prstGeom prst="rect">
            <a:avLst/>
          </a:prstGeom>
          <a:noFill/>
          <a:ln/>
        </p:spPr>
        <p:txBody>
          <a:bodyPr wrap="square" lIns="0" tIns="0" rIns="0" bIns="0" rtlCol="0" anchor="ctr"/>
          <a:lstStyle/>
          <a:p>
            <a:pPr indent="0" marL="0">
              <a:lnSpc>
                <a:spcPct val="110000"/>
              </a:lnSpc>
              <a:buNone/>
            </a:pPr>
            <a:r>
              <a:rPr lang="en-US" sz="1350" b="1" dirty="0">
                <a:solidFill>
                  <a:srgbClr val="1A1917"/>
                </a:solidFill>
                <a:latin typeface="Calibri" pitchFamily="34" charset="0"/>
                <a:ea typeface="Calibri" pitchFamily="34" charset="-122"/>
                <a:cs typeface="Calibri" pitchFamily="34" charset="-120"/>
              </a:rPr>
              <a:t>The memory improves</a:t>
            </a:r>
            <a:endParaRPr lang="en-US" sz="1350" dirty="0"/>
          </a:p>
        </p:txBody>
      </p:sp>
      <p:sp>
        <p:nvSpPr>
          <p:cNvPr id="24" name="Text 22"/>
          <p:cNvSpPr txBox="1"/>
          <p:nvPr/>
        </p:nvSpPr>
        <p:spPr>
          <a:xfrm>
            <a:off x="9842602" y="3108960"/>
            <a:ext cx="1450238" cy="566928"/>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and Claude plans better</a:t>
            </a:r>
            <a:endParaRPr lang="en-US" sz="1150" dirty="0"/>
          </a:p>
        </p:txBody>
      </p:sp>
      <p:sp>
        <p:nvSpPr>
          <p:cNvPr id="25" name="Shape 23"/>
          <p:cNvSpPr/>
          <p:nvPr/>
        </p:nvSpPr>
        <p:spPr>
          <a:xfrm>
            <a:off x="1621231" y="4059936"/>
            <a:ext cx="8946490" cy="0"/>
          </a:xfrm>
          <a:prstGeom prst="line">
            <a:avLst/>
          </a:prstGeom>
          <a:noFill/>
          <a:ln w="15875">
            <a:solidFill>
              <a:srgbClr val="7D5900"/>
            </a:solidFill>
            <a:prstDash val="dash"/>
          </a:ln>
        </p:spPr>
      </p:sp>
      <p:sp>
        <p:nvSpPr>
          <p:cNvPr id="26" name="Shape 24"/>
          <p:cNvSpPr/>
          <p:nvPr/>
        </p:nvSpPr>
        <p:spPr>
          <a:xfrm>
            <a:off x="1621231" y="3803904"/>
            <a:ext cx="0" cy="256032"/>
          </a:xfrm>
          <a:prstGeom prst="line">
            <a:avLst/>
          </a:prstGeom>
          <a:noFill/>
          <a:ln w="15875">
            <a:solidFill>
              <a:srgbClr val="7D5900"/>
            </a:solidFill>
            <a:prstDash val="dash"/>
          </a:ln>
        </p:spPr>
      </p:sp>
      <p:sp>
        <p:nvSpPr>
          <p:cNvPr id="27" name="Shape 25"/>
          <p:cNvSpPr/>
          <p:nvPr/>
        </p:nvSpPr>
        <p:spPr>
          <a:xfrm>
            <a:off x="10567721" y="3803904"/>
            <a:ext cx="0" cy="256032"/>
          </a:xfrm>
          <a:prstGeom prst="line">
            <a:avLst/>
          </a:prstGeom>
          <a:noFill/>
          <a:ln w="15875">
            <a:solidFill>
              <a:srgbClr val="7D5900"/>
            </a:solidFill>
            <a:prstDash val="dash"/>
          </a:ln>
        </p:spPr>
      </p:sp>
      <p:sp>
        <p:nvSpPr>
          <p:cNvPr id="28" name="Text 26"/>
          <p:cNvSpPr txBox="1"/>
          <p:nvPr/>
        </p:nvSpPr>
        <p:spPr>
          <a:xfrm>
            <a:off x="658368" y="4114800"/>
            <a:ext cx="10872216" cy="274320"/>
          </a:xfrm>
          <a:prstGeom prst="rect">
            <a:avLst/>
          </a:prstGeom>
          <a:noFill/>
          <a:ln/>
        </p:spPr>
        <p:txBody>
          <a:bodyPr wrap="square" lIns="0" tIns="0" rIns="0" bIns="0" rtlCol="0" anchor="ctr"/>
          <a:lstStyle/>
          <a:p>
            <a:pPr algn="ctr" indent="0" marL="0">
              <a:buNone/>
            </a:pPr>
            <a:r>
              <a:rPr lang="en-US" sz="1100" b="1" dirty="0">
                <a:solidFill>
                  <a:srgbClr val="7D5900"/>
                </a:solidFill>
                <a:latin typeface="Calibri" pitchFamily="34" charset="0"/>
                <a:ea typeface="Calibri" pitchFamily="34" charset="-122"/>
                <a:cs typeface="Calibri" pitchFamily="34" charset="-120"/>
              </a:rPr>
              <a:t>the loop closes</a:t>
            </a:r>
            <a:endParaRPr lang="en-US" sz="1100" dirty="0"/>
          </a:p>
        </p:txBody>
      </p:sp>
      <p:sp>
        <p:nvSpPr>
          <p:cNvPr id="29" name="Shape 27"/>
          <p:cNvSpPr/>
          <p:nvPr/>
        </p:nvSpPr>
        <p:spPr>
          <a:xfrm>
            <a:off x="658368" y="4626864"/>
            <a:ext cx="5253228" cy="1097280"/>
          </a:xfrm>
          <a:prstGeom prst="roundRect">
            <a:avLst>
              <a:gd name="adj" fmla="val 5000"/>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30" name="Text 28"/>
          <p:cNvSpPr txBox="1"/>
          <p:nvPr/>
        </p:nvSpPr>
        <p:spPr>
          <a:xfrm>
            <a:off x="969264" y="4809744"/>
            <a:ext cx="4631436" cy="274320"/>
          </a:xfrm>
          <a:prstGeom prst="rect">
            <a:avLst/>
          </a:prstGeom>
          <a:noFill/>
          <a:ln/>
        </p:spPr>
        <p:txBody>
          <a:bodyPr wrap="square" lIns="0" tIns="0" rIns="0" bIns="0" rtlCol="0" anchor="ctr"/>
          <a:lstStyle/>
          <a:p>
            <a:pPr indent="0" marL="0">
              <a:buNone/>
            </a:pPr>
            <a:r>
              <a:rPr lang="en-US" sz="1350" b="1" dirty="0">
                <a:solidFill>
                  <a:srgbClr val="1A1917"/>
                </a:solidFill>
                <a:latin typeface="Calibri" pitchFamily="34" charset="0"/>
                <a:ea typeface="Calibri" pitchFamily="34" charset="-122"/>
                <a:cs typeface="Calibri" pitchFamily="34" charset="-120"/>
              </a:rPr>
              <a:t>Not autonomous refactoring</a:t>
            </a:r>
            <a:endParaRPr lang="en-US" sz="1350" dirty="0"/>
          </a:p>
        </p:txBody>
      </p:sp>
      <p:sp>
        <p:nvSpPr>
          <p:cNvPr id="31" name="Text 29"/>
          <p:cNvSpPr txBox="1"/>
          <p:nvPr/>
        </p:nvSpPr>
        <p:spPr>
          <a:xfrm>
            <a:off x="969264" y="5102352"/>
            <a:ext cx="4631436" cy="548640"/>
          </a:xfrm>
          <a:prstGeom prst="rect">
            <a:avLst/>
          </a:prstGeom>
          <a:noFill/>
          <a:ln/>
        </p:spPr>
        <p:txBody>
          <a:bodyPr wrap="square" lIns="0" tIns="0" rIns="0" bIns="0" rtlCol="0" anchor="ctr"/>
          <a:lstStyle/>
          <a:p>
            <a:pPr indent="0" marL="0">
              <a:lnSpc>
                <a:spcPct val="114000"/>
              </a:lnSpc>
              <a:buNone/>
            </a:pPr>
            <a:r>
              <a:rPr lang="en-US" sz="1200" dirty="0">
                <a:solidFill>
                  <a:srgbClr val="5F5B51"/>
                </a:solidFill>
                <a:latin typeface="Calibri" pitchFamily="34" charset="0"/>
                <a:ea typeface="Calibri" pitchFamily="34" charset="-122"/>
                <a:cs typeface="Calibri" pitchFamily="34" charset="-120"/>
              </a:rPr>
              <a:t>Nothing changes production software without a person approving it. Continuous learning, with a human in the loop.</a:t>
            </a:r>
            <a:endParaRPr lang="en-US" sz="1200" dirty="0"/>
          </a:p>
        </p:txBody>
      </p:sp>
      <p:sp>
        <p:nvSpPr>
          <p:cNvPr id="32" name="Shape 30"/>
          <p:cNvSpPr/>
          <p:nvPr/>
        </p:nvSpPr>
        <p:spPr>
          <a:xfrm>
            <a:off x="6277356" y="4626864"/>
            <a:ext cx="5253228" cy="1097280"/>
          </a:xfrm>
          <a:prstGeom prst="roundRect">
            <a:avLst>
              <a:gd name="adj" fmla="val 5000"/>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33" name="Text 31"/>
          <p:cNvSpPr txBox="1"/>
          <p:nvPr/>
        </p:nvSpPr>
        <p:spPr>
          <a:xfrm>
            <a:off x="6588252" y="4809744"/>
            <a:ext cx="4631436" cy="274320"/>
          </a:xfrm>
          <a:prstGeom prst="rect">
            <a:avLst/>
          </a:prstGeom>
          <a:noFill/>
          <a:ln/>
        </p:spPr>
        <p:txBody>
          <a:bodyPr wrap="square" lIns="0" tIns="0" rIns="0" bIns="0" rtlCol="0" anchor="ctr"/>
          <a:lstStyle/>
          <a:p>
            <a:pPr indent="0" marL="0">
              <a:buNone/>
            </a:pPr>
            <a:r>
              <a:rPr lang="en-US" sz="1350" b="1" dirty="0">
                <a:solidFill>
                  <a:srgbClr val="1A1917"/>
                </a:solidFill>
                <a:latin typeface="Calibri" pitchFamily="34" charset="0"/>
                <a:ea typeface="Calibri" pitchFamily="34" charset="-122"/>
                <a:cs typeface="Calibri" pitchFamily="34" charset="-120"/>
              </a:rPr>
              <a:t>Onboarding falls out of it</a:t>
            </a:r>
            <a:endParaRPr lang="en-US" sz="1350" dirty="0"/>
          </a:p>
        </p:txBody>
      </p:sp>
      <p:sp>
        <p:nvSpPr>
          <p:cNvPr id="34" name="Text 32"/>
          <p:cNvSpPr txBox="1"/>
          <p:nvPr/>
        </p:nvSpPr>
        <p:spPr>
          <a:xfrm>
            <a:off x="6588252" y="5102352"/>
            <a:ext cx="4631436" cy="548640"/>
          </a:xfrm>
          <a:prstGeom prst="rect">
            <a:avLst/>
          </a:prstGeom>
          <a:noFill/>
          <a:ln/>
        </p:spPr>
        <p:txBody>
          <a:bodyPr wrap="square" lIns="0" tIns="0" rIns="0" bIns="0" rtlCol="0" anchor="ctr"/>
          <a:lstStyle/>
          <a:p>
            <a:pPr indent="0" marL="0">
              <a:lnSpc>
                <a:spcPct val="114000"/>
              </a:lnSpc>
              <a:buNone/>
            </a:pPr>
            <a:r>
              <a:rPr lang="en-US" sz="1200" dirty="0">
                <a:solidFill>
                  <a:srgbClr val="5F5B51"/>
                </a:solidFill>
                <a:latin typeface="Calibri" pitchFamily="34" charset="0"/>
                <a:ea typeface="Calibri" pitchFamily="34" charset="-122"/>
                <a:cs typeface="Calibri" pitchFamily="34" charset="-120"/>
              </a:rPr>
              <a:t>A new hire's Claude gets the same access and inherits the institutional knowledge on day one.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THE RULE</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Not everything duplicated should be merged.</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658368" y="2286000"/>
            <a:ext cx="5244084" cy="1700784"/>
          </a:xfrm>
          <a:prstGeom prst="roundRect">
            <a:avLst>
              <a:gd name="adj" fmla="val 3226"/>
            </a:avLst>
          </a:prstGeom>
          <a:solidFill>
            <a:srgbClr val="F9E8E7"/>
          </a:solidFill>
          <a:ln w="12700">
            <a:solidFill>
              <a:srgbClr val="F9E8E7"/>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987552" y="2487168"/>
            <a:ext cx="4585716" cy="310896"/>
          </a:xfrm>
          <a:prstGeom prst="rect">
            <a:avLst/>
          </a:prstGeom>
          <a:noFill/>
          <a:ln/>
        </p:spPr>
        <p:txBody>
          <a:bodyPr wrap="square" lIns="0" tIns="0" rIns="0" bIns="0" rtlCol="0" anchor="ctr"/>
          <a:lstStyle/>
          <a:p>
            <a:pPr indent="0" marL="0">
              <a:buNone/>
            </a:pPr>
            <a:r>
              <a:rPr lang="en-US" sz="1200" b="1" spc="150" kern="0" dirty="0">
                <a:solidFill>
                  <a:srgbClr val="B3261E"/>
                </a:solidFill>
                <a:latin typeface="Calibri" pitchFamily="34" charset="0"/>
                <a:ea typeface="Calibri" pitchFamily="34" charset="-122"/>
                <a:cs typeface="Calibri" pitchFamily="34" charset="-120"/>
              </a:rPr>
              <a:t>Share it</a:t>
            </a:r>
            <a:endParaRPr lang="en-US" sz="1200" dirty="0"/>
          </a:p>
        </p:txBody>
      </p:sp>
      <p:sp>
        <p:nvSpPr>
          <p:cNvPr id="8" name="Text 6"/>
          <p:cNvSpPr txBox="1"/>
          <p:nvPr/>
        </p:nvSpPr>
        <p:spPr>
          <a:xfrm>
            <a:off x="987552" y="2798064"/>
            <a:ext cx="4585716" cy="365760"/>
          </a:xfrm>
          <a:prstGeom prst="rect">
            <a:avLst/>
          </a:prstGeom>
          <a:noFill/>
          <a:ln/>
        </p:spPr>
        <p:txBody>
          <a:bodyPr wrap="square" lIns="0" tIns="0" rIns="0" bIns="0" rtlCol="0" anchor="ctr"/>
          <a:lstStyle/>
          <a:p>
            <a:pPr indent="0" marL="0">
              <a:buNone/>
            </a:pPr>
            <a:r>
              <a:rPr lang="en-US" sz="2000" b="1" dirty="0">
                <a:solidFill>
                  <a:srgbClr val="1A1917"/>
                </a:solidFill>
                <a:latin typeface="Cambria" pitchFamily="34" charset="0"/>
                <a:ea typeface="Cambria" pitchFamily="34" charset="-122"/>
                <a:cs typeface="Cambria" pitchFamily="34" charset="-120"/>
              </a:rPr>
              <a:t>when a change must reach everyone</a:t>
            </a:r>
            <a:endParaRPr lang="en-US" sz="2000" dirty="0"/>
          </a:p>
        </p:txBody>
      </p:sp>
      <p:sp>
        <p:nvSpPr>
          <p:cNvPr id="9" name="Text 7"/>
          <p:cNvSpPr txBox="1"/>
          <p:nvPr/>
        </p:nvSpPr>
        <p:spPr>
          <a:xfrm>
            <a:off x="987552" y="3200400"/>
            <a:ext cx="4585716" cy="694944"/>
          </a:xfrm>
          <a:prstGeom prst="rect">
            <a:avLst/>
          </a:prstGeom>
          <a:noFill/>
          <a:ln/>
        </p:spPr>
        <p:txBody>
          <a:bodyPr wrap="square" lIns="0" tIns="0" rIns="0" bIns="0" rtlCol="0" anchor="ctr"/>
          <a:lstStyle/>
          <a:p>
            <a:pPr indent="0" marL="0">
              <a:lnSpc>
                <a:spcPct val="115000"/>
              </a:lnSpc>
              <a:buNone/>
            </a:pPr>
            <a:r>
              <a:rPr lang="en-US" sz="1250" dirty="0">
                <a:solidFill>
                  <a:srgbClr val="5F5B51"/>
                </a:solidFill>
                <a:latin typeface="Calibri" pitchFamily="34" charset="0"/>
                <a:ea typeface="Calibri" pitchFamily="34" charset="-122"/>
                <a:cs typeface="Calibri" pitchFamily="34" charset="-120"/>
              </a:rPr>
              <a:t>The unguarded database write. Fix it once, and every application that touches the investor database inherits the fix. A safety rule only some applications follow is not a rule.</a:t>
            </a:r>
            <a:endParaRPr lang="en-US" sz="1250" dirty="0"/>
          </a:p>
        </p:txBody>
      </p:sp>
      <p:sp>
        <p:nvSpPr>
          <p:cNvPr id="10" name="Shape 8"/>
          <p:cNvSpPr/>
          <p:nvPr/>
        </p:nvSpPr>
        <p:spPr>
          <a:xfrm>
            <a:off x="6286500" y="2286000"/>
            <a:ext cx="5244084" cy="1700784"/>
          </a:xfrm>
          <a:prstGeom prst="roundRect">
            <a:avLst>
              <a:gd name="adj" fmla="val 3226"/>
            </a:avLst>
          </a:prstGeom>
          <a:solidFill>
            <a:srgbClr val="E5EFE6"/>
          </a:solidFill>
          <a:ln w="12700">
            <a:solidFill>
              <a:srgbClr val="E5EFE6"/>
            </a:solidFill>
            <a:prstDash val="solid"/>
          </a:ln>
          <a:effectLst>
            <a:outerShdw sx="100000" sy="100000" kx="0" ky="0" algn="bl" rotWithShape="0" blurRad="101600" dist="12700" dir="5400000">
              <a:srgbClr val="1A1917">
                <a:alpha val="7000"/>
              </a:srgbClr>
            </a:outerShdw>
          </a:effectLst>
        </p:spPr>
      </p:sp>
      <p:sp>
        <p:nvSpPr>
          <p:cNvPr id="11" name="Text 9"/>
          <p:cNvSpPr txBox="1"/>
          <p:nvPr/>
        </p:nvSpPr>
        <p:spPr>
          <a:xfrm>
            <a:off x="6615684" y="2487168"/>
            <a:ext cx="4585716" cy="310896"/>
          </a:xfrm>
          <a:prstGeom prst="rect">
            <a:avLst/>
          </a:prstGeom>
          <a:noFill/>
          <a:ln/>
        </p:spPr>
        <p:txBody>
          <a:bodyPr wrap="square" lIns="0" tIns="0" rIns="0" bIns="0" rtlCol="0" anchor="ctr"/>
          <a:lstStyle/>
          <a:p>
            <a:pPr indent="0" marL="0">
              <a:buNone/>
            </a:pPr>
            <a:r>
              <a:rPr lang="en-US" sz="1200" b="1" spc="150" kern="0" dirty="0">
                <a:solidFill>
                  <a:srgbClr val="2F6B3F"/>
                </a:solidFill>
                <a:latin typeface="Calibri" pitchFamily="34" charset="0"/>
                <a:ea typeface="Calibri" pitchFamily="34" charset="-122"/>
                <a:cs typeface="Calibri" pitchFamily="34" charset="-120"/>
              </a:rPr>
              <a:t>Leave it alone</a:t>
            </a:r>
            <a:endParaRPr lang="en-US" sz="1200" dirty="0"/>
          </a:p>
        </p:txBody>
      </p:sp>
      <p:sp>
        <p:nvSpPr>
          <p:cNvPr id="12" name="Text 10"/>
          <p:cNvSpPr txBox="1"/>
          <p:nvPr/>
        </p:nvSpPr>
        <p:spPr>
          <a:xfrm>
            <a:off x="6615684" y="2798064"/>
            <a:ext cx="4585716" cy="365760"/>
          </a:xfrm>
          <a:prstGeom prst="rect">
            <a:avLst/>
          </a:prstGeom>
          <a:noFill/>
          <a:ln/>
        </p:spPr>
        <p:txBody>
          <a:bodyPr wrap="square" lIns="0" tIns="0" rIns="0" bIns="0" rtlCol="0" anchor="ctr"/>
          <a:lstStyle/>
          <a:p>
            <a:pPr indent="0" marL="0">
              <a:buNone/>
            </a:pPr>
            <a:r>
              <a:rPr lang="en-US" sz="2000" b="1" dirty="0">
                <a:solidFill>
                  <a:srgbClr val="1A1917"/>
                </a:solidFill>
                <a:latin typeface="Cambria" pitchFamily="34" charset="0"/>
                <a:ea typeface="Cambria" pitchFamily="34" charset="-122"/>
                <a:cs typeface="Cambria" pitchFamily="34" charset="-120"/>
              </a:rPr>
              <a:t>when a change must not</a:t>
            </a:r>
            <a:endParaRPr lang="en-US" sz="2000" dirty="0"/>
          </a:p>
        </p:txBody>
      </p:sp>
      <p:sp>
        <p:nvSpPr>
          <p:cNvPr id="13" name="Text 11"/>
          <p:cNvSpPr txBox="1"/>
          <p:nvPr/>
        </p:nvSpPr>
        <p:spPr>
          <a:xfrm>
            <a:off x="6615684" y="3200400"/>
            <a:ext cx="4585716" cy="694944"/>
          </a:xfrm>
          <a:prstGeom prst="rect">
            <a:avLst/>
          </a:prstGeom>
          <a:noFill/>
          <a:ln/>
        </p:spPr>
        <p:txBody>
          <a:bodyPr wrap="square" lIns="0" tIns="0" rIns="0" bIns="0" rtlCol="0" anchor="ctr"/>
          <a:lstStyle/>
          <a:p>
            <a:pPr indent="0" marL="0">
              <a:lnSpc>
                <a:spcPct val="115000"/>
              </a:lnSpc>
              <a:buNone/>
            </a:pPr>
            <a:r>
              <a:rPr lang="en-US" sz="1250" dirty="0">
                <a:solidFill>
                  <a:srgbClr val="5F5B51"/>
                </a:solidFill>
                <a:latin typeface="Calibri" pitchFamily="34" charset="0"/>
                <a:ea typeface="Calibri" pitchFamily="34" charset="-122"/>
                <a:cs typeface="Calibri" pitchFamily="34" charset="-120"/>
              </a:rPr>
              <a:t>draft-like-jamie and draft-like-drew stay separate forever. Drew does not want Jamie's improvements arriving in his drafts. Independence is the feature, not the bug.</a:t>
            </a:r>
            <a:endParaRPr lang="en-US" sz="1250" dirty="0"/>
          </a:p>
        </p:txBody>
      </p:sp>
      <p:sp>
        <p:nvSpPr>
          <p:cNvPr id="14" name="Text 12"/>
          <p:cNvSpPr txBox="1"/>
          <p:nvPr/>
        </p:nvSpPr>
        <p:spPr>
          <a:xfrm>
            <a:off x="658368" y="4206240"/>
            <a:ext cx="10872216" cy="292608"/>
          </a:xfrm>
          <a:prstGeom prst="rect">
            <a:avLst/>
          </a:prstGeom>
          <a:noFill/>
          <a:ln/>
        </p:spPr>
        <p:txBody>
          <a:bodyPr wrap="square" lIns="0" tIns="0" rIns="0" bIns="0" rtlCol="0" anchor="ctr"/>
          <a:lstStyle/>
          <a:p>
            <a:pPr indent="0" marL="0">
              <a:buNone/>
            </a:pPr>
            <a:r>
              <a:rPr lang="en-US" sz="1300" b="1" dirty="0">
                <a:solidFill>
                  <a:srgbClr val="7D5900"/>
                </a:solidFill>
                <a:latin typeface="Calibri" pitchFamily="34" charset="0"/>
                <a:ea typeface="Calibri" pitchFamily="34" charset="-122"/>
                <a:cs typeface="Calibri" pitchFamily="34" charset="-120"/>
              </a:rPr>
              <a:t>Four questions decide it, one capability at a time</a:t>
            </a:r>
            <a:endParaRPr lang="en-US" sz="1300" dirty="0"/>
          </a:p>
        </p:txBody>
      </p:sp>
      <p:sp>
        <p:nvSpPr>
          <p:cNvPr id="15" name="Shape 13"/>
          <p:cNvSpPr/>
          <p:nvPr/>
        </p:nvSpPr>
        <p:spPr>
          <a:xfrm>
            <a:off x="658368" y="4572000"/>
            <a:ext cx="2512314" cy="1005840"/>
          </a:xfrm>
          <a:prstGeom prst="roundRect">
            <a:avLst>
              <a:gd name="adj" fmla="val 5455"/>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6" name="Shape 14"/>
          <p:cNvSpPr/>
          <p:nvPr/>
        </p:nvSpPr>
        <p:spPr>
          <a:xfrm>
            <a:off x="896112" y="4754880"/>
            <a:ext cx="384048" cy="384048"/>
          </a:xfrm>
          <a:prstGeom prst="roundRect">
            <a:avLst>
              <a:gd name="adj" fmla="val 23810"/>
            </a:avLst>
          </a:prstGeom>
          <a:solidFill>
            <a:srgbClr val="EDEBE1"/>
          </a:solidFill>
          <a:ln w="12700">
            <a:solidFill>
              <a:srgbClr val="EDEBE1"/>
            </a:solidFill>
            <a:prstDash val="solid"/>
          </a:ln>
        </p:spPr>
      </p:sp>
      <p:sp>
        <p:nvSpPr>
          <p:cNvPr id="17" name="Text 15"/>
          <p:cNvSpPr txBox="1"/>
          <p:nvPr/>
        </p:nvSpPr>
        <p:spPr>
          <a:xfrm>
            <a:off x="896112" y="4754880"/>
            <a:ext cx="384048" cy="384048"/>
          </a:xfrm>
          <a:prstGeom prst="rect">
            <a:avLst/>
          </a:prstGeom>
          <a:noFill/>
          <a:ln/>
        </p:spPr>
        <p:txBody>
          <a:bodyPr wrap="square" lIns="0" tIns="0" rIns="0" bIns="0" rtlCol="0" anchor="ctr"/>
          <a:lstStyle/>
          <a:p>
            <a:pPr algn="ctr" indent="0" marL="0">
              <a:buNone/>
            </a:pPr>
            <a:r>
              <a:rPr lang="en-US" sz="1400" b="1" dirty="0">
                <a:solidFill>
                  <a:srgbClr val="5F5B51"/>
                </a:solidFill>
                <a:latin typeface="Calibri" pitchFamily="34" charset="0"/>
                <a:ea typeface="Calibri" pitchFamily="34" charset="-122"/>
                <a:cs typeface="Calibri" pitchFamily="34" charset="-120"/>
              </a:rPr>
              <a:t>1</a:t>
            </a:r>
            <a:endParaRPr lang="en-US" sz="1400" dirty="0"/>
          </a:p>
        </p:txBody>
      </p:sp>
      <p:sp>
        <p:nvSpPr>
          <p:cNvPr id="18" name="Text 16"/>
          <p:cNvSpPr txBox="1"/>
          <p:nvPr/>
        </p:nvSpPr>
        <p:spPr>
          <a:xfrm>
            <a:off x="1371600" y="4718304"/>
            <a:ext cx="1561338" cy="658368"/>
          </a:xfrm>
          <a:prstGeom prst="rect">
            <a:avLst/>
          </a:prstGeom>
          <a:noFill/>
          <a:ln/>
        </p:spPr>
        <p:txBody>
          <a:bodyPr wrap="square" lIns="0" tIns="0" rIns="0" bIns="0" rtlCol="0" anchor="ctr"/>
          <a:lstStyle/>
          <a:p>
            <a:pPr indent="0" marL="0">
              <a:lnSpc>
                <a:spcPct val="112000"/>
              </a:lnSpc>
              <a:buNone/>
            </a:pPr>
            <a:r>
              <a:rPr lang="en-US" sz="1200" dirty="0">
                <a:solidFill>
                  <a:srgbClr val="1A1917"/>
                </a:solidFill>
                <a:latin typeface="Calibri" pitchFamily="34" charset="0"/>
                <a:ea typeface="Calibri" pitchFamily="34" charset="-122"/>
                <a:cs typeface="Calibri" pitchFamily="34" charset="-120"/>
              </a:rPr>
              <a:t>Does a change have to propagate?</a:t>
            </a:r>
            <a:endParaRPr lang="en-US" sz="1200" dirty="0"/>
          </a:p>
        </p:txBody>
      </p:sp>
      <p:sp>
        <p:nvSpPr>
          <p:cNvPr id="19" name="Shape 17"/>
          <p:cNvSpPr/>
          <p:nvPr/>
        </p:nvSpPr>
        <p:spPr>
          <a:xfrm>
            <a:off x="3445002" y="4572000"/>
            <a:ext cx="2512314" cy="1005840"/>
          </a:xfrm>
          <a:prstGeom prst="roundRect">
            <a:avLst>
              <a:gd name="adj" fmla="val 5455"/>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20" name="Shape 18"/>
          <p:cNvSpPr/>
          <p:nvPr/>
        </p:nvSpPr>
        <p:spPr>
          <a:xfrm>
            <a:off x="3682746" y="4754880"/>
            <a:ext cx="384048" cy="384048"/>
          </a:xfrm>
          <a:prstGeom prst="roundRect">
            <a:avLst>
              <a:gd name="adj" fmla="val 23810"/>
            </a:avLst>
          </a:prstGeom>
          <a:solidFill>
            <a:srgbClr val="EDEBE1"/>
          </a:solidFill>
          <a:ln w="12700">
            <a:solidFill>
              <a:srgbClr val="EDEBE1"/>
            </a:solidFill>
            <a:prstDash val="solid"/>
          </a:ln>
        </p:spPr>
      </p:sp>
      <p:sp>
        <p:nvSpPr>
          <p:cNvPr id="21" name="Text 19"/>
          <p:cNvSpPr txBox="1"/>
          <p:nvPr/>
        </p:nvSpPr>
        <p:spPr>
          <a:xfrm>
            <a:off x="3682746" y="4754880"/>
            <a:ext cx="384048" cy="384048"/>
          </a:xfrm>
          <a:prstGeom prst="rect">
            <a:avLst/>
          </a:prstGeom>
          <a:noFill/>
          <a:ln/>
        </p:spPr>
        <p:txBody>
          <a:bodyPr wrap="square" lIns="0" tIns="0" rIns="0" bIns="0" rtlCol="0" anchor="ctr"/>
          <a:lstStyle/>
          <a:p>
            <a:pPr algn="ctr" indent="0" marL="0">
              <a:buNone/>
            </a:pPr>
            <a:r>
              <a:rPr lang="en-US" sz="1400" b="1" dirty="0">
                <a:solidFill>
                  <a:srgbClr val="5F5B51"/>
                </a:solidFill>
                <a:latin typeface="Calibri" pitchFamily="34" charset="0"/>
                <a:ea typeface="Calibri" pitchFamily="34" charset="-122"/>
                <a:cs typeface="Calibri" pitchFamily="34" charset="-120"/>
              </a:rPr>
              <a:t>2</a:t>
            </a:r>
            <a:endParaRPr lang="en-US" sz="1400" dirty="0"/>
          </a:p>
        </p:txBody>
      </p:sp>
      <p:sp>
        <p:nvSpPr>
          <p:cNvPr id="22" name="Text 20"/>
          <p:cNvSpPr txBox="1"/>
          <p:nvPr/>
        </p:nvSpPr>
        <p:spPr>
          <a:xfrm>
            <a:off x="4158234" y="4718304"/>
            <a:ext cx="1561338" cy="658368"/>
          </a:xfrm>
          <a:prstGeom prst="rect">
            <a:avLst/>
          </a:prstGeom>
          <a:noFill/>
          <a:ln/>
        </p:spPr>
        <p:txBody>
          <a:bodyPr wrap="square" lIns="0" tIns="0" rIns="0" bIns="0" rtlCol="0" anchor="ctr"/>
          <a:lstStyle/>
          <a:p>
            <a:pPr indent="0" marL="0">
              <a:lnSpc>
                <a:spcPct val="112000"/>
              </a:lnSpc>
              <a:buNone/>
            </a:pPr>
            <a:r>
              <a:rPr lang="en-US" sz="1200" dirty="0">
                <a:solidFill>
                  <a:srgbClr val="1A1917"/>
                </a:solidFill>
                <a:latin typeface="Calibri" pitchFamily="34" charset="0"/>
                <a:ea typeface="Calibri" pitchFamily="34" charset="-122"/>
                <a:cs typeface="Calibri" pitchFamily="34" charset="-120"/>
              </a:rPr>
              <a:t>Is there a correctness or compliance stake?</a:t>
            </a:r>
            <a:endParaRPr lang="en-US" sz="1200" dirty="0"/>
          </a:p>
        </p:txBody>
      </p:sp>
      <p:sp>
        <p:nvSpPr>
          <p:cNvPr id="23" name="Shape 21"/>
          <p:cNvSpPr/>
          <p:nvPr/>
        </p:nvSpPr>
        <p:spPr>
          <a:xfrm>
            <a:off x="6231636" y="4572000"/>
            <a:ext cx="2512314" cy="1005840"/>
          </a:xfrm>
          <a:prstGeom prst="roundRect">
            <a:avLst>
              <a:gd name="adj" fmla="val 5455"/>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24" name="Shape 22"/>
          <p:cNvSpPr/>
          <p:nvPr/>
        </p:nvSpPr>
        <p:spPr>
          <a:xfrm>
            <a:off x="6469380" y="4754880"/>
            <a:ext cx="384048" cy="384048"/>
          </a:xfrm>
          <a:prstGeom prst="roundRect">
            <a:avLst>
              <a:gd name="adj" fmla="val 23810"/>
            </a:avLst>
          </a:prstGeom>
          <a:solidFill>
            <a:srgbClr val="EDEBE1"/>
          </a:solidFill>
          <a:ln w="12700">
            <a:solidFill>
              <a:srgbClr val="EDEBE1"/>
            </a:solidFill>
            <a:prstDash val="solid"/>
          </a:ln>
        </p:spPr>
      </p:sp>
      <p:sp>
        <p:nvSpPr>
          <p:cNvPr id="25" name="Text 23"/>
          <p:cNvSpPr txBox="1"/>
          <p:nvPr/>
        </p:nvSpPr>
        <p:spPr>
          <a:xfrm>
            <a:off x="6469380" y="4754880"/>
            <a:ext cx="384048" cy="384048"/>
          </a:xfrm>
          <a:prstGeom prst="rect">
            <a:avLst/>
          </a:prstGeom>
          <a:noFill/>
          <a:ln/>
        </p:spPr>
        <p:txBody>
          <a:bodyPr wrap="square" lIns="0" tIns="0" rIns="0" bIns="0" rtlCol="0" anchor="ctr"/>
          <a:lstStyle/>
          <a:p>
            <a:pPr algn="ctr" indent="0" marL="0">
              <a:buNone/>
            </a:pPr>
            <a:r>
              <a:rPr lang="en-US" sz="1400" b="1" dirty="0">
                <a:solidFill>
                  <a:srgbClr val="5F5B51"/>
                </a:solidFill>
                <a:latin typeface="Calibri" pitchFamily="34" charset="0"/>
                <a:ea typeface="Calibri" pitchFamily="34" charset="-122"/>
                <a:cs typeface="Calibri" pitchFamily="34" charset="-120"/>
              </a:rPr>
              <a:t>3</a:t>
            </a:r>
            <a:endParaRPr lang="en-US" sz="1400" dirty="0"/>
          </a:p>
        </p:txBody>
      </p:sp>
      <p:sp>
        <p:nvSpPr>
          <p:cNvPr id="26" name="Text 24"/>
          <p:cNvSpPr txBox="1"/>
          <p:nvPr/>
        </p:nvSpPr>
        <p:spPr>
          <a:xfrm>
            <a:off x="6944868" y="4718304"/>
            <a:ext cx="1561338" cy="658368"/>
          </a:xfrm>
          <a:prstGeom prst="rect">
            <a:avLst/>
          </a:prstGeom>
          <a:noFill/>
          <a:ln/>
        </p:spPr>
        <p:txBody>
          <a:bodyPr wrap="square" lIns="0" tIns="0" rIns="0" bIns="0" rtlCol="0" anchor="ctr"/>
          <a:lstStyle/>
          <a:p>
            <a:pPr indent="0" marL="0">
              <a:lnSpc>
                <a:spcPct val="112000"/>
              </a:lnSpc>
              <a:buNone/>
            </a:pPr>
            <a:r>
              <a:rPr lang="en-US" sz="1200" dirty="0">
                <a:solidFill>
                  <a:srgbClr val="1A1917"/>
                </a:solidFill>
                <a:latin typeface="Calibri" pitchFamily="34" charset="0"/>
                <a:ea typeface="Calibri" pitchFamily="34" charset="-122"/>
                <a:cs typeface="Calibri" pitchFamily="34" charset="-120"/>
              </a:rPr>
              <a:t>Are they genuinely the same thing?</a:t>
            </a:r>
            <a:endParaRPr lang="en-US" sz="1200" dirty="0"/>
          </a:p>
        </p:txBody>
      </p:sp>
      <p:sp>
        <p:nvSpPr>
          <p:cNvPr id="27" name="Shape 25"/>
          <p:cNvSpPr/>
          <p:nvPr/>
        </p:nvSpPr>
        <p:spPr>
          <a:xfrm>
            <a:off x="9018270" y="4572000"/>
            <a:ext cx="2512314" cy="1005840"/>
          </a:xfrm>
          <a:prstGeom prst="roundRect">
            <a:avLst>
              <a:gd name="adj" fmla="val 5455"/>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28" name="Shape 26"/>
          <p:cNvSpPr/>
          <p:nvPr/>
        </p:nvSpPr>
        <p:spPr>
          <a:xfrm>
            <a:off x="9256014" y="4754880"/>
            <a:ext cx="384048" cy="384048"/>
          </a:xfrm>
          <a:prstGeom prst="roundRect">
            <a:avLst>
              <a:gd name="adj" fmla="val 23810"/>
            </a:avLst>
          </a:prstGeom>
          <a:solidFill>
            <a:srgbClr val="EDEBE1"/>
          </a:solidFill>
          <a:ln w="12700">
            <a:solidFill>
              <a:srgbClr val="EDEBE1"/>
            </a:solidFill>
            <a:prstDash val="solid"/>
          </a:ln>
        </p:spPr>
      </p:sp>
      <p:sp>
        <p:nvSpPr>
          <p:cNvPr id="29" name="Text 27"/>
          <p:cNvSpPr txBox="1"/>
          <p:nvPr/>
        </p:nvSpPr>
        <p:spPr>
          <a:xfrm>
            <a:off x="9256014" y="4754880"/>
            <a:ext cx="384048" cy="384048"/>
          </a:xfrm>
          <a:prstGeom prst="rect">
            <a:avLst/>
          </a:prstGeom>
          <a:noFill/>
          <a:ln/>
        </p:spPr>
        <p:txBody>
          <a:bodyPr wrap="square" lIns="0" tIns="0" rIns="0" bIns="0" rtlCol="0" anchor="ctr"/>
          <a:lstStyle/>
          <a:p>
            <a:pPr algn="ctr" indent="0" marL="0">
              <a:buNone/>
            </a:pPr>
            <a:r>
              <a:rPr lang="en-US" sz="1400" b="1" dirty="0">
                <a:solidFill>
                  <a:srgbClr val="5F5B51"/>
                </a:solidFill>
                <a:latin typeface="Calibri" pitchFamily="34" charset="0"/>
                <a:ea typeface="Calibri" pitchFamily="34" charset="-122"/>
                <a:cs typeface="Calibri" pitchFamily="34" charset="-120"/>
              </a:rPr>
              <a:t>4</a:t>
            </a:r>
            <a:endParaRPr lang="en-US" sz="1400" dirty="0"/>
          </a:p>
        </p:txBody>
      </p:sp>
      <p:sp>
        <p:nvSpPr>
          <p:cNvPr id="30" name="Text 28"/>
          <p:cNvSpPr txBox="1"/>
          <p:nvPr/>
        </p:nvSpPr>
        <p:spPr>
          <a:xfrm>
            <a:off x="9731502" y="4718304"/>
            <a:ext cx="1561338" cy="658368"/>
          </a:xfrm>
          <a:prstGeom prst="rect">
            <a:avLst/>
          </a:prstGeom>
          <a:noFill/>
          <a:ln/>
        </p:spPr>
        <p:txBody>
          <a:bodyPr wrap="square" lIns="0" tIns="0" rIns="0" bIns="0" rtlCol="0" anchor="ctr"/>
          <a:lstStyle/>
          <a:p>
            <a:pPr indent="0" marL="0">
              <a:lnSpc>
                <a:spcPct val="112000"/>
              </a:lnSpc>
              <a:buNone/>
            </a:pPr>
            <a:r>
              <a:rPr lang="en-US" sz="1200" dirty="0">
                <a:solidFill>
                  <a:srgbClr val="1A1917"/>
                </a:solidFill>
                <a:latin typeface="Calibri" pitchFamily="34" charset="0"/>
                <a:ea typeface="Calibri" pitchFamily="34" charset="-122"/>
                <a:cs typeface="Calibri" pitchFamily="34" charset="-120"/>
              </a:rPr>
              <a:t>Can it be given a test?</a:t>
            </a:r>
            <a:endParaRPr lang="en-US" sz="1200" dirty="0"/>
          </a:p>
        </p:txBody>
      </p:sp>
      <p:sp>
        <p:nvSpPr>
          <p:cNvPr id="31" name="Text 29"/>
          <p:cNvSpPr txBox="1"/>
          <p:nvPr/>
        </p:nvSpPr>
        <p:spPr>
          <a:xfrm>
            <a:off x="658368" y="5724144"/>
            <a:ext cx="10872216" cy="310896"/>
          </a:xfrm>
          <a:prstGeom prst="rect">
            <a:avLst/>
          </a:prstGeom>
          <a:noFill/>
          <a:ln/>
        </p:spPr>
        <p:txBody>
          <a:bodyPr wrap="square" lIns="0" tIns="0" rIns="0" bIns="0" rtlCol="0" anchor="ctr"/>
          <a:lstStyle/>
          <a:p>
            <a:pPr indent="0" marL="0">
              <a:buNone/>
            </a:pPr>
            <a:r>
              <a:rPr lang="en-US" sz="1250" i="1" dirty="0">
                <a:solidFill>
                  <a:srgbClr val="8A857A"/>
                </a:solidFill>
                <a:latin typeface="Calibri" pitchFamily="34" charset="0"/>
                <a:ea typeface="Calibri" pitchFamily="34" charset="-122"/>
                <a:cs typeface="Calibri" pitchFamily="34" charset="-120"/>
              </a:rPr>
              <a:t>All four, or it stays where it is. The default is not to centralize.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SYSTEMS DESIGN</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Six parts. Only two of them are ours.</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658368" y="2231136"/>
            <a:ext cx="6400800" cy="548640"/>
          </a:xfrm>
          <a:prstGeom prst="roundRect">
            <a:avLst>
              <a:gd name="adj" fmla="val 8333"/>
            </a:avLst>
          </a:prstGeom>
          <a:solidFill>
            <a:srgbClr val="EDEBE1"/>
          </a:solidFill>
          <a:ln w="12700">
            <a:solidFill>
              <a:srgbClr val="EDEBE1"/>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859536" y="2286000"/>
            <a:ext cx="5998464" cy="256032"/>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Five GitHub repositories</a:t>
            </a:r>
            <a:endParaRPr lang="en-US" sz="1250" dirty="0"/>
          </a:p>
        </p:txBody>
      </p:sp>
      <p:sp>
        <p:nvSpPr>
          <p:cNvPr id="8" name="Text 6"/>
          <p:cNvSpPr txBox="1"/>
          <p:nvPr/>
        </p:nvSpPr>
        <p:spPr>
          <a:xfrm>
            <a:off x="859536" y="2523744"/>
            <a:ext cx="5998464" cy="201168"/>
          </a:xfrm>
          <a:prstGeom prst="rect">
            <a:avLst/>
          </a:prstGeom>
          <a:noFill/>
          <a:ln/>
        </p:spPr>
        <p:txBody>
          <a:bodyPr wrap="square" lIns="0" tIns="0" rIns="0" bIns="0" rtlCol="0" anchor="ctr"/>
          <a:lstStyle/>
          <a:p>
            <a:pPr indent="0" marL="0">
              <a:buNone/>
            </a:pPr>
            <a:r>
              <a:rPr lang="en-US" sz="950" dirty="0">
                <a:solidFill>
                  <a:srgbClr val="8A857A"/>
                </a:solidFill>
                <a:latin typeface="Calibri" pitchFamily="34" charset="0"/>
                <a:ea typeface="Calibri" pitchFamily="34" charset="-122"/>
                <a:cs typeface="Calibri" pitchFamily="34" charset="-120"/>
              </a:rPr>
              <a:t>51 packaged items, already structured, already versioned</a:t>
            </a:r>
            <a:endParaRPr lang="en-US" sz="950" dirty="0"/>
          </a:p>
        </p:txBody>
      </p:sp>
      <p:sp>
        <p:nvSpPr>
          <p:cNvPr id="9" name="Text 7"/>
          <p:cNvSpPr txBox="1"/>
          <p:nvPr/>
        </p:nvSpPr>
        <p:spPr>
          <a:xfrm>
            <a:off x="658368" y="2761488"/>
            <a:ext cx="6400800" cy="237744"/>
          </a:xfrm>
          <a:prstGeom prst="rect">
            <a:avLst/>
          </a:prstGeom>
          <a:noFill/>
          <a:ln/>
        </p:spPr>
        <p:txBody>
          <a:bodyPr wrap="square" lIns="0" tIns="0" rIns="0" bIns="0" rtlCol="0" anchor="ctr"/>
          <a:lstStyle/>
          <a:p>
            <a:pPr algn="ctr" indent="0" marL="0">
              <a:buNone/>
            </a:pPr>
            <a:r>
              <a:rPr lang="en-US" sz="1400" dirty="0">
                <a:solidFill>
                  <a:srgbClr val="7D5900"/>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658368" y="2962656"/>
            <a:ext cx="6400800" cy="548640"/>
          </a:xfrm>
          <a:prstGeom prst="roundRect">
            <a:avLst>
              <a:gd name="adj" fmla="val 8333"/>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1" name="Text 9"/>
          <p:cNvSpPr txBox="1"/>
          <p:nvPr/>
        </p:nvSpPr>
        <p:spPr>
          <a:xfrm>
            <a:off x="859536" y="3017520"/>
            <a:ext cx="5998464" cy="256032"/>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The reader</a:t>
            </a:r>
            <a:endParaRPr lang="en-US" sz="1250" dirty="0"/>
          </a:p>
        </p:txBody>
      </p:sp>
      <p:sp>
        <p:nvSpPr>
          <p:cNvPr id="12" name="Text 10"/>
          <p:cNvSpPr txBox="1"/>
          <p:nvPr/>
        </p:nvSpPr>
        <p:spPr>
          <a:xfrm>
            <a:off x="859536" y="3255264"/>
            <a:ext cx="5998464" cy="201168"/>
          </a:xfrm>
          <a:prstGeom prst="rect">
            <a:avLst/>
          </a:prstGeom>
          <a:noFill/>
          <a:ln/>
        </p:spPr>
        <p:txBody>
          <a:bodyPr wrap="square" lIns="0" tIns="0" rIns="0" bIns="0" rtlCol="0" anchor="ctr"/>
          <a:lstStyle/>
          <a:p>
            <a:pPr indent="0" marL="0">
              <a:buNone/>
            </a:pPr>
            <a:r>
              <a:rPr lang="en-US" sz="950" dirty="0">
                <a:solidFill>
                  <a:srgbClr val="8A857A"/>
                </a:solidFill>
                <a:latin typeface="Calibri" pitchFamily="34" charset="0"/>
                <a:ea typeface="Calibri" pitchFamily="34" charset="-122"/>
                <a:cs typeface="Calibri" pitchFamily="34" charset="-120"/>
              </a:rPr>
              <a:t>scheduled, read-only, regenerates everything from source</a:t>
            </a:r>
            <a:endParaRPr lang="en-US" sz="950" dirty="0"/>
          </a:p>
        </p:txBody>
      </p:sp>
      <p:sp>
        <p:nvSpPr>
          <p:cNvPr id="13" name="Text 11"/>
          <p:cNvSpPr txBox="1"/>
          <p:nvPr/>
        </p:nvSpPr>
        <p:spPr>
          <a:xfrm>
            <a:off x="658368" y="3493008"/>
            <a:ext cx="6400800" cy="237744"/>
          </a:xfrm>
          <a:prstGeom prst="rect">
            <a:avLst/>
          </a:prstGeom>
          <a:noFill/>
          <a:ln/>
        </p:spPr>
        <p:txBody>
          <a:bodyPr wrap="square" lIns="0" tIns="0" rIns="0" bIns="0" rtlCol="0" anchor="ctr"/>
          <a:lstStyle/>
          <a:p>
            <a:pPr algn="ctr" indent="0" marL="0">
              <a:buNone/>
            </a:pPr>
            <a:r>
              <a:rPr lang="en-US" sz="1400" dirty="0">
                <a:solidFill>
                  <a:srgbClr val="7D5900"/>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658368" y="3694176"/>
            <a:ext cx="3081528" cy="548640"/>
          </a:xfrm>
          <a:prstGeom prst="roundRect">
            <a:avLst>
              <a:gd name="adj" fmla="val 8333"/>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15" name="Text 13"/>
          <p:cNvSpPr txBox="1"/>
          <p:nvPr/>
        </p:nvSpPr>
        <p:spPr>
          <a:xfrm>
            <a:off x="859536" y="3749040"/>
            <a:ext cx="2679192" cy="256032"/>
          </a:xfrm>
          <a:prstGeom prst="rect">
            <a:avLst/>
          </a:prstGeom>
          <a:noFill/>
          <a:ln/>
        </p:spPr>
        <p:txBody>
          <a:bodyPr wrap="square" lIns="0" tIns="0" rIns="0" bIns="0" rtlCol="0" anchor="ctr"/>
          <a:lstStyle/>
          <a:p>
            <a:pPr indent="0" marL="0">
              <a:buNone/>
            </a:pPr>
            <a:r>
              <a:rPr lang="en-US" sz="1250" b="1" dirty="0">
                <a:solidFill>
                  <a:srgbClr val="F8F7F1"/>
                </a:solidFill>
                <a:latin typeface="Calibri" pitchFamily="34" charset="0"/>
                <a:ea typeface="Calibri" pitchFamily="34" charset="-122"/>
                <a:cs typeface="Calibri" pitchFamily="34" charset="-120"/>
              </a:rPr>
              <a:t>Organizational model</a:t>
            </a:r>
            <a:endParaRPr lang="en-US" sz="1250" dirty="0"/>
          </a:p>
        </p:txBody>
      </p:sp>
      <p:sp>
        <p:nvSpPr>
          <p:cNvPr id="16" name="Text 14"/>
          <p:cNvSpPr txBox="1"/>
          <p:nvPr/>
        </p:nvSpPr>
        <p:spPr>
          <a:xfrm>
            <a:off x="859536" y="3986784"/>
            <a:ext cx="2679192" cy="201168"/>
          </a:xfrm>
          <a:prstGeom prst="rect">
            <a:avLst/>
          </a:prstGeom>
          <a:noFill/>
          <a:ln/>
        </p:spPr>
        <p:txBody>
          <a:bodyPr wrap="square" lIns="0" tIns="0" rIns="0" bIns="0" rtlCol="0" anchor="ctr"/>
          <a:lstStyle/>
          <a:p>
            <a:pPr indent="0" marL="0">
              <a:buNone/>
            </a:pPr>
            <a:r>
              <a:rPr lang="en-US" sz="950" dirty="0">
                <a:solidFill>
                  <a:srgbClr val="A9A499"/>
                </a:solidFill>
                <a:latin typeface="Calibri" pitchFamily="34" charset="0"/>
                <a:ea typeface="Calibri" pitchFamily="34" charset="-122"/>
                <a:cs typeface="Calibri" pitchFamily="34" charset="-120"/>
              </a:rPr>
              <a:t>apps, capabilities, tools, owners, edges</a:t>
            </a:r>
            <a:endParaRPr lang="en-US" sz="950" dirty="0"/>
          </a:p>
        </p:txBody>
      </p:sp>
      <p:sp>
        <p:nvSpPr>
          <p:cNvPr id="17" name="Shape 15"/>
          <p:cNvSpPr/>
          <p:nvPr/>
        </p:nvSpPr>
        <p:spPr>
          <a:xfrm>
            <a:off x="3977640" y="3694176"/>
            <a:ext cx="3081528" cy="548640"/>
          </a:xfrm>
          <a:prstGeom prst="roundRect">
            <a:avLst>
              <a:gd name="adj" fmla="val 8333"/>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18" name="Text 16"/>
          <p:cNvSpPr txBox="1"/>
          <p:nvPr/>
        </p:nvSpPr>
        <p:spPr>
          <a:xfrm>
            <a:off x="4178808" y="3749040"/>
            <a:ext cx="2679192" cy="256032"/>
          </a:xfrm>
          <a:prstGeom prst="rect">
            <a:avLst/>
          </a:prstGeom>
          <a:noFill/>
          <a:ln/>
        </p:spPr>
        <p:txBody>
          <a:bodyPr wrap="square" lIns="0" tIns="0" rIns="0" bIns="0" rtlCol="0" anchor="ctr"/>
          <a:lstStyle/>
          <a:p>
            <a:pPr indent="0" marL="0">
              <a:buNone/>
            </a:pPr>
            <a:r>
              <a:rPr lang="en-US" sz="1250" b="1" dirty="0">
                <a:solidFill>
                  <a:srgbClr val="F8F7F1"/>
                </a:solidFill>
                <a:latin typeface="Calibri" pitchFamily="34" charset="0"/>
                <a:ea typeface="Calibri" pitchFamily="34" charset="-122"/>
                <a:cs typeface="Calibri" pitchFamily="34" charset="-120"/>
              </a:rPr>
              <a:t>Semantic index</a:t>
            </a:r>
            <a:endParaRPr lang="en-US" sz="1250" dirty="0"/>
          </a:p>
        </p:txBody>
      </p:sp>
      <p:sp>
        <p:nvSpPr>
          <p:cNvPr id="19" name="Text 17"/>
          <p:cNvSpPr txBox="1"/>
          <p:nvPr/>
        </p:nvSpPr>
        <p:spPr>
          <a:xfrm>
            <a:off x="4178808" y="3986784"/>
            <a:ext cx="2679192" cy="201168"/>
          </a:xfrm>
          <a:prstGeom prst="rect">
            <a:avLst/>
          </a:prstGeom>
          <a:noFill/>
          <a:ln/>
        </p:spPr>
        <p:txBody>
          <a:bodyPr wrap="square" lIns="0" tIns="0" rIns="0" bIns="0" rtlCol="0" anchor="ctr"/>
          <a:lstStyle/>
          <a:p>
            <a:pPr indent="0" marL="0">
              <a:buNone/>
            </a:pPr>
            <a:r>
              <a:rPr lang="en-US" sz="950" dirty="0">
                <a:solidFill>
                  <a:srgbClr val="A9A499"/>
                </a:solidFill>
                <a:latin typeface="Calibri" pitchFamily="34" charset="0"/>
                <a:ea typeface="Calibri" pitchFamily="34" charset="-122"/>
                <a:cs typeface="Calibri" pitchFamily="34" charset="-120"/>
              </a:rPr>
              <a:t>embeddings over descriptions</a:t>
            </a:r>
            <a:endParaRPr lang="en-US" sz="950" dirty="0"/>
          </a:p>
        </p:txBody>
      </p:sp>
      <p:sp>
        <p:nvSpPr>
          <p:cNvPr id="20" name="Text 18"/>
          <p:cNvSpPr txBox="1"/>
          <p:nvPr/>
        </p:nvSpPr>
        <p:spPr>
          <a:xfrm>
            <a:off x="658368" y="4224528"/>
            <a:ext cx="6400800" cy="237744"/>
          </a:xfrm>
          <a:prstGeom prst="rect">
            <a:avLst/>
          </a:prstGeom>
          <a:noFill/>
          <a:ln/>
        </p:spPr>
        <p:txBody>
          <a:bodyPr wrap="square" lIns="0" tIns="0" rIns="0" bIns="0" rtlCol="0" anchor="ctr"/>
          <a:lstStyle/>
          <a:p>
            <a:pPr algn="ctr" indent="0" marL="0">
              <a:buNone/>
            </a:pPr>
            <a:r>
              <a:rPr lang="en-US" sz="1400" dirty="0">
                <a:solidFill>
                  <a:srgbClr val="7D5900"/>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658368" y="4425696"/>
            <a:ext cx="3081528" cy="548640"/>
          </a:xfrm>
          <a:prstGeom prst="roundRect">
            <a:avLst>
              <a:gd name="adj" fmla="val 8333"/>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22" name="Text 20"/>
          <p:cNvSpPr txBox="1"/>
          <p:nvPr/>
        </p:nvSpPr>
        <p:spPr>
          <a:xfrm>
            <a:off x="859536" y="4480560"/>
            <a:ext cx="2679192" cy="256032"/>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MCP server</a:t>
            </a:r>
            <a:endParaRPr lang="en-US" sz="1250" dirty="0"/>
          </a:p>
        </p:txBody>
      </p:sp>
      <p:sp>
        <p:nvSpPr>
          <p:cNvPr id="23" name="Text 21"/>
          <p:cNvSpPr txBox="1"/>
          <p:nvPr/>
        </p:nvSpPr>
        <p:spPr>
          <a:xfrm>
            <a:off x="859536" y="4718304"/>
            <a:ext cx="2679192" cy="201168"/>
          </a:xfrm>
          <a:prstGeom prst="rect">
            <a:avLst/>
          </a:prstGeom>
          <a:noFill/>
          <a:ln/>
        </p:spPr>
        <p:txBody>
          <a:bodyPr wrap="square" lIns="0" tIns="0" rIns="0" bIns="0" rtlCol="0" anchor="ctr"/>
          <a:lstStyle/>
          <a:p>
            <a:pPr indent="0" marL="0">
              <a:buNone/>
            </a:pPr>
            <a:r>
              <a:rPr lang="en-US" sz="950" dirty="0">
                <a:solidFill>
                  <a:srgbClr val="8A857A"/>
                </a:solidFill>
                <a:latin typeface="Calibri" pitchFamily="34" charset="0"/>
                <a:ea typeface="Calibri" pitchFamily="34" charset="-122"/>
                <a:cs typeface="Calibri" pitchFamily="34" charset="-120"/>
              </a:rPr>
              <a:t>six tools, metadata only</a:t>
            </a:r>
            <a:endParaRPr lang="en-US" sz="950" dirty="0"/>
          </a:p>
        </p:txBody>
      </p:sp>
      <p:sp>
        <p:nvSpPr>
          <p:cNvPr id="24" name="Shape 22"/>
          <p:cNvSpPr/>
          <p:nvPr/>
        </p:nvSpPr>
        <p:spPr>
          <a:xfrm>
            <a:off x="3977640" y="4425696"/>
            <a:ext cx="3081528" cy="548640"/>
          </a:xfrm>
          <a:prstGeom prst="roundRect">
            <a:avLst>
              <a:gd name="adj" fmla="val 8333"/>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25" name="Text 23"/>
          <p:cNvSpPr txBox="1"/>
          <p:nvPr/>
        </p:nvSpPr>
        <p:spPr>
          <a:xfrm>
            <a:off x="4178808" y="4480560"/>
            <a:ext cx="2679192" cy="256032"/>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The weekly pass</a:t>
            </a:r>
            <a:endParaRPr lang="en-US" sz="1250" dirty="0"/>
          </a:p>
        </p:txBody>
      </p:sp>
      <p:sp>
        <p:nvSpPr>
          <p:cNvPr id="26" name="Text 24"/>
          <p:cNvSpPr txBox="1"/>
          <p:nvPr/>
        </p:nvSpPr>
        <p:spPr>
          <a:xfrm>
            <a:off x="4178808" y="4718304"/>
            <a:ext cx="2679192" cy="201168"/>
          </a:xfrm>
          <a:prstGeom prst="rect">
            <a:avLst/>
          </a:prstGeom>
          <a:noFill/>
          <a:ln/>
        </p:spPr>
        <p:txBody>
          <a:bodyPr wrap="square" lIns="0" tIns="0" rIns="0" bIns="0" rtlCol="0" anchor="ctr"/>
          <a:lstStyle/>
          <a:p>
            <a:pPr indent="0" marL="0">
              <a:buNone/>
            </a:pPr>
            <a:r>
              <a:rPr lang="en-US" sz="950" dirty="0">
                <a:solidFill>
                  <a:srgbClr val="8A857A"/>
                </a:solidFill>
                <a:latin typeface="Calibri" pitchFamily="34" charset="0"/>
                <a:ea typeface="Calibri" pitchFamily="34" charset="-122"/>
                <a:cs typeface="Calibri" pitchFamily="34" charset="-120"/>
              </a:rPr>
              <a:t>overlap, drift, ranked proposals</a:t>
            </a:r>
            <a:endParaRPr lang="en-US" sz="950" dirty="0"/>
          </a:p>
        </p:txBody>
      </p:sp>
      <p:sp>
        <p:nvSpPr>
          <p:cNvPr id="27" name="Text 25"/>
          <p:cNvSpPr txBox="1"/>
          <p:nvPr/>
        </p:nvSpPr>
        <p:spPr>
          <a:xfrm>
            <a:off x="658368" y="4956048"/>
            <a:ext cx="6400800" cy="237744"/>
          </a:xfrm>
          <a:prstGeom prst="rect">
            <a:avLst/>
          </a:prstGeom>
          <a:noFill/>
          <a:ln/>
        </p:spPr>
        <p:txBody>
          <a:bodyPr wrap="square" lIns="0" tIns="0" rIns="0" bIns="0" rtlCol="0" anchor="ctr"/>
          <a:lstStyle/>
          <a:p>
            <a:pPr algn="ctr" indent="0" marL="0">
              <a:buNone/>
            </a:pPr>
            <a:r>
              <a:rPr lang="en-US" sz="1400" dirty="0">
                <a:solidFill>
                  <a:srgbClr val="7D5900"/>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658368" y="5157216"/>
            <a:ext cx="3081528" cy="548640"/>
          </a:xfrm>
          <a:prstGeom prst="roundRect">
            <a:avLst>
              <a:gd name="adj" fmla="val 8333"/>
            </a:avLst>
          </a:prstGeom>
          <a:solidFill>
            <a:srgbClr val="FBF1D8"/>
          </a:solidFill>
          <a:ln w="12700">
            <a:solidFill>
              <a:srgbClr val="FBF1D8"/>
            </a:solidFill>
            <a:prstDash val="solid"/>
          </a:ln>
          <a:effectLst>
            <a:outerShdw sx="100000" sy="100000" kx="0" ky="0" algn="bl" rotWithShape="0" blurRad="101600" dist="12700" dir="5400000">
              <a:srgbClr val="1A1917">
                <a:alpha val="7000"/>
              </a:srgbClr>
            </a:outerShdw>
          </a:effectLst>
        </p:spPr>
      </p:sp>
      <p:sp>
        <p:nvSpPr>
          <p:cNvPr id="29" name="Text 27"/>
          <p:cNvSpPr txBox="1"/>
          <p:nvPr/>
        </p:nvSpPr>
        <p:spPr>
          <a:xfrm>
            <a:off x="859536" y="5212080"/>
            <a:ext cx="2679192" cy="256032"/>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Claude</a:t>
            </a:r>
            <a:endParaRPr lang="en-US" sz="1250" dirty="0"/>
          </a:p>
        </p:txBody>
      </p:sp>
      <p:sp>
        <p:nvSpPr>
          <p:cNvPr id="30" name="Text 28"/>
          <p:cNvSpPr txBox="1"/>
          <p:nvPr/>
        </p:nvSpPr>
        <p:spPr>
          <a:xfrm>
            <a:off x="859536" y="5449824"/>
            <a:ext cx="2679192" cy="201168"/>
          </a:xfrm>
          <a:prstGeom prst="rect">
            <a:avLst/>
          </a:prstGeom>
          <a:noFill/>
          <a:ln/>
        </p:spPr>
        <p:txBody>
          <a:bodyPr wrap="square" lIns="0" tIns="0" rIns="0" bIns="0" rtlCol="0" anchor="ctr"/>
          <a:lstStyle/>
          <a:p>
            <a:pPr indent="0" marL="0">
              <a:buNone/>
            </a:pPr>
            <a:r>
              <a:rPr lang="en-US" sz="950" dirty="0">
                <a:solidFill>
                  <a:srgbClr val="8A857A"/>
                </a:solidFill>
                <a:latin typeface="Calibri" pitchFamily="34" charset="0"/>
                <a:ea typeface="Calibri" pitchFamily="34" charset="-122"/>
                <a:cs typeface="Calibri" pitchFamily="34" charset="-120"/>
              </a:rPr>
              <a:t>reuses during planning</a:t>
            </a:r>
            <a:endParaRPr lang="en-US" sz="950" dirty="0"/>
          </a:p>
        </p:txBody>
      </p:sp>
      <p:sp>
        <p:nvSpPr>
          <p:cNvPr id="31" name="Shape 29"/>
          <p:cNvSpPr/>
          <p:nvPr/>
        </p:nvSpPr>
        <p:spPr>
          <a:xfrm>
            <a:off x="3977640" y="5157216"/>
            <a:ext cx="3081528" cy="548640"/>
          </a:xfrm>
          <a:prstGeom prst="roundRect">
            <a:avLst>
              <a:gd name="adj" fmla="val 8333"/>
            </a:avLst>
          </a:prstGeom>
          <a:solidFill>
            <a:srgbClr val="FBF1D8"/>
          </a:solidFill>
          <a:ln w="12700">
            <a:solidFill>
              <a:srgbClr val="FBF1D8"/>
            </a:solidFill>
            <a:prstDash val="solid"/>
          </a:ln>
          <a:effectLst>
            <a:outerShdw sx="100000" sy="100000" kx="0" ky="0" algn="bl" rotWithShape="0" blurRad="101600" dist="12700" dir="5400000">
              <a:srgbClr val="1A1917">
                <a:alpha val="7000"/>
              </a:srgbClr>
            </a:outerShdw>
          </a:effectLst>
        </p:spPr>
      </p:sp>
      <p:sp>
        <p:nvSpPr>
          <p:cNvPr id="32" name="Text 30"/>
          <p:cNvSpPr txBox="1"/>
          <p:nvPr/>
        </p:nvSpPr>
        <p:spPr>
          <a:xfrm>
            <a:off x="4178808" y="5212080"/>
            <a:ext cx="2679192" cy="256032"/>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Operator console</a:t>
            </a:r>
            <a:endParaRPr lang="en-US" sz="1250" dirty="0"/>
          </a:p>
        </p:txBody>
      </p:sp>
      <p:sp>
        <p:nvSpPr>
          <p:cNvPr id="33" name="Text 31"/>
          <p:cNvSpPr txBox="1"/>
          <p:nvPr/>
        </p:nvSpPr>
        <p:spPr>
          <a:xfrm>
            <a:off x="4178808" y="5449824"/>
            <a:ext cx="2679192" cy="201168"/>
          </a:xfrm>
          <a:prstGeom prst="rect">
            <a:avLst/>
          </a:prstGeom>
          <a:noFill/>
          <a:ln/>
        </p:spPr>
        <p:txBody>
          <a:bodyPr wrap="square" lIns="0" tIns="0" rIns="0" bIns="0" rtlCol="0" anchor="ctr"/>
          <a:lstStyle/>
          <a:p>
            <a:pPr indent="0" marL="0">
              <a:buNone/>
            </a:pPr>
            <a:r>
              <a:rPr lang="en-US" sz="950" dirty="0">
                <a:solidFill>
                  <a:srgbClr val="8A857A"/>
                </a:solidFill>
                <a:latin typeface="Calibri" pitchFamily="34" charset="0"/>
                <a:ea typeface="Calibri" pitchFamily="34" charset="-122"/>
                <a:cs typeface="Calibri" pitchFamily="34" charset="-120"/>
              </a:rPr>
              <a:t>one user, the queue</a:t>
            </a:r>
            <a:endParaRPr lang="en-US" sz="950" dirty="0"/>
          </a:p>
        </p:txBody>
      </p:sp>
      <p:sp>
        <p:nvSpPr>
          <p:cNvPr id="34" name="Shape 32"/>
          <p:cNvSpPr/>
          <p:nvPr/>
        </p:nvSpPr>
        <p:spPr>
          <a:xfrm>
            <a:off x="7461504" y="2231136"/>
            <a:ext cx="4069080" cy="804672"/>
          </a:xfrm>
          <a:prstGeom prst="roundRect">
            <a:avLst>
              <a:gd name="adj" fmla="val 6818"/>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35" name="Text 33"/>
          <p:cNvSpPr txBox="1"/>
          <p:nvPr/>
        </p:nvSpPr>
        <p:spPr>
          <a:xfrm>
            <a:off x="7717536" y="2340864"/>
            <a:ext cx="3557016" cy="256032"/>
          </a:xfrm>
          <a:prstGeom prst="rect">
            <a:avLst/>
          </a:prstGeom>
          <a:noFill/>
          <a:ln/>
        </p:spPr>
        <p:txBody>
          <a:bodyPr wrap="square" lIns="0" tIns="0" rIns="0" bIns="0" rtlCol="0" anchor="ctr"/>
          <a:lstStyle/>
          <a:p>
            <a:pPr indent="0" marL="0">
              <a:buNone/>
            </a:pPr>
            <a:r>
              <a:rPr lang="en-US" sz="1250" b="1" dirty="0">
                <a:solidFill>
                  <a:srgbClr val="7D5900"/>
                </a:solidFill>
                <a:latin typeface="Calibri" pitchFamily="34" charset="0"/>
                <a:ea typeface="Calibri" pitchFamily="34" charset="-122"/>
                <a:cs typeface="Calibri" pitchFamily="34" charset="-120"/>
              </a:rPr>
              <a:t>Read-only by default</a:t>
            </a:r>
            <a:endParaRPr lang="en-US" sz="1250" dirty="0"/>
          </a:p>
        </p:txBody>
      </p:sp>
      <p:sp>
        <p:nvSpPr>
          <p:cNvPr id="36" name="Text 34"/>
          <p:cNvSpPr txBox="1"/>
          <p:nvPr/>
        </p:nvSpPr>
        <p:spPr>
          <a:xfrm>
            <a:off x="7717536" y="2596896"/>
            <a:ext cx="3557016" cy="384048"/>
          </a:xfrm>
          <a:prstGeom prst="rect">
            <a:avLst/>
          </a:prstGeom>
          <a:noFill/>
          <a:ln/>
        </p:spPr>
        <p:txBody>
          <a:bodyPr wrap="square" lIns="0" tIns="0" rIns="0" bIns="0" rtlCol="0" anchor="ctr"/>
          <a:lstStyle/>
          <a:p>
            <a:pPr indent="0" marL="0">
              <a:lnSpc>
                <a:spcPct val="112000"/>
              </a:lnSpc>
              <a:buNone/>
            </a:pPr>
            <a:r>
              <a:rPr lang="en-US" sz="1100" dirty="0">
                <a:solidFill>
                  <a:srgbClr val="5F5B51"/>
                </a:solidFill>
                <a:latin typeface="Calibri" pitchFamily="34" charset="0"/>
                <a:ea typeface="Calibri" pitchFamily="34" charset="-122"/>
                <a:cs typeface="Calibri" pitchFamily="34" charset="-120"/>
              </a:rPr>
              <a:t>Nothing in the layer can change an application. Every proposal waits for a person.</a:t>
            </a:r>
            <a:endParaRPr lang="en-US" sz="1100" dirty="0"/>
          </a:p>
        </p:txBody>
      </p:sp>
      <p:sp>
        <p:nvSpPr>
          <p:cNvPr id="37" name="Shape 35"/>
          <p:cNvSpPr/>
          <p:nvPr/>
        </p:nvSpPr>
        <p:spPr>
          <a:xfrm>
            <a:off x="7461504" y="3145536"/>
            <a:ext cx="4069080" cy="804672"/>
          </a:xfrm>
          <a:prstGeom prst="roundRect">
            <a:avLst>
              <a:gd name="adj" fmla="val 6818"/>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38" name="Text 36"/>
          <p:cNvSpPr txBox="1"/>
          <p:nvPr/>
        </p:nvSpPr>
        <p:spPr>
          <a:xfrm>
            <a:off x="7717536" y="3255264"/>
            <a:ext cx="3557016" cy="256032"/>
          </a:xfrm>
          <a:prstGeom prst="rect">
            <a:avLst/>
          </a:prstGeom>
          <a:noFill/>
          <a:ln/>
        </p:spPr>
        <p:txBody>
          <a:bodyPr wrap="square" lIns="0" tIns="0" rIns="0" bIns="0" rtlCol="0" anchor="ctr"/>
          <a:lstStyle/>
          <a:p>
            <a:pPr indent="0" marL="0">
              <a:buNone/>
            </a:pPr>
            <a:r>
              <a:rPr lang="en-US" sz="1250" b="1" dirty="0">
                <a:solidFill>
                  <a:srgbClr val="7D5900"/>
                </a:solidFill>
                <a:latin typeface="Calibri" pitchFamily="34" charset="0"/>
                <a:ea typeface="Calibri" pitchFamily="34" charset="-122"/>
                <a:cs typeface="Calibri" pitchFamily="34" charset="-120"/>
              </a:rPr>
              <a:t>The model is generated</a:t>
            </a:r>
            <a:endParaRPr lang="en-US" sz="1250" dirty="0"/>
          </a:p>
        </p:txBody>
      </p:sp>
      <p:sp>
        <p:nvSpPr>
          <p:cNvPr id="39" name="Text 37"/>
          <p:cNvSpPr txBox="1"/>
          <p:nvPr/>
        </p:nvSpPr>
        <p:spPr>
          <a:xfrm>
            <a:off x="7717536" y="3511296"/>
            <a:ext cx="3557016" cy="384048"/>
          </a:xfrm>
          <a:prstGeom prst="rect">
            <a:avLst/>
          </a:prstGeom>
          <a:noFill/>
          <a:ln/>
        </p:spPr>
        <p:txBody>
          <a:bodyPr wrap="square" lIns="0" tIns="0" rIns="0" bIns="0" rtlCol="0" anchor="ctr"/>
          <a:lstStyle/>
          <a:p>
            <a:pPr indent="0" marL="0">
              <a:lnSpc>
                <a:spcPct val="112000"/>
              </a:lnSpc>
              <a:buNone/>
            </a:pPr>
            <a:r>
              <a:rPr lang="en-US" sz="1100" dirty="0">
                <a:solidFill>
                  <a:srgbClr val="5F5B51"/>
                </a:solidFill>
                <a:latin typeface="Calibri" pitchFamily="34" charset="0"/>
                <a:ea typeface="Calibri" pitchFamily="34" charset="-122"/>
                <a:cs typeface="Calibri" pitchFamily="34" charset="-120"/>
              </a:rPr>
              <a:t>Never hand-maintained. A registry that drifts from reality is worse than none at all.</a:t>
            </a:r>
            <a:endParaRPr lang="en-US" sz="1100" dirty="0"/>
          </a:p>
        </p:txBody>
      </p:sp>
      <p:sp>
        <p:nvSpPr>
          <p:cNvPr id="40" name="Shape 38"/>
          <p:cNvSpPr/>
          <p:nvPr/>
        </p:nvSpPr>
        <p:spPr>
          <a:xfrm>
            <a:off x="7461504" y="4059936"/>
            <a:ext cx="4069080" cy="804672"/>
          </a:xfrm>
          <a:prstGeom prst="roundRect">
            <a:avLst>
              <a:gd name="adj" fmla="val 6818"/>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41" name="Text 39"/>
          <p:cNvSpPr txBox="1"/>
          <p:nvPr/>
        </p:nvSpPr>
        <p:spPr>
          <a:xfrm>
            <a:off x="7717536" y="4169664"/>
            <a:ext cx="3557016" cy="256032"/>
          </a:xfrm>
          <a:prstGeom prst="rect">
            <a:avLst/>
          </a:prstGeom>
          <a:noFill/>
          <a:ln/>
        </p:spPr>
        <p:txBody>
          <a:bodyPr wrap="square" lIns="0" tIns="0" rIns="0" bIns="0" rtlCol="0" anchor="ctr"/>
          <a:lstStyle/>
          <a:p>
            <a:pPr indent="0" marL="0">
              <a:buNone/>
            </a:pPr>
            <a:r>
              <a:rPr lang="en-US" sz="1250" b="1" dirty="0">
                <a:solidFill>
                  <a:srgbClr val="7D5900"/>
                </a:solidFill>
                <a:latin typeface="Calibri" pitchFamily="34" charset="0"/>
                <a:ea typeface="Calibri" pitchFamily="34" charset="-122"/>
                <a:cs typeface="Calibri" pitchFamily="34" charset="-120"/>
              </a:rPr>
              <a:t>Metadata, never data</a:t>
            </a:r>
            <a:endParaRPr lang="en-US" sz="1250" dirty="0"/>
          </a:p>
        </p:txBody>
      </p:sp>
      <p:sp>
        <p:nvSpPr>
          <p:cNvPr id="42" name="Text 40"/>
          <p:cNvSpPr txBox="1"/>
          <p:nvPr/>
        </p:nvSpPr>
        <p:spPr>
          <a:xfrm>
            <a:off x="7717536" y="4425696"/>
            <a:ext cx="3557016" cy="384048"/>
          </a:xfrm>
          <a:prstGeom prst="rect">
            <a:avLst/>
          </a:prstGeom>
          <a:noFill/>
          <a:ln/>
        </p:spPr>
        <p:txBody>
          <a:bodyPr wrap="square" lIns="0" tIns="0" rIns="0" bIns="0" rtlCol="0" anchor="ctr"/>
          <a:lstStyle/>
          <a:p>
            <a:pPr indent="0" marL="0">
              <a:lnSpc>
                <a:spcPct val="112000"/>
              </a:lnSpc>
              <a:buNone/>
            </a:pPr>
            <a:r>
              <a:rPr lang="en-US" sz="1100" dirty="0">
                <a:solidFill>
                  <a:srgbClr val="5F5B51"/>
                </a:solidFill>
                <a:latin typeface="Calibri" pitchFamily="34" charset="0"/>
                <a:ea typeface="Calibri" pitchFamily="34" charset="-122"/>
                <a:cs typeface="Calibri" pitchFamily="34" charset="-120"/>
              </a:rPr>
              <a:t>It describes what a capability does. It never reads the investor database.</a:t>
            </a:r>
            <a:endParaRPr lang="en-US" sz="1100" dirty="0"/>
          </a:p>
        </p:txBody>
      </p:sp>
      <p:sp>
        <p:nvSpPr>
          <p:cNvPr id="43" name="Shape 41"/>
          <p:cNvSpPr/>
          <p:nvPr/>
        </p:nvSpPr>
        <p:spPr>
          <a:xfrm>
            <a:off x="7461504" y="4974336"/>
            <a:ext cx="4069080" cy="804672"/>
          </a:xfrm>
          <a:prstGeom prst="roundRect">
            <a:avLst>
              <a:gd name="adj" fmla="val 6818"/>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44" name="Text 42"/>
          <p:cNvSpPr txBox="1"/>
          <p:nvPr/>
        </p:nvSpPr>
        <p:spPr>
          <a:xfrm>
            <a:off x="7717536" y="5084064"/>
            <a:ext cx="3557016" cy="256032"/>
          </a:xfrm>
          <a:prstGeom prst="rect">
            <a:avLst/>
          </a:prstGeom>
          <a:noFill/>
          <a:ln/>
        </p:spPr>
        <p:txBody>
          <a:bodyPr wrap="square" lIns="0" tIns="0" rIns="0" bIns="0" rtlCol="0" anchor="ctr"/>
          <a:lstStyle/>
          <a:p>
            <a:pPr indent="0" marL="0">
              <a:buNone/>
            </a:pPr>
            <a:r>
              <a:rPr lang="en-US" sz="1250" b="1" dirty="0">
                <a:solidFill>
                  <a:srgbClr val="7D5900"/>
                </a:solidFill>
                <a:latin typeface="Calibri" pitchFamily="34" charset="0"/>
                <a:ea typeface="Calibri" pitchFamily="34" charset="-122"/>
                <a:cs typeface="Calibri" pitchFamily="34" charset="-120"/>
              </a:rPr>
              <a:t>Two parts are ours</a:t>
            </a:r>
            <a:endParaRPr lang="en-US" sz="1250" dirty="0"/>
          </a:p>
        </p:txBody>
      </p:sp>
      <p:sp>
        <p:nvSpPr>
          <p:cNvPr id="45" name="Text 43"/>
          <p:cNvSpPr txBox="1"/>
          <p:nvPr/>
        </p:nvSpPr>
        <p:spPr>
          <a:xfrm>
            <a:off x="7717536" y="5340096"/>
            <a:ext cx="3557016" cy="384048"/>
          </a:xfrm>
          <a:prstGeom prst="rect">
            <a:avLst/>
          </a:prstGeom>
          <a:noFill/>
          <a:ln/>
        </p:spPr>
        <p:txBody>
          <a:bodyPr wrap="square" lIns="0" tIns="0" rIns="0" bIns="0" rtlCol="0" anchor="ctr"/>
          <a:lstStyle/>
          <a:p>
            <a:pPr indent="0" marL="0">
              <a:lnSpc>
                <a:spcPct val="112000"/>
              </a:lnSpc>
              <a:buNone/>
            </a:pPr>
            <a:r>
              <a:rPr lang="en-US" sz="1100" dirty="0">
                <a:solidFill>
                  <a:srgbClr val="5F5B51"/>
                </a:solidFill>
                <a:latin typeface="Calibri" pitchFamily="34" charset="0"/>
                <a:ea typeface="Calibri" pitchFamily="34" charset="-122"/>
                <a:cs typeface="Calibri" pitchFamily="34" charset="-120"/>
              </a:rPr>
              <a:t>The descriptions and the rule. Everything else is a scheduled job and a standard protocol.</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THE STACK</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Almost none of this is new technology.</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658368" y="1956816"/>
            <a:ext cx="10872216" cy="384048"/>
          </a:xfrm>
          <a:prstGeom prst="rect">
            <a:avLst/>
          </a:prstGeom>
          <a:solidFill>
            <a:srgbClr val="FFFFFF"/>
          </a:solidFill>
          <a:ln w="12700">
            <a:solidFill>
              <a:srgbClr val="FFFFFF"/>
            </a:solidFill>
            <a:prstDash val="solid"/>
          </a:ln>
        </p:spPr>
      </p:sp>
      <p:sp>
        <p:nvSpPr>
          <p:cNvPr id="7" name="Text 5"/>
          <p:cNvSpPr txBox="1"/>
          <p:nvPr/>
        </p:nvSpPr>
        <p:spPr>
          <a:xfrm>
            <a:off x="877824" y="1956816"/>
            <a:ext cx="2743200" cy="384048"/>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Source of truth</a:t>
            </a:r>
            <a:endParaRPr lang="en-US" sz="1250" dirty="0"/>
          </a:p>
        </p:txBody>
      </p:sp>
      <p:sp>
        <p:nvSpPr>
          <p:cNvPr id="8" name="Text 6"/>
          <p:cNvSpPr txBox="1"/>
          <p:nvPr/>
        </p:nvSpPr>
        <p:spPr>
          <a:xfrm>
            <a:off x="3712464" y="1956816"/>
            <a:ext cx="5943600" cy="384048"/>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GitHub, unchanged</a:t>
            </a:r>
            <a:endParaRPr lang="en-US" sz="1250" dirty="0"/>
          </a:p>
        </p:txBody>
      </p:sp>
      <p:sp>
        <p:nvSpPr>
          <p:cNvPr id="9" name="Shape 7"/>
          <p:cNvSpPr/>
          <p:nvPr/>
        </p:nvSpPr>
        <p:spPr>
          <a:xfrm>
            <a:off x="9893808" y="2016252"/>
            <a:ext cx="797357" cy="265176"/>
          </a:xfrm>
          <a:prstGeom prst="roundRect">
            <a:avLst>
              <a:gd name="adj" fmla="val 50000"/>
            </a:avLst>
          </a:prstGeom>
          <a:solidFill>
            <a:srgbClr val="EDEBE1"/>
          </a:solidFill>
          <a:ln w="12700">
            <a:solidFill>
              <a:srgbClr val="EDEBE1"/>
            </a:solidFill>
            <a:prstDash val="solid"/>
          </a:ln>
        </p:spPr>
      </p:sp>
      <p:sp>
        <p:nvSpPr>
          <p:cNvPr id="10" name="Text 8"/>
          <p:cNvSpPr txBox="1"/>
          <p:nvPr/>
        </p:nvSpPr>
        <p:spPr>
          <a:xfrm>
            <a:off x="9893808" y="2016252"/>
            <a:ext cx="797357" cy="265176"/>
          </a:xfrm>
          <a:prstGeom prst="rect">
            <a:avLst/>
          </a:prstGeom>
          <a:noFill/>
          <a:ln/>
        </p:spPr>
        <p:txBody>
          <a:bodyPr wrap="square" lIns="0" tIns="0" rIns="0" bIns="0" rtlCol="0" anchor="ctr"/>
          <a:lstStyle/>
          <a:p>
            <a:pPr algn="ctr" indent="0" marL="0">
              <a:buNone/>
            </a:pPr>
            <a:r>
              <a:rPr lang="en-US" sz="1000" b="1" dirty="0">
                <a:solidFill>
                  <a:srgbClr val="5F5B51"/>
                </a:solidFill>
                <a:latin typeface="Calibri" pitchFamily="34" charset="0"/>
                <a:ea typeface="Calibri" pitchFamily="34" charset="-122"/>
                <a:cs typeface="Calibri" pitchFamily="34" charset="-120"/>
              </a:rPr>
              <a:t>existing</a:t>
            </a:r>
            <a:endParaRPr lang="en-US" sz="1000" dirty="0"/>
          </a:p>
        </p:txBody>
      </p:sp>
      <p:sp>
        <p:nvSpPr>
          <p:cNvPr id="11" name="Text 9"/>
          <p:cNvSpPr txBox="1"/>
          <p:nvPr/>
        </p:nvSpPr>
        <p:spPr>
          <a:xfrm>
            <a:off x="877824" y="2340864"/>
            <a:ext cx="2743200" cy="384048"/>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Scheduling</a:t>
            </a:r>
            <a:endParaRPr lang="en-US" sz="1250" dirty="0"/>
          </a:p>
        </p:txBody>
      </p:sp>
      <p:sp>
        <p:nvSpPr>
          <p:cNvPr id="12" name="Text 10"/>
          <p:cNvSpPr txBox="1"/>
          <p:nvPr/>
        </p:nvSpPr>
        <p:spPr>
          <a:xfrm>
            <a:off x="3712464" y="2340864"/>
            <a:ext cx="5943600" cy="384048"/>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GitHub Actions on a cron</a:t>
            </a:r>
            <a:endParaRPr lang="en-US" sz="1250" dirty="0"/>
          </a:p>
        </p:txBody>
      </p:sp>
      <p:sp>
        <p:nvSpPr>
          <p:cNvPr id="13" name="Shape 11"/>
          <p:cNvSpPr/>
          <p:nvPr/>
        </p:nvSpPr>
        <p:spPr>
          <a:xfrm>
            <a:off x="9893808" y="2400300"/>
            <a:ext cx="797357" cy="265176"/>
          </a:xfrm>
          <a:prstGeom prst="roundRect">
            <a:avLst>
              <a:gd name="adj" fmla="val 50000"/>
            </a:avLst>
          </a:prstGeom>
          <a:solidFill>
            <a:srgbClr val="EDEBE1"/>
          </a:solidFill>
          <a:ln w="12700">
            <a:solidFill>
              <a:srgbClr val="EDEBE1"/>
            </a:solidFill>
            <a:prstDash val="solid"/>
          </a:ln>
        </p:spPr>
      </p:sp>
      <p:sp>
        <p:nvSpPr>
          <p:cNvPr id="14" name="Text 12"/>
          <p:cNvSpPr txBox="1"/>
          <p:nvPr/>
        </p:nvSpPr>
        <p:spPr>
          <a:xfrm>
            <a:off x="9893808" y="2400300"/>
            <a:ext cx="797357" cy="265176"/>
          </a:xfrm>
          <a:prstGeom prst="rect">
            <a:avLst/>
          </a:prstGeom>
          <a:noFill/>
          <a:ln/>
        </p:spPr>
        <p:txBody>
          <a:bodyPr wrap="square" lIns="0" tIns="0" rIns="0" bIns="0" rtlCol="0" anchor="ctr"/>
          <a:lstStyle/>
          <a:p>
            <a:pPr algn="ctr" indent="0" marL="0">
              <a:buNone/>
            </a:pPr>
            <a:r>
              <a:rPr lang="en-US" sz="1000" b="1" dirty="0">
                <a:solidFill>
                  <a:srgbClr val="5F5B51"/>
                </a:solidFill>
                <a:latin typeface="Calibri" pitchFamily="34" charset="0"/>
                <a:ea typeface="Calibri" pitchFamily="34" charset="-122"/>
                <a:cs typeface="Calibri" pitchFamily="34" charset="-120"/>
              </a:rPr>
              <a:t>existing</a:t>
            </a:r>
            <a:endParaRPr lang="en-US" sz="1000" dirty="0"/>
          </a:p>
        </p:txBody>
      </p:sp>
      <p:sp>
        <p:nvSpPr>
          <p:cNvPr id="15" name="Shape 13"/>
          <p:cNvSpPr/>
          <p:nvPr/>
        </p:nvSpPr>
        <p:spPr>
          <a:xfrm>
            <a:off x="658368" y="2724912"/>
            <a:ext cx="10872216" cy="384048"/>
          </a:xfrm>
          <a:prstGeom prst="rect">
            <a:avLst/>
          </a:prstGeom>
          <a:solidFill>
            <a:srgbClr val="FFFFFF"/>
          </a:solidFill>
          <a:ln w="12700">
            <a:solidFill>
              <a:srgbClr val="FFFFFF"/>
            </a:solidFill>
            <a:prstDash val="solid"/>
          </a:ln>
        </p:spPr>
      </p:sp>
      <p:sp>
        <p:nvSpPr>
          <p:cNvPr id="16" name="Text 14"/>
          <p:cNvSpPr txBox="1"/>
          <p:nvPr/>
        </p:nvSpPr>
        <p:spPr>
          <a:xfrm>
            <a:off x="877824" y="2724912"/>
            <a:ext cx="2743200" cy="384048"/>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The model store</a:t>
            </a:r>
            <a:endParaRPr lang="en-US" sz="1250" dirty="0"/>
          </a:p>
        </p:txBody>
      </p:sp>
      <p:sp>
        <p:nvSpPr>
          <p:cNvPr id="17" name="Text 15"/>
          <p:cNvSpPr txBox="1"/>
          <p:nvPr/>
        </p:nvSpPr>
        <p:spPr>
          <a:xfrm>
            <a:off x="3712464" y="2724912"/>
            <a:ext cx="5943600" cy="384048"/>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Flat files in a repository, or Postgres if it outgrows that</a:t>
            </a:r>
            <a:endParaRPr lang="en-US" sz="1250" dirty="0"/>
          </a:p>
        </p:txBody>
      </p:sp>
      <p:sp>
        <p:nvSpPr>
          <p:cNvPr id="18" name="Shape 16"/>
          <p:cNvSpPr/>
          <p:nvPr/>
        </p:nvSpPr>
        <p:spPr>
          <a:xfrm>
            <a:off x="9893808" y="2784348"/>
            <a:ext cx="508406" cy="265176"/>
          </a:xfrm>
          <a:prstGeom prst="roundRect">
            <a:avLst>
              <a:gd name="adj" fmla="val 50000"/>
            </a:avLst>
          </a:prstGeom>
          <a:solidFill>
            <a:srgbClr val="FBF1D8"/>
          </a:solidFill>
          <a:ln w="12700">
            <a:solidFill>
              <a:srgbClr val="FBF1D8"/>
            </a:solidFill>
            <a:prstDash val="solid"/>
          </a:ln>
        </p:spPr>
      </p:sp>
      <p:sp>
        <p:nvSpPr>
          <p:cNvPr id="19" name="Text 17"/>
          <p:cNvSpPr txBox="1"/>
          <p:nvPr/>
        </p:nvSpPr>
        <p:spPr>
          <a:xfrm>
            <a:off x="9893808" y="2784348"/>
            <a:ext cx="508406" cy="265176"/>
          </a:xfrm>
          <a:prstGeom prst="rect">
            <a:avLst/>
          </a:prstGeom>
          <a:noFill/>
          <a:ln/>
        </p:spPr>
        <p:txBody>
          <a:bodyPr wrap="square" lIns="0" tIns="0" rIns="0" bIns="0" rtlCol="0" anchor="ctr"/>
          <a:lstStyle/>
          <a:p>
            <a:pPr algn="ctr" indent="0" marL="0">
              <a:buNone/>
            </a:pPr>
            <a:r>
              <a:rPr lang="en-US" sz="1000" b="1" dirty="0">
                <a:solidFill>
                  <a:srgbClr val="7D5900"/>
                </a:solidFill>
                <a:latin typeface="Calibri" pitchFamily="34" charset="0"/>
                <a:ea typeface="Calibri" pitchFamily="34" charset="-122"/>
                <a:cs typeface="Calibri" pitchFamily="34" charset="-120"/>
              </a:rPr>
              <a:t>ours</a:t>
            </a:r>
            <a:endParaRPr lang="en-US" sz="1000" dirty="0"/>
          </a:p>
        </p:txBody>
      </p:sp>
      <p:sp>
        <p:nvSpPr>
          <p:cNvPr id="20" name="Text 18"/>
          <p:cNvSpPr txBox="1"/>
          <p:nvPr/>
        </p:nvSpPr>
        <p:spPr>
          <a:xfrm>
            <a:off x="877824" y="3108960"/>
            <a:ext cx="2743200" cy="384048"/>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Capability descriptions</a:t>
            </a:r>
            <a:endParaRPr lang="en-US" sz="1250" dirty="0"/>
          </a:p>
        </p:txBody>
      </p:sp>
      <p:sp>
        <p:nvSpPr>
          <p:cNvPr id="21" name="Text 19"/>
          <p:cNvSpPr txBox="1"/>
          <p:nvPr/>
        </p:nvSpPr>
        <p:spPr>
          <a:xfrm>
            <a:off x="3712464" y="3108960"/>
            <a:ext cx="5943600" cy="384048"/>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Written to be read by a model, generated and reviewed</a:t>
            </a:r>
            <a:endParaRPr lang="en-US" sz="1250" dirty="0"/>
          </a:p>
        </p:txBody>
      </p:sp>
      <p:sp>
        <p:nvSpPr>
          <p:cNvPr id="22" name="Shape 20"/>
          <p:cNvSpPr/>
          <p:nvPr/>
        </p:nvSpPr>
        <p:spPr>
          <a:xfrm>
            <a:off x="9893808" y="3168396"/>
            <a:ext cx="508406" cy="265176"/>
          </a:xfrm>
          <a:prstGeom prst="roundRect">
            <a:avLst>
              <a:gd name="adj" fmla="val 50000"/>
            </a:avLst>
          </a:prstGeom>
          <a:solidFill>
            <a:srgbClr val="FBF1D8"/>
          </a:solidFill>
          <a:ln w="12700">
            <a:solidFill>
              <a:srgbClr val="FBF1D8"/>
            </a:solidFill>
            <a:prstDash val="solid"/>
          </a:ln>
        </p:spPr>
      </p:sp>
      <p:sp>
        <p:nvSpPr>
          <p:cNvPr id="23" name="Text 21"/>
          <p:cNvSpPr txBox="1"/>
          <p:nvPr/>
        </p:nvSpPr>
        <p:spPr>
          <a:xfrm>
            <a:off x="9893808" y="3168396"/>
            <a:ext cx="508406" cy="265176"/>
          </a:xfrm>
          <a:prstGeom prst="rect">
            <a:avLst/>
          </a:prstGeom>
          <a:noFill/>
          <a:ln/>
        </p:spPr>
        <p:txBody>
          <a:bodyPr wrap="square" lIns="0" tIns="0" rIns="0" bIns="0" rtlCol="0" anchor="ctr"/>
          <a:lstStyle/>
          <a:p>
            <a:pPr algn="ctr" indent="0" marL="0">
              <a:buNone/>
            </a:pPr>
            <a:r>
              <a:rPr lang="en-US" sz="1000" b="1" dirty="0">
                <a:solidFill>
                  <a:srgbClr val="7D5900"/>
                </a:solidFill>
                <a:latin typeface="Calibri" pitchFamily="34" charset="0"/>
                <a:ea typeface="Calibri" pitchFamily="34" charset="-122"/>
                <a:cs typeface="Calibri" pitchFamily="34" charset="-120"/>
              </a:rPr>
              <a:t>ours</a:t>
            </a:r>
            <a:endParaRPr lang="en-US" sz="1000" dirty="0"/>
          </a:p>
        </p:txBody>
      </p:sp>
      <p:sp>
        <p:nvSpPr>
          <p:cNvPr id="24" name="Shape 22"/>
          <p:cNvSpPr/>
          <p:nvPr/>
        </p:nvSpPr>
        <p:spPr>
          <a:xfrm>
            <a:off x="658368" y="3493008"/>
            <a:ext cx="10872216" cy="384048"/>
          </a:xfrm>
          <a:prstGeom prst="rect">
            <a:avLst/>
          </a:prstGeom>
          <a:solidFill>
            <a:srgbClr val="FFFFFF"/>
          </a:solidFill>
          <a:ln w="12700">
            <a:solidFill>
              <a:srgbClr val="FFFFFF"/>
            </a:solidFill>
            <a:prstDash val="solid"/>
          </a:ln>
        </p:spPr>
      </p:sp>
      <p:sp>
        <p:nvSpPr>
          <p:cNvPr id="25" name="Text 23"/>
          <p:cNvSpPr txBox="1"/>
          <p:nvPr/>
        </p:nvSpPr>
        <p:spPr>
          <a:xfrm>
            <a:off x="877824" y="3493008"/>
            <a:ext cx="2743200" cy="384048"/>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Semantic search</a:t>
            </a:r>
            <a:endParaRPr lang="en-US" sz="1250" dirty="0"/>
          </a:p>
        </p:txBody>
      </p:sp>
      <p:sp>
        <p:nvSpPr>
          <p:cNvPr id="26" name="Text 24"/>
          <p:cNvSpPr txBox="1"/>
          <p:nvPr/>
        </p:nvSpPr>
        <p:spPr>
          <a:xfrm>
            <a:off x="3712464" y="3493008"/>
            <a:ext cx="5943600" cy="384048"/>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Off-the-shelf embeddings plus a vector index</a:t>
            </a:r>
            <a:endParaRPr lang="en-US" sz="1250" dirty="0"/>
          </a:p>
        </p:txBody>
      </p:sp>
      <p:sp>
        <p:nvSpPr>
          <p:cNvPr id="27" name="Shape 25"/>
          <p:cNvSpPr/>
          <p:nvPr/>
        </p:nvSpPr>
        <p:spPr>
          <a:xfrm>
            <a:off x="9893808" y="3552444"/>
            <a:ext cx="652882" cy="265176"/>
          </a:xfrm>
          <a:prstGeom prst="roundRect">
            <a:avLst>
              <a:gd name="adj" fmla="val 50000"/>
            </a:avLst>
          </a:prstGeom>
          <a:solidFill>
            <a:srgbClr val="E5EFE6"/>
          </a:solidFill>
          <a:ln w="12700">
            <a:solidFill>
              <a:srgbClr val="E5EFE6"/>
            </a:solidFill>
            <a:prstDash val="solid"/>
          </a:ln>
        </p:spPr>
      </p:sp>
      <p:sp>
        <p:nvSpPr>
          <p:cNvPr id="28" name="Text 26"/>
          <p:cNvSpPr txBox="1"/>
          <p:nvPr/>
        </p:nvSpPr>
        <p:spPr>
          <a:xfrm>
            <a:off x="9893808" y="3552444"/>
            <a:ext cx="652882" cy="265176"/>
          </a:xfrm>
          <a:prstGeom prst="rect">
            <a:avLst/>
          </a:prstGeom>
          <a:noFill/>
          <a:ln/>
        </p:spPr>
        <p:txBody>
          <a:bodyPr wrap="square" lIns="0" tIns="0" rIns="0" bIns="0" rtlCol="0" anchor="ctr"/>
          <a:lstStyle/>
          <a:p>
            <a:pPr algn="ctr" indent="0" marL="0">
              <a:buNone/>
            </a:pPr>
            <a:r>
              <a:rPr lang="en-US" sz="1000" b="1" dirty="0">
                <a:solidFill>
                  <a:srgbClr val="2F6B3F"/>
                </a:solidFill>
                <a:latin typeface="Calibri" pitchFamily="34" charset="0"/>
                <a:ea typeface="Calibri" pitchFamily="34" charset="-122"/>
                <a:cs typeface="Calibri" pitchFamily="34" charset="-120"/>
              </a:rPr>
              <a:t>bought</a:t>
            </a:r>
            <a:endParaRPr lang="en-US" sz="1000" dirty="0"/>
          </a:p>
        </p:txBody>
      </p:sp>
      <p:sp>
        <p:nvSpPr>
          <p:cNvPr id="29" name="Text 27"/>
          <p:cNvSpPr txBox="1"/>
          <p:nvPr/>
        </p:nvSpPr>
        <p:spPr>
          <a:xfrm>
            <a:off x="877824" y="3877056"/>
            <a:ext cx="2743200" cy="384048"/>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MCP server</a:t>
            </a:r>
            <a:endParaRPr lang="en-US" sz="1250" dirty="0"/>
          </a:p>
        </p:txBody>
      </p:sp>
      <p:sp>
        <p:nvSpPr>
          <p:cNvPr id="30" name="Text 28"/>
          <p:cNvSpPr txBox="1"/>
          <p:nvPr/>
        </p:nvSpPr>
        <p:spPr>
          <a:xfrm>
            <a:off x="3712464" y="3877056"/>
            <a:ext cx="5943600" cy="384048"/>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TypeScript MCP SDK, deployed on Vercel or Railway</a:t>
            </a:r>
            <a:endParaRPr lang="en-US" sz="1250" dirty="0"/>
          </a:p>
        </p:txBody>
      </p:sp>
      <p:sp>
        <p:nvSpPr>
          <p:cNvPr id="31" name="Shape 29"/>
          <p:cNvSpPr/>
          <p:nvPr/>
        </p:nvSpPr>
        <p:spPr>
          <a:xfrm>
            <a:off x="9893808" y="3936492"/>
            <a:ext cx="508406" cy="265176"/>
          </a:xfrm>
          <a:prstGeom prst="roundRect">
            <a:avLst>
              <a:gd name="adj" fmla="val 50000"/>
            </a:avLst>
          </a:prstGeom>
          <a:solidFill>
            <a:srgbClr val="E5EFE6"/>
          </a:solidFill>
          <a:ln w="12700">
            <a:solidFill>
              <a:srgbClr val="E5EFE6"/>
            </a:solidFill>
            <a:prstDash val="solid"/>
          </a:ln>
        </p:spPr>
      </p:sp>
      <p:sp>
        <p:nvSpPr>
          <p:cNvPr id="32" name="Text 30"/>
          <p:cNvSpPr txBox="1"/>
          <p:nvPr/>
        </p:nvSpPr>
        <p:spPr>
          <a:xfrm>
            <a:off x="9893808" y="3936492"/>
            <a:ext cx="508406" cy="265176"/>
          </a:xfrm>
          <a:prstGeom prst="rect">
            <a:avLst/>
          </a:prstGeom>
          <a:noFill/>
          <a:ln/>
        </p:spPr>
        <p:txBody>
          <a:bodyPr wrap="square" lIns="0" tIns="0" rIns="0" bIns="0" rtlCol="0" anchor="ctr"/>
          <a:lstStyle/>
          <a:p>
            <a:pPr algn="ctr" indent="0" marL="0">
              <a:buNone/>
            </a:pPr>
            <a:r>
              <a:rPr lang="en-US" sz="1000" b="1" dirty="0">
                <a:solidFill>
                  <a:srgbClr val="2F6B3F"/>
                </a:solidFill>
                <a:latin typeface="Calibri" pitchFamily="34" charset="0"/>
                <a:ea typeface="Calibri" pitchFamily="34" charset="-122"/>
                <a:cs typeface="Calibri" pitchFamily="34" charset="-120"/>
              </a:rPr>
              <a:t>thin</a:t>
            </a:r>
            <a:endParaRPr lang="en-US" sz="1000" dirty="0"/>
          </a:p>
        </p:txBody>
      </p:sp>
      <p:sp>
        <p:nvSpPr>
          <p:cNvPr id="33" name="Shape 31"/>
          <p:cNvSpPr/>
          <p:nvPr/>
        </p:nvSpPr>
        <p:spPr>
          <a:xfrm>
            <a:off x="658368" y="4261104"/>
            <a:ext cx="10872216" cy="384048"/>
          </a:xfrm>
          <a:prstGeom prst="rect">
            <a:avLst/>
          </a:prstGeom>
          <a:solidFill>
            <a:srgbClr val="FFFFFF"/>
          </a:solidFill>
          <a:ln w="12700">
            <a:solidFill>
              <a:srgbClr val="FFFFFF"/>
            </a:solidFill>
            <a:prstDash val="solid"/>
          </a:ln>
        </p:spPr>
      </p:sp>
      <p:sp>
        <p:nvSpPr>
          <p:cNvPr id="34" name="Text 32"/>
          <p:cNvSpPr txBox="1"/>
          <p:nvPr/>
        </p:nvSpPr>
        <p:spPr>
          <a:xfrm>
            <a:off x="877824" y="4261104"/>
            <a:ext cx="2743200" cy="384048"/>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Evaluations</a:t>
            </a:r>
            <a:endParaRPr lang="en-US" sz="1250" dirty="0"/>
          </a:p>
        </p:txBody>
      </p:sp>
      <p:sp>
        <p:nvSpPr>
          <p:cNvPr id="35" name="Text 33"/>
          <p:cNvSpPr txBox="1"/>
          <p:nvPr/>
        </p:nvSpPr>
        <p:spPr>
          <a:xfrm>
            <a:off x="3712464" y="4261104"/>
            <a:ext cx="5943600" cy="384048"/>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Their existing eval suite, wired into MERGE-GATE</a:t>
            </a:r>
            <a:endParaRPr lang="en-US" sz="1250" dirty="0"/>
          </a:p>
        </p:txBody>
      </p:sp>
      <p:sp>
        <p:nvSpPr>
          <p:cNvPr id="36" name="Shape 34"/>
          <p:cNvSpPr/>
          <p:nvPr/>
        </p:nvSpPr>
        <p:spPr>
          <a:xfrm>
            <a:off x="9893808" y="4320540"/>
            <a:ext cx="797357" cy="265176"/>
          </a:xfrm>
          <a:prstGeom prst="roundRect">
            <a:avLst>
              <a:gd name="adj" fmla="val 50000"/>
            </a:avLst>
          </a:prstGeom>
          <a:solidFill>
            <a:srgbClr val="EDEBE1"/>
          </a:solidFill>
          <a:ln w="12700">
            <a:solidFill>
              <a:srgbClr val="EDEBE1"/>
            </a:solidFill>
            <a:prstDash val="solid"/>
          </a:ln>
        </p:spPr>
      </p:sp>
      <p:sp>
        <p:nvSpPr>
          <p:cNvPr id="37" name="Text 35"/>
          <p:cNvSpPr txBox="1"/>
          <p:nvPr/>
        </p:nvSpPr>
        <p:spPr>
          <a:xfrm>
            <a:off x="9893808" y="4320540"/>
            <a:ext cx="797357" cy="265176"/>
          </a:xfrm>
          <a:prstGeom prst="rect">
            <a:avLst/>
          </a:prstGeom>
          <a:noFill/>
          <a:ln/>
        </p:spPr>
        <p:txBody>
          <a:bodyPr wrap="square" lIns="0" tIns="0" rIns="0" bIns="0" rtlCol="0" anchor="ctr"/>
          <a:lstStyle/>
          <a:p>
            <a:pPr algn="ctr" indent="0" marL="0">
              <a:buNone/>
            </a:pPr>
            <a:r>
              <a:rPr lang="en-US" sz="1000" b="1" dirty="0">
                <a:solidFill>
                  <a:srgbClr val="5F5B51"/>
                </a:solidFill>
                <a:latin typeface="Calibri" pitchFamily="34" charset="0"/>
                <a:ea typeface="Calibri" pitchFamily="34" charset="-122"/>
                <a:cs typeface="Calibri" pitchFamily="34" charset="-120"/>
              </a:rPr>
              <a:t>existing</a:t>
            </a:r>
            <a:endParaRPr lang="en-US" sz="1000" dirty="0"/>
          </a:p>
        </p:txBody>
      </p:sp>
      <p:sp>
        <p:nvSpPr>
          <p:cNvPr id="38" name="Text 36"/>
          <p:cNvSpPr txBox="1"/>
          <p:nvPr/>
        </p:nvSpPr>
        <p:spPr>
          <a:xfrm>
            <a:off x="877824" y="4645152"/>
            <a:ext cx="2743200" cy="384048"/>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Console</a:t>
            </a:r>
            <a:endParaRPr lang="en-US" sz="1250" dirty="0"/>
          </a:p>
        </p:txBody>
      </p:sp>
      <p:sp>
        <p:nvSpPr>
          <p:cNvPr id="39" name="Text 37"/>
          <p:cNvSpPr txBox="1"/>
          <p:nvPr/>
        </p:nvSpPr>
        <p:spPr>
          <a:xfrm>
            <a:off x="3712464" y="4645152"/>
            <a:ext cx="5943600" cy="384048"/>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A static page reading the model</a:t>
            </a:r>
            <a:endParaRPr lang="en-US" sz="1250" dirty="0"/>
          </a:p>
        </p:txBody>
      </p:sp>
      <p:sp>
        <p:nvSpPr>
          <p:cNvPr id="40" name="Shape 38"/>
          <p:cNvSpPr/>
          <p:nvPr/>
        </p:nvSpPr>
        <p:spPr>
          <a:xfrm>
            <a:off x="9893808" y="4704588"/>
            <a:ext cx="508406" cy="265176"/>
          </a:xfrm>
          <a:prstGeom prst="roundRect">
            <a:avLst>
              <a:gd name="adj" fmla="val 50000"/>
            </a:avLst>
          </a:prstGeom>
          <a:solidFill>
            <a:srgbClr val="E5EFE6"/>
          </a:solidFill>
          <a:ln w="12700">
            <a:solidFill>
              <a:srgbClr val="E5EFE6"/>
            </a:solidFill>
            <a:prstDash val="solid"/>
          </a:ln>
        </p:spPr>
      </p:sp>
      <p:sp>
        <p:nvSpPr>
          <p:cNvPr id="41" name="Text 39"/>
          <p:cNvSpPr txBox="1"/>
          <p:nvPr/>
        </p:nvSpPr>
        <p:spPr>
          <a:xfrm>
            <a:off x="9893808" y="4704588"/>
            <a:ext cx="508406" cy="265176"/>
          </a:xfrm>
          <a:prstGeom prst="rect">
            <a:avLst/>
          </a:prstGeom>
          <a:noFill/>
          <a:ln/>
        </p:spPr>
        <p:txBody>
          <a:bodyPr wrap="square" lIns="0" tIns="0" rIns="0" bIns="0" rtlCol="0" anchor="ctr"/>
          <a:lstStyle/>
          <a:p>
            <a:pPr algn="ctr" indent="0" marL="0">
              <a:buNone/>
            </a:pPr>
            <a:r>
              <a:rPr lang="en-US" sz="1000" b="1" dirty="0">
                <a:solidFill>
                  <a:srgbClr val="2F6B3F"/>
                </a:solidFill>
                <a:latin typeface="Calibri" pitchFamily="34" charset="0"/>
                <a:ea typeface="Calibri" pitchFamily="34" charset="-122"/>
                <a:cs typeface="Calibri" pitchFamily="34" charset="-120"/>
              </a:rPr>
              <a:t>thin</a:t>
            </a:r>
            <a:endParaRPr lang="en-US" sz="1000" dirty="0"/>
          </a:p>
        </p:txBody>
      </p:sp>
      <p:sp>
        <p:nvSpPr>
          <p:cNvPr id="42" name="Shape 40"/>
          <p:cNvSpPr/>
          <p:nvPr/>
        </p:nvSpPr>
        <p:spPr>
          <a:xfrm>
            <a:off x="658368" y="5029200"/>
            <a:ext cx="10872216" cy="384048"/>
          </a:xfrm>
          <a:prstGeom prst="rect">
            <a:avLst/>
          </a:prstGeom>
          <a:solidFill>
            <a:srgbClr val="FFFFFF"/>
          </a:solidFill>
          <a:ln w="12700">
            <a:solidFill>
              <a:srgbClr val="FFFFFF"/>
            </a:solidFill>
            <a:prstDash val="solid"/>
          </a:ln>
        </p:spPr>
      </p:sp>
      <p:sp>
        <p:nvSpPr>
          <p:cNvPr id="43" name="Text 41"/>
          <p:cNvSpPr txBox="1"/>
          <p:nvPr/>
        </p:nvSpPr>
        <p:spPr>
          <a:xfrm>
            <a:off x="877824" y="5029200"/>
            <a:ext cx="2743200" cy="384048"/>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Observability</a:t>
            </a:r>
            <a:endParaRPr lang="en-US" sz="1250" dirty="0"/>
          </a:p>
        </p:txBody>
      </p:sp>
      <p:sp>
        <p:nvSpPr>
          <p:cNvPr id="44" name="Text 42"/>
          <p:cNvSpPr txBox="1"/>
          <p:nvPr/>
        </p:nvSpPr>
        <p:spPr>
          <a:xfrm>
            <a:off x="3712464" y="5029200"/>
            <a:ext cx="5943600" cy="384048"/>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OpenTelemetry into whichever backend they pick</a:t>
            </a:r>
            <a:endParaRPr lang="en-US" sz="1250" dirty="0"/>
          </a:p>
        </p:txBody>
      </p:sp>
      <p:sp>
        <p:nvSpPr>
          <p:cNvPr id="45" name="Shape 43"/>
          <p:cNvSpPr/>
          <p:nvPr/>
        </p:nvSpPr>
        <p:spPr>
          <a:xfrm>
            <a:off x="9893808" y="5088636"/>
            <a:ext cx="652882" cy="265176"/>
          </a:xfrm>
          <a:prstGeom prst="roundRect">
            <a:avLst>
              <a:gd name="adj" fmla="val 50000"/>
            </a:avLst>
          </a:prstGeom>
          <a:solidFill>
            <a:srgbClr val="E5EFE6"/>
          </a:solidFill>
          <a:ln w="12700">
            <a:solidFill>
              <a:srgbClr val="E5EFE6"/>
            </a:solidFill>
            <a:prstDash val="solid"/>
          </a:ln>
        </p:spPr>
      </p:sp>
      <p:sp>
        <p:nvSpPr>
          <p:cNvPr id="46" name="Text 44"/>
          <p:cNvSpPr txBox="1"/>
          <p:nvPr/>
        </p:nvSpPr>
        <p:spPr>
          <a:xfrm>
            <a:off x="9893808" y="5088636"/>
            <a:ext cx="652882" cy="265176"/>
          </a:xfrm>
          <a:prstGeom prst="rect">
            <a:avLst/>
          </a:prstGeom>
          <a:noFill/>
          <a:ln/>
        </p:spPr>
        <p:txBody>
          <a:bodyPr wrap="square" lIns="0" tIns="0" rIns="0" bIns="0" rtlCol="0" anchor="ctr"/>
          <a:lstStyle/>
          <a:p>
            <a:pPr algn="ctr" indent="0" marL="0">
              <a:buNone/>
            </a:pPr>
            <a:r>
              <a:rPr lang="en-US" sz="1000" b="1" dirty="0">
                <a:solidFill>
                  <a:srgbClr val="2F6B3F"/>
                </a:solidFill>
                <a:latin typeface="Calibri" pitchFamily="34" charset="0"/>
                <a:ea typeface="Calibri" pitchFamily="34" charset="-122"/>
                <a:cs typeface="Calibri" pitchFamily="34" charset="-120"/>
              </a:rPr>
              <a:t>bought</a:t>
            </a:r>
            <a:endParaRPr lang="en-US" sz="1000" dirty="0"/>
          </a:p>
        </p:txBody>
      </p:sp>
      <p:sp>
        <p:nvSpPr>
          <p:cNvPr id="47" name="Text 45"/>
          <p:cNvSpPr txBox="1"/>
          <p:nvPr/>
        </p:nvSpPr>
        <p:spPr>
          <a:xfrm>
            <a:off x="877824" y="5413248"/>
            <a:ext cx="2743200" cy="384048"/>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Identity and secrets</a:t>
            </a:r>
            <a:endParaRPr lang="en-US" sz="1250" dirty="0"/>
          </a:p>
        </p:txBody>
      </p:sp>
      <p:sp>
        <p:nvSpPr>
          <p:cNvPr id="48" name="Text 46"/>
          <p:cNvSpPr txBox="1"/>
          <p:nvPr/>
        </p:nvSpPr>
        <p:spPr>
          <a:xfrm>
            <a:off x="3712464" y="5413248"/>
            <a:ext cx="5943600" cy="384048"/>
          </a:xfrm>
          <a:prstGeom prst="rect">
            <a:avLst/>
          </a:prstGeom>
          <a:noFill/>
          <a:ln/>
        </p:spPr>
        <p:txBody>
          <a:bodyPr wrap="square" lIns="0" tIns="0" rIns="0" bIns="0" rtlCol="0" anchor="ctr"/>
          <a:lstStyle/>
          <a:p>
            <a:pPr indent="0" marL="0">
              <a:buNone/>
            </a:pPr>
            <a:r>
              <a:rPr lang="en-US" sz="1250" dirty="0">
                <a:solidFill>
                  <a:srgbClr val="5F5B51"/>
                </a:solidFill>
                <a:latin typeface="Calibri" pitchFamily="34" charset="0"/>
                <a:ea typeface="Calibri" pitchFamily="34" charset="-122"/>
                <a:cs typeface="Calibri" pitchFamily="34" charset="-120"/>
              </a:rPr>
              <a:t>Whatever the IT and security work lands on</a:t>
            </a:r>
            <a:endParaRPr lang="en-US" sz="1250" dirty="0"/>
          </a:p>
        </p:txBody>
      </p:sp>
      <p:sp>
        <p:nvSpPr>
          <p:cNvPr id="49" name="Shape 47"/>
          <p:cNvSpPr/>
          <p:nvPr/>
        </p:nvSpPr>
        <p:spPr>
          <a:xfrm>
            <a:off x="9893808" y="5472684"/>
            <a:ext cx="797357" cy="265176"/>
          </a:xfrm>
          <a:prstGeom prst="roundRect">
            <a:avLst>
              <a:gd name="adj" fmla="val 50000"/>
            </a:avLst>
          </a:prstGeom>
          <a:solidFill>
            <a:srgbClr val="F9E8E7"/>
          </a:solidFill>
          <a:ln w="12700">
            <a:solidFill>
              <a:srgbClr val="F9E8E7"/>
            </a:solidFill>
            <a:prstDash val="solid"/>
          </a:ln>
        </p:spPr>
      </p:sp>
      <p:sp>
        <p:nvSpPr>
          <p:cNvPr id="50" name="Text 48"/>
          <p:cNvSpPr txBox="1"/>
          <p:nvPr/>
        </p:nvSpPr>
        <p:spPr>
          <a:xfrm>
            <a:off x="9893808" y="5472684"/>
            <a:ext cx="797357" cy="265176"/>
          </a:xfrm>
          <a:prstGeom prst="rect">
            <a:avLst/>
          </a:prstGeom>
          <a:noFill/>
          <a:ln/>
        </p:spPr>
        <p:txBody>
          <a:bodyPr wrap="square" lIns="0" tIns="0" rIns="0" bIns="0" rtlCol="0" anchor="ctr"/>
          <a:lstStyle/>
          <a:p>
            <a:pPr algn="ctr" indent="0" marL="0">
              <a:buNone/>
            </a:pPr>
            <a:r>
              <a:rPr lang="en-US" sz="1000" b="1" dirty="0">
                <a:solidFill>
                  <a:srgbClr val="B3261E"/>
                </a:solidFill>
                <a:latin typeface="Calibri" pitchFamily="34" charset="0"/>
                <a:ea typeface="Calibri" pitchFamily="34" charset="-122"/>
                <a:cs typeface="Calibri" pitchFamily="34" charset="-120"/>
              </a:rPr>
              <a:t>external</a:t>
            </a:r>
            <a:endParaRPr lang="en-US" sz="1000" dirty="0"/>
          </a:p>
        </p:txBody>
      </p:sp>
      <p:sp>
        <p:nvSpPr>
          <p:cNvPr id="51" name="Text 49"/>
          <p:cNvSpPr txBox="1"/>
          <p:nvPr/>
        </p:nvSpPr>
        <p:spPr>
          <a:xfrm>
            <a:off x="658368" y="5943600"/>
            <a:ext cx="10654772" cy="329184"/>
          </a:xfrm>
          <a:prstGeom prst="rect">
            <a:avLst/>
          </a:prstGeom>
          <a:noFill/>
          <a:ln/>
        </p:spPr>
        <p:txBody>
          <a:bodyPr wrap="square" lIns="0" tIns="0" rIns="0" bIns="0" rtlCol="0" anchor="ctr"/>
          <a:lstStyle/>
          <a:p>
            <a:pPr indent="0" marL="0">
              <a:buNone/>
            </a:pPr>
            <a:r>
              <a:rPr lang="en-US" sz="1250" b="1" dirty="0">
                <a:solidFill>
                  <a:srgbClr val="7D5900"/>
                </a:solidFill>
                <a:latin typeface="Calibri" pitchFamily="34" charset="0"/>
                <a:ea typeface="Calibri" pitchFamily="34" charset="-122"/>
                <a:cs typeface="Calibri" pitchFamily="34" charset="-120"/>
              </a:rPr>
              <a:t>Two rows are genuinely ours, and one of them is prose rather than code. Everything else is a cron job, a standard protocol, or something Capital Factory already runs.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THE BIGGER PICTURE</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This is not a Capital Factory problem.</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658368" y="2286000"/>
            <a:ext cx="10872216" cy="1554480"/>
          </a:xfrm>
          <a:prstGeom prst="roundRect">
            <a:avLst>
              <a:gd name="adj" fmla="val 3529"/>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1207008" y="2615184"/>
            <a:ext cx="9774936" cy="914400"/>
          </a:xfrm>
          <a:prstGeom prst="rect">
            <a:avLst/>
          </a:prstGeom>
          <a:noFill/>
          <a:ln/>
        </p:spPr>
        <p:txBody>
          <a:bodyPr wrap="square" lIns="0" tIns="0" rIns="0" bIns="0" rtlCol="0" anchor="ctr"/>
          <a:lstStyle/>
          <a:p>
            <a:pPr indent="0" marL="0">
              <a:lnSpc>
                <a:spcPct val="114000"/>
              </a:lnSpc>
              <a:buNone/>
            </a:pPr>
            <a:r>
              <a:rPr lang="en-US" sz="2400" b="1" dirty="0">
                <a:solidFill>
                  <a:srgbClr val="F8F7F1"/>
                </a:solidFill>
                <a:latin typeface="Cambria" pitchFamily="34" charset="0"/>
                <a:ea typeface="Cambria" pitchFamily="34" charset="-122"/>
                <a:cs typeface="Cambria" pitchFamily="34" charset="-120"/>
              </a:rPr>
              <a:t>Any organization that let capable people build with AI for eighteen months has this exact estate.</a:t>
            </a:r>
            <a:endParaRPr lang="en-US" sz="2400" dirty="0"/>
          </a:p>
        </p:txBody>
      </p:sp>
      <p:sp>
        <p:nvSpPr>
          <p:cNvPr id="8" name="Shape 6"/>
          <p:cNvSpPr/>
          <p:nvPr/>
        </p:nvSpPr>
        <p:spPr>
          <a:xfrm>
            <a:off x="658368" y="4114800"/>
            <a:ext cx="2498598" cy="1188720"/>
          </a:xfrm>
          <a:prstGeom prst="roundRect">
            <a:avLst>
              <a:gd name="adj" fmla="val 4615"/>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9" name="Text 7"/>
          <p:cNvSpPr txBox="1"/>
          <p:nvPr/>
        </p:nvSpPr>
        <p:spPr>
          <a:xfrm>
            <a:off x="914400" y="4334256"/>
            <a:ext cx="1986534" cy="457200"/>
          </a:xfrm>
          <a:prstGeom prst="rect">
            <a:avLst/>
          </a:prstGeom>
          <a:noFill/>
          <a:ln/>
        </p:spPr>
        <p:txBody>
          <a:bodyPr wrap="square" lIns="0" tIns="0" rIns="0" bIns="0" rtlCol="0" anchor="ctr"/>
          <a:lstStyle/>
          <a:p>
            <a:pPr indent="0" marL="0">
              <a:lnSpc>
                <a:spcPct val="110000"/>
              </a:lnSpc>
              <a:buNone/>
            </a:pPr>
            <a:r>
              <a:rPr lang="en-US" sz="1300" b="1" dirty="0">
                <a:solidFill>
                  <a:srgbClr val="1A1917"/>
                </a:solidFill>
                <a:latin typeface="Calibri" pitchFamily="34" charset="0"/>
                <a:ea typeface="Calibri" pitchFamily="34" charset="-122"/>
                <a:cs typeface="Calibri" pitchFamily="34" charset="-120"/>
              </a:rPr>
              <a:t>Dozens of applications</a:t>
            </a:r>
            <a:endParaRPr lang="en-US" sz="1300" dirty="0"/>
          </a:p>
        </p:txBody>
      </p:sp>
      <p:sp>
        <p:nvSpPr>
          <p:cNvPr id="10" name="Text 8"/>
          <p:cNvSpPr txBox="1"/>
          <p:nvPr/>
        </p:nvSpPr>
        <p:spPr>
          <a:xfrm>
            <a:off x="914400" y="4791456"/>
            <a:ext cx="1986534" cy="384048"/>
          </a:xfrm>
          <a:prstGeom prst="rect">
            <a:avLst/>
          </a:prstGeom>
          <a:noFill/>
          <a:ln/>
        </p:spPr>
        <p:txBody>
          <a:bodyPr wrap="square" lIns="0" tIns="0" rIns="0" bIns="0" rtlCol="0" anchor="ctr"/>
          <a:lstStyle/>
          <a:p>
            <a:pPr indent="0" marL="0">
              <a:buNone/>
            </a:pPr>
            <a:r>
              <a:rPr lang="en-US" sz="1150" dirty="0">
                <a:solidFill>
                  <a:srgbClr val="5F5B51"/>
                </a:solidFill>
                <a:latin typeface="Calibri" pitchFamily="34" charset="0"/>
                <a:ea typeface="Calibri" pitchFamily="34" charset="-122"/>
                <a:cs typeface="Calibri" pitchFamily="34" charset="-120"/>
              </a:rPr>
              <a:t>nobody has counted recently</a:t>
            </a:r>
            <a:endParaRPr lang="en-US" sz="1150" dirty="0"/>
          </a:p>
        </p:txBody>
      </p:sp>
      <p:sp>
        <p:nvSpPr>
          <p:cNvPr id="11" name="Shape 9"/>
          <p:cNvSpPr/>
          <p:nvPr/>
        </p:nvSpPr>
        <p:spPr>
          <a:xfrm>
            <a:off x="3449574" y="4114800"/>
            <a:ext cx="2498598" cy="1188720"/>
          </a:xfrm>
          <a:prstGeom prst="roundRect">
            <a:avLst>
              <a:gd name="adj" fmla="val 4615"/>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2" name="Text 10"/>
          <p:cNvSpPr txBox="1"/>
          <p:nvPr/>
        </p:nvSpPr>
        <p:spPr>
          <a:xfrm>
            <a:off x="3705606" y="4334256"/>
            <a:ext cx="1986534" cy="457200"/>
          </a:xfrm>
          <a:prstGeom prst="rect">
            <a:avLst/>
          </a:prstGeom>
          <a:noFill/>
          <a:ln/>
        </p:spPr>
        <p:txBody>
          <a:bodyPr wrap="square" lIns="0" tIns="0" rIns="0" bIns="0" rtlCol="0" anchor="ctr"/>
          <a:lstStyle/>
          <a:p>
            <a:pPr indent="0" marL="0">
              <a:lnSpc>
                <a:spcPct val="110000"/>
              </a:lnSpc>
              <a:buNone/>
            </a:pPr>
            <a:r>
              <a:rPr lang="en-US" sz="1300" b="1" dirty="0">
                <a:solidFill>
                  <a:srgbClr val="1A1917"/>
                </a:solidFill>
                <a:latin typeface="Calibri" pitchFamily="34" charset="0"/>
                <a:ea typeface="Calibri" pitchFamily="34" charset="-122"/>
                <a:cs typeface="Calibri" pitchFamily="34" charset="-120"/>
              </a:rPr>
              <a:t>Overlapping capabilities</a:t>
            </a:r>
            <a:endParaRPr lang="en-US" sz="1300" dirty="0"/>
          </a:p>
        </p:txBody>
      </p:sp>
      <p:sp>
        <p:nvSpPr>
          <p:cNvPr id="13" name="Text 11"/>
          <p:cNvSpPr txBox="1"/>
          <p:nvPr/>
        </p:nvSpPr>
        <p:spPr>
          <a:xfrm>
            <a:off x="3705606" y="4791456"/>
            <a:ext cx="1986534" cy="384048"/>
          </a:xfrm>
          <a:prstGeom prst="rect">
            <a:avLst/>
          </a:prstGeom>
          <a:noFill/>
          <a:ln/>
        </p:spPr>
        <p:txBody>
          <a:bodyPr wrap="square" lIns="0" tIns="0" rIns="0" bIns="0" rtlCol="0" anchor="ctr"/>
          <a:lstStyle/>
          <a:p>
            <a:pPr indent="0" marL="0">
              <a:buNone/>
            </a:pPr>
            <a:r>
              <a:rPr lang="en-US" sz="1150" dirty="0">
                <a:solidFill>
                  <a:srgbClr val="5F5B51"/>
                </a:solidFill>
                <a:latin typeface="Calibri" pitchFamily="34" charset="0"/>
                <a:ea typeface="Calibri" pitchFamily="34" charset="-122"/>
                <a:cs typeface="Calibri" pitchFamily="34" charset="-120"/>
              </a:rPr>
              <a:t>discovered by accident</a:t>
            </a:r>
            <a:endParaRPr lang="en-US" sz="1150" dirty="0"/>
          </a:p>
        </p:txBody>
      </p:sp>
      <p:sp>
        <p:nvSpPr>
          <p:cNvPr id="14" name="Shape 12"/>
          <p:cNvSpPr/>
          <p:nvPr/>
        </p:nvSpPr>
        <p:spPr>
          <a:xfrm>
            <a:off x="6240780" y="4114800"/>
            <a:ext cx="2498598" cy="1188720"/>
          </a:xfrm>
          <a:prstGeom prst="roundRect">
            <a:avLst>
              <a:gd name="adj" fmla="val 4615"/>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5" name="Text 13"/>
          <p:cNvSpPr txBox="1"/>
          <p:nvPr/>
        </p:nvSpPr>
        <p:spPr>
          <a:xfrm>
            <a:off x="6496812" y="4334256"/>
            <a:ext cx="1986534" cy="457200"/>
          </a:xfrm>
          <a:prstGeom prst="rect">
            <a:avLst/>
          </a:prstGeom>
          <a:noFill/>
          <a:ln/>
        </p:spPr>
        <p:txBody>
          <a:bodyPr wrap="square" lIns="0" tIns="0" rIns="0" bIns="0" rtlCol="0" anchor="ctr"/>
          <a:lstStyle/>
          <a:p>
            <a:pPr indent="0" marL="0">
              <a:lnSpc>
                <a:spcPct val="110000"/>
              </a:lnSpc>
              <a:buNone/>
            </a:pPr>
            <a:r>
              <a:rPr lang="en-US" sz="1300" b="1" dirty="0">
                <a:solidFill>
                  <a:srgbClr val="1A1917"/>
                </a:solidFill>
                <a:latin typeface="Calibri" pitchFamily="34" charset="0"/>
                <a:ea typeface="Calibri" pitchFamily="34" charset="-122"/>
                <a:cs typeface="Calibri" pitchFamily="34" charset="-120"/>
              </a:rPr>
              <a:t>No registry</a:t>
            </a:r>
            <a:endParaRPr lang="en-US" sz="1300" dirty="0"/>
          </a:p>
        </p:txBody>
      </p:sp>
      <p:sp>
        <p:nvSpPr>
          <p:cNvPr id="16" name="Text 14"/>
          <p:cNvSpPr txBox="1"/>
          <p:nvPr/>
        </p:nvSpPr>
        <p:spPr>
          <a:xfrm>
            <a:off x="6496812" y="4791456"/>
            <a:ext cx="1986534" cy="384048"/>
          </a:xfrm>
          <a:prstGeom prst="rect">
            <a:avLst/>
          </a:prstGeom>
          <a:noFill/>
          <a:ln/>
        </p:spPr>
        <p:txBody>
          <a:bodyPr wrap="square" lIns="0" tIns="0" rIns="0" bIns="0" rtlCol="0" anchor="ctr"/>
          <a:lstStyle/>
          <a:p>
            <a:pPr indent="0" marL="0">
              <a:buNone/>
            </a:pPr>
            <a:r>
              <a:rPr lang="en-US" sz="1150" dirty="0">
                <a:solidFill>
                  <a:srgbClr val="5F5B51"/>
                </a:solidFill>
                <a:latin typeface="Calibri" pitchFamily="34" charset="0"/>
                <a:ea typeface="Calibri" pitchFamily="34" charset="-122"/>
                <a:cs typeface="Calibri" pitchFamily="34" charset="-120"/>
              </a:rPr>
              <a:t>and almost no evaluations</a:t>
            </a:r>
            <a:endParaRPr lang="en-US" sz="1150" dirty="0"/>
          </a:p>
        </p:txBody>
      </p:sp>
      <p:sp>
        <p:nvSpPr>
          <p:cNvPr id="17" name="Shape 15"/>
          <p:cNvSpPr/>
          <p:nvPr/>
        </p:nvSpPr>
        <p:spPr>
          <a:xfrm>
            <a:off x="9031986" y="4114800"/>
            <a:ext cx="2498598" cy="1188720"/>
          </a:xfrm>
          <a:prstGeom prst="roundRect">
            <a:avLst>
              <a:gd name="adj" fmla="val 4615"/>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8" name="Text 16"/>
          <p:cNvSpPr txBox="1"/>
          <p:nvPr/>
        </p:nvSpPr>
        <p:spPr>
          <a:xfrm>
            <a:off x="9288018" y="4334256"/>
            <a:ext cx="1986534" cy="457200"/>
          </a:xfrm>
          <a:prstGeom prst="rect">
            <a:avLst/>
          </a:prstGeom>
          <a:noFill/>
          <a:ln/>
        </p:spPr>
        <p:txBody>
          <a:bodyPr wrap="square" lIns="0" tIns="0" rIns="0" bIns="0" rtlCol="0" anchor="ctr"/>
          <a:lstStyle/>
          <a:p>
            <a:pPr indent="0" marL="0">
              <a:lnSpc>
                <a:spcPct val="110000"/>
              </a:lnSpc>
              <a:buNone/>
            </a:pPr>
            <a:r>
              <a:rPr lang="en-US" sz="1300" b="1" dirty="0">
                <a:solidFill>
                  <a:srgbClr val="1A1917"/>
                </a:solidFill>
                <a:latin typeface="Calibri" pitchFamily="34" charset="0"/>
                <a:ea typeface="Calibri" pitchFamily="34" charset="-122"/>
                <a:cs typeface="Calibri" pitchFamily="34" charset="-120"/>
              </a:rPr>
              <a:t>Ownership in people's heads</a:t>
            </a:r>
            <a:endParaRPr lang="en-US" sz="1300" dirty="0"/>
          </a:p>
        </p:txBody>
      </p:sp>
      <p:sp>
        <p:nvSpPr>
          <p:cNvPr id="19" name="Text 17"/>
          <p:cNvSpPr txBox="1"/>
          <p:nvPr/>
        </p:nvSpPr>
        <p:spPr>
          <a:xfrm>
            <a:off x="9288018" y="4791456"/>
            <a:ext cx="1986534" cy="384048"/>
          </a:xfrm>
          <a:prstGeom prst="rect">
            <a:avLst/>
          </a:prstGeom>
          <a:noFill/>
          <a:ln/>
        </p:spPr>
        <p:txBody>
          <a:bodyPr wrap="square" lIns="0" tIns="0" rIns="0" bIns="0" rtlCol="0" anchor="ctr"/>
          <a:lstStyle/>
          <a:p>
            <a:pPr indent="0" marL="0">
              <a:buNone/>
            </a:pPr>
            <a:r>
              <a:rPr lang="en-US" sz="1150" dirty="0">
                <a:solidFill>
                  <a:srgbClr val="5F5B51"/>
                </a:solidFill>
                <a:latin typeface="Calibri" pitchFamily="34" charset="0"/>
                <a:ea typeface="Calibri" pitchFamily="34" charset="-122"/>
                <a:cs typeface="Calibri" pitchFamily="34" charset="-120"/>
              </a:rPr>
              <a:t>and in individual repositories</a:t>
            </a:r>
            <a:endParaRPr lang="en-US" sz="1150" dirty="0"/>
          </a:p>
        </p:txBody>
      </p:sp>
      <p:sp>
        <p:nvSpPr>
          <p:cNvPr id="20" name="Text 18"/>
          <p:cNvSpPr txBox="1"/>
          <p:nvPr/>
        </p:nvSpPr>
        <p:spPr>
          <a:xfrm>
            <a:off x="658368" y="5559552"/>
            <a:ext cx="10872216" cy="365760"/>
          </a:xfrm>
          <a:prstGeom prst="rect">
            <a:avLst/>
          </a:prstGeom>
          <a:noFill/>
          <a:ln/>
        </p:spPr>
        <p:txBody>
          <a:bodyPr wrap="square" lIns="0" tIns="0" rIns="0" bIns="0" rtlCol="0" anchor="ctr"/>
          <a:lstStyle/>
          <a:p>
            <a:pPr indent="0" marL="0">
              <a:buNone/>
            </a:pPr>
            <a:r>
              <a:rPr lang="en-US" sz="1800" b="1" dirty="0">
                <a:solidFill>
                  <a:srgbClr val="7D5900"/>
                </a:solidFill>
                <a:latin typeface="Cambria" pitchFamily="34" charset="0"/>
                <a:ea typeface="Cambria" pitchFamily="34" charset="-122"/>
                <a:cs typeface="Cambria" pitchFamily="34" charset="-120"/>
              </a:rPr>
              <a:t>Capital Factory is unusual only in having measured it.</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THE MARKET</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An industry already sells the catalog we started with.</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658368" y="2286000"/>
            <a:ext cx="3380232" cy="2432304"/>
          </a:xfrm>
          <a:prstGeom prst="roundRect">
            <a:avLst>
              <a:gd name="adj" fmla="val 2256"/>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969264" y="2505456"/>
            <a:ext cx="2758440" cy="310896"/>
          </a:xfrm>
          <a:prstGeom prst="rect">
            <a:avLst/>
          </a:prstGeom>
          <a:noFill/>
          <a:ln/>
        </p:spPr>
        <p:txBody>
          <a:bodyPr wrap="square" lIns="0" tIns="0" rIns="0" bIns="0" rtlCol="0" anchor="ctr"/>
          <a:lstStyle/>
          <a:p>
            <a:pPr indent="0" marL="0">
              <a:buNone/>
            </a:pPr>
            <a:r>
              <a:rPr lang="en-US" sz="1300" b="1" spc="100" kern="0" dirty="0">
                <a:solidFill>
                  <a:srgbClr val="7D5900"/>
                </a:solidFill>
                <a:latin typeface="Calibri" pitchFamily="34" charset="0"/>
                <a:ea typeface="Calibri" pitchFamily="34" charset="-122"/>
                <a:cs typeface="Calibri" pitchFamily="34" charset="-120"/>
              </a:rPr>
              <a:t>Developer portals</a:t>
            </a:r>
            <a:endParaRPr lang="en-US" sz="1300" dirty="0"/>
          </a:p>
        </p:txBody>
      </p:sp>
      <p:sp>
        <p:nvSpPr>
          <p:cNvPr id="8" name="Text 6"/>
          <p:cNvSpPr txBox="1"/>
          <p:nvPr/>
        </p:nvSpPr>
        <p:spPr>
          <a:xfrm>
            <a:off x="969264" y="2871216"/>
            <a:ext cx="2758440" cy="1188720"/>
          </a:xfrm>
          <a:prstGeom prst="rect">
            <a:avLst/>
          </a:prstGeom>
          <a:noFill/>
          <a:ln/>
        </p:spPr>
        <p:txBody>
          <a:bodyPr wrap="square" lIns="0" tIns="0" rIns="0" bIns="0" rtlCol="0" anchor="ctr"/>
          <a:lstStyle/>
          <a:p>
            <a:pPr indent="0" marL="0">
              <a:lnSpc>
                <a:spcPct val="122000"/>
              </a:lnSpc>
              <a:buNone/>
            </a:pPr>
            <a:r>
              <a:rPr lang="en-US" sz="1400" dirty="0">
                <a:solidFill>
                  <a:srgbClr val="1A1917"/>
                </a:solidFill>
                <a:latin typeface="Calibri" pitchFamily="34" charset="0"/>
                <a:ea typeface="Calibri" pitchFamily="34" charset="-122"/>
                <a:cs typeface="Calibri" pitchFamily="34" charset="-120"/>
              </a:rPr>
              <a:t>Port</a:t>
            </a:r>
            <a:endParaRPr lang="en-US" sz="1400" dirty="0"/>
          </a:p>
          <a:p>
            <a:pPr indent="0" marL="0">
              <a:lnSpc>
                <a:spcPct val="122000"/>
              </a:lnSpc>
              <a:buNone/>
            </a:pPr>
            <a:r>
              <a:rPr lang="en-US" sz="1400" dirty="0">
                <a:solidFill>
                  <a:srgbClr val="1A1917"/>
                </a:solidFill>
                <a:latin typeface="Calibri" pitchFamily="34" charset="0"/>
                <a:ea typeface="Calibri" pitchFamily="34" charset="-122"/>
                <a:cs typeface="Calibri" pitchFamily="34" charset="-120"/>
              </a:rPr>
              <a:t>Backstage</a:t>
            </a:r>
            <a:endParaRPr lang="en-US" sz="1400" dirty="0"/>
          </a:p>
          <a:p>
            <a:pPr indent="0" marL="0">
              <a:lnSpc>
                <a:spcPct val="122000"/>
              </a:lnSpc>
              <a:buNone/>
            </a:pPr>
            <a:r>
              <a:rPr lang="en-US" sz="1400" dirty="0">
                <a:solidFill>
                  <a:srgbClr val="1A1917"/>
                </a:solidFill>
                <a:latin typeface="Calibri" pitchFamily="34" charset="0"/>
                <a:ea typeface="Calibri" pitchFamily="34" charset="-122"/>
                <a:cs typeface="Calibri" pitchFamily="34" charset="-120"/>
              </a:rPr>
              <a:t>Cortex</a:t>
            </a:r>
            <a:endParaRPr lang="en-US" sz="1400" dirty="0"/>
          </a:p>
          <a:p>
            <a:pPr indent="0" marL="0">
              <a:lnSpc>
                <a:spcPct val="122000"/>
              </a:lnSpc>
              <a:buNone/>
            </a:pPr>
            <a:r>
              <a:rPr lang="en-US" sz="1400" dirty="0">
                <a:solidFill>
                  <a:srgbClr val="1A1917"/>
                </a:solidFill>
                <a:latin typeface="Calibri" pitchFamily="34" charset="0"/>
                <a:ea typeface="Calibri" pitchFamily="34" charset="-122"/>
                <a:cs typeface="Calibri" pitchFamily="34" charset="-120"/>
              </a:rPr>
              <a:t>OpsLevel</a:t>
            </a:r>
            <a:endParaRPr lang="en-US" sz="1400" dirty="0"/>
          </a:p>
        </p:txBody>
      </p:sp>
      <p:sp>
        <p:nvSpPr>
          <p:cNvPr id="9" name="Text 7"/>
          <p:cNvSpPr txBox="1"/>
          <p:nvPr/>
        </p:nvSpPr>
        <p:spPr>
          <a:xfrm>
            <a:off x="969264" y="4078224"/>
            <a:ext cx="2758440" cy="512064"/>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Applications, owners, deployments, operational health</a:t>
            </a:r>
            <a:endParaRPr lang="en-US" sz="1150" dirty="0"/>
          </a:p>
        </p:txBody>
      </p:sp>
      <p:sp>
        <p:nvSpPr>
          <p:cNvPr id="10" name="Shape 8"/>
          <p:cNvSpPr/>
          <p:nvPr/>
        </p:nvSpPr>
        <p:spPr>
          <a:xfrm>
            <a:off x="4404360" y="2286000"/>
            <a:ext cx="3380232" cy="2432304"/>
          </a:xfrm>
          <a:prstGeom prst="roundRect">
            <a:avLst>
              <a:gd name="adj" fmla="val 2256"/>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1" name="Text 9"/>
          <p:cNvSpPr txBox="1"/>
          <p:nvPr/>
        </p:nvSpPr>
        <p:spPr>
          <a:xfrm>
            <a:off x="4715256" y="2505456"/>
            <a:ext cx="2758440" cy="310896"/>
          </a:xfrm>
          <a:prstGeom prst="rect">
            <a:avLst/>
          </a:prstGeom>
          <a:noFill/>
          <a:ln/>
        </p:spPr>
        <p:txBody>
          <a:bodyPr wrap="square" lIns="0" tIns="0" rIns="0" bIns="0" rtlCol="0" anchor="ctr"/>
          <a:lstStyle/>
          <a:p>
            <a:pPr indent="0" marL="0">
              <a:buNone/>
            </a:pPr>
            <a:r>
              <a:rPr lang="en-US" sz="1300" b="1" spc="100" kern="0" dirty="0">
                <a:solidFill>
                  <a:srgbClr val="7D5900"/>
                </a:solidFill>
                <a:latin typeface="Calibri" pitchFamily="34" charset="0"/>
                <a:ea typeface="Calibri" pitchFamily="34" charset="-122"/>
                <a:cs typeface="Calibri" pitchFamily="34" charset="-120"/>
              </a:rPr>
              <a:t>Agent management</a:t>
            </a:r>
            <a:endParaRPr lang="en-US" sz="1300" dirty="0"/>
          </a:p>
        </p:txBody>
      </p:sp>
      <p:sp>
        <p:nvSpPr>
          <p:cNvPr id="12" name="Text 10"/>
          <p:cNvSpPr txBox="1"/>
          <p:nvPr/>
        </p:nvSpPr>
        <p:spPr>
          <a:xfrm>
            <a:off x="4715256" y="2871216"/>
            <a:ext cx="2758440" cy="1188720"/>
          </a:xfrm>
          <a:prstGeom prst="rect">
            <a:avLst/>
          </a:prstGeom>
          <a:noFill/>
          <a:ln/>
        </p:spPr>
        <p:txBody>
          <a:bodyPr wrap="square" lIns="0" tIns="0" rIns="0" bIns="0" rtlCol="0" anchor="ctr"/>
          <a:lstStyle/>
          <a:p>
            <a:pPr indent="0" marL="0">
              <a:lnSpc>
                <a:spcPct val="122000"/>
              </a:lnSpc>
              <a:buNone/>
            </a:pPr>
            <a:r>
              <a:rPr lang="en-US" sz="1400" dirty="0">
                <a:solidFill>
                  <a:srgbClr val="1A1917"/>
                </a:solidFill>
                <a:latin typeface="Calibri" pitchFamily="34" charset="0"/>
                <a:ea typeface="Calibri" pitchFamily="34" charset="-122"/>
                <a:cs typeface="Calibri" pitchFamily="34" charset="-120"/>
              </a:rPr>
              <a:t>ServiceNow AI Control Tower</a:t>
            </a:r>
            <a:endParaRPr lang="en-US" sz="1400" dirty="0"/>
          </a:p>
          <a:p>
            <a:pPr indent="0" marL="0">
              <a:lnSpc>
                <a:spcPct val="122000"/>
              </a:lnSpc>
              <a:buNone/>
            </a:pPr>
            <a:r>
              <a:rPr lang="en-US" sz="1400" dirty="0">
                <a:solidFill>
                  <a:srgbClr val="1A1917"/>
                </a:solidFill>
                <a:latin typeface="Calibri" pitchFamily="34" charset="0"/>
                <a:ea typeface="Calibri" pitchFamily="34" charset="-122"/>
                <a:cs typeface="Calibri" pitchFamily="34" charset="-120"/>
              </a:rPr>
              <a:t>Microsoft Agent 365</a:t>
            </a:r>
            <a:endParaRPr lang="en-US" sz="1400" dirty="0"/>
          </a:p>
          <a:p>
            <a:pPr indent="0" marL="0">
              <a:lnSpc>
                <a:spcPct val="122000"/>
              </a:lnSpc>
              <a:buNone/>
            </a:pPr>
            <a:r>
              <a:rPr lang="en-US" sz="1400" dirty="0">
                <a:solidFill>
                  <a:srgbClr val="1A1917"/>
                </a:solidFill>
                <a:latin typeface="Calibri" pitchFamily="34" charset="0"/>
                <a:ea typeface="Calibri" pitchFamily="34" charset="-122"/>
                <a:cs typeface="Calibri" pitchFamily="34" charset="-120"/>
              </a:rPr>
              <a:t>IBM watsonx Orchestrate</a:t>
            </a:r>
            <a:endParaRPr lang="en-US" sz="1400" dirty="0"/>
          </a:p>
          <a:p>
            <a:pPr indent="0" marL="0">
              <a:lnSpc>
                <a:spcPct val="122000"/>
              </a:lnSpc>
              <a:buNone/>
            </a:pPr>
            <a:r>
              <a:rPr lang="en-US" sz="1400" dirty="0">
                <a:solidFill>
                  <a:srgbClr val="1A1917"/>
                </a:solidFill>
                <a:latin typeface="Calibri" pitchFamily="34" charset="0"/>
                <a:ea typeface="Calibri" pitchFamily="34" charset="-122"/>
                <a:cs typeface="Calibri" pitchFamily="34" charset="-120"/>
              </a:rPr>
              <a:t>Kore.ai · Airia</a:t>
            </a:r>
            <a:endParaRPr lang="en-US" sz="1400" dirty="0"/>
          </a:p>
        </p:txBody>
      </p:sp>
      <p:sp>
        <p:nvSpPr>
          <p:cNvPr id="13" name="Text 11"/>
          <p:cNvSpPr txBox="1"/>
          <p:nvPr/>
        </p:nvSpPr>
        <p:spPr>
          <a:xfrm>
            <a:off x="4715256" y="4078224"/>
            <a:ext cx="2758440" cy="512064"/>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Inventory, govern, observe, sometimes orchestrate</a:t>
            </a:r>
            <a:endParaRPr lang="en-US" sz="1150" dirty="0"/>
          </a:p>
        </p:txBody>
      </p:sp>
      <p:sp>
        <p:nvSpPr>
          <p:cNvPr id="14" name="Shape 12"/>
          <p:cNvSpPr/>
          <p:nvPr/>
        </p:nvSpPr>
        <p:spPr>
          <a:xfrm>
            <a:off x="8150352" y="2286000"/>
            <a:ext cx="3380232" cy="2432304"/>
          </a:xfrm>
          <a:prstGeom prst="roundRect">
            <a:avLst>
              <a:gd name="adj" fmla="val 2256"/>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5" name="Text 13"/>
          <p:cNvSpPr txBox="1"/>
          <p:nvPr/>
        </p:nvSpPr>
        <p:spPr>
          <a:xfrm>
            <a:off x="8461248" y="2505456"/>
            <a:ext cx="2758440" cy="310896"/>
          </a:xfrm>
          <a:prstGeom prst="rect">
            <a:avLst/>
          </a:prstGeom>
          <a:noFill/>
          <a:ln/>
        </p:spPr>
        <p:txBody>
          <a:bodyPr wrap="square" lIns="0" tIns="0" rIns="0" bIns="0" rtlCol="0" anchor="ctr"/>
          <a:lstStyle/>
          <a:p>
            <a:pPr indent="0" marL="0">
              <a:buNone/>
            </a:pPr>
            <a:r>
              <a:rPr lang="en-US" sz="1300" b="1" spc="100" kern="0" dirty="0">
                <a:solidFill>
                  <a:srgbClr val="7D5900"/>
                </a:solidFill>
                <a:latin typeface="Calibri" pitchFamily="34" charset="0"/>
                <a:ea typeface="Calibri" pitchFamily="34" charset="-122"/>
                <a:cs typeface="Calibri" pitchFamily="34" charset="-120"/>
              </a:rPr>
              <a:t>AI supply chain and identity</a:t>
            </a:r>
            <a:endParaRPr lang="en-US" sz="1300" dirty="0"/>
          </a:p>
        </p:txBody>
      </p:sp>
      <p:sp>
        <p:nvSpPr>
          <p:cNvPr id="16" name="Text 14"/>
          <p:cNvSpPr txBox="1"/>
          <p:nvPr/>
        </p:nvSpPr>
        <p:spPr>
          <a:xfrm>
            <a:off x="8461248" y="2871216"/>
            <a:ext cx="2758440" cy="1188720"/>
          </a:xfrm>
          <a:prstGeom prst="rect">
            <a:avLst/>
          </a:prstGeom>
          <a:noFill/>
          <a:ln/>
        </p:spPr>
        <p:txBody>
          <a:bodyPr wrap="square" lIns="0" tIns="0" rIns="0" bIns="0" rtlCol="0" anchor="ctr"/>
          <a:lstStyle/>
          <a:p>
            <a:pPr indent="0" marL="0">
              <a:lnSpc>
                <a:spcPct val="122000"/>
              </a:lnSpc>
              <a:buNone/>
            </a:pPr>
            <a:r>
              <a:rPr lang="en-US" sz="1400" dirty="0">
                <a:solidFill>
                  <a:srgbClr val="1A1917"/>
                </a:solidFill>
                <a:latin typeface="Calibri" pitchFamily="34" charset="0"/>
                <a:ea typeface="Calibri" pitchFamily="34" charset="-122"/>
                <a:cs typeface="Calibri" pitchFamily="34" charset="-120"/>
              </a:rPr>
              <a:t>JFrog AI Catalog</a:t>
            </a:r>
            <a:endParaRPr lang="en-US" sz="1400" dirty="0"/>
          </a:p>
          <a:p>
            <a:pPr indent="0" marL="0">
              <a:lnSpc>
                <a:spcPct val="122000"/>
              </a:lnSpc>
              <a:buNone/>
            </a:pPr>
            <a:r>
              <a:rPr lang="en-US" sz="1400" dirty="0">
                <a:solidFill>
                  <a:srgbClr val="1A1917"/>
                </a:solidFill>
                <a:latin typeface="Calibri" pitchFamily="34" charset="0"/>
                <a:ea typeface="Calibri" pitchFamily="34" charset="-122"/>
                <a:cs typeface="Calibri" pitchFamily="34" charset="-120"/>
              </a:rPr>
              <a:t>Okta for AI Agents</a:t>
            </a:r>
            <a:endParaRPr lang="en-US" sz="1400" dirty="0"/>
          </a:p>
          <a:p>
            <a:pPr indent="0" marL="0">
              <a:lnSpc>
                <a:spcPct val="122000"/>
              </a:lnSpc>
              <a:buNone/>
            </a:pPr>
            <a:r>
              <a:rPr lang="en-US" sz="1400" dirty="0">
                <a:solidFill>
                  <a:srgbClr val="1A1917"/>
                </a:solidFill>
                <a:latin typeface="Calibri" pitchFamily="34" charset="0"/>
                <a:ea typeface="Calibri" pitchFamily="34" charset="-122"/>
                <a:cs typeface="Calibri" pitchFamily="34" charset="-120"/>
              </a:rPr>
              <a:t>Drata</a:t>
            </a:r>
            <a:endParaRPr lang="en-US" sz="1400" dirty="0"/>
          </a:p>
        </p:txBody>
      </p:sp>
      <p:sp>
        <p:nvSpPr>
          <p:cNvPr id="17" name="Text 15"/>
          <p:cNvSpPr txBox="1"/>
          <p:nvPr/>
        </p:nvSpPr>
        <p:spPr>
          <a:xfrm>
            <a:off x="8461248" y="4078224"/>
            <a:ext cx="2758440" cy="512064"/>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Skill registries, agent identity, compliance evidence</a:t>
            </a:r>
            <a:endParaRPr lang="en-US" sz="1150" dirty="0"/>
          </a:p>
        </p:txBody>
      </p:sp>
      <p:sp>
        <p:nvSpPr>
          <p:cNvPr id="18" name="Shape 16"/>
          <p:cNvSpPr/>
          <p:nvPr/>
        </p:nvSpPr>
        <p:spPr>
          <a:xfrm>
            <a:off x="658368" y="4882896"/>
            <a:ext cx="10872216" cy="969264"/>
          </a:xfrm>
          <a:prstGeom prst="roundRect">
            <a:avLst>
              <a:gd name="adj" fmla="val 5660"/>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19" name="Text 17"/>
          <p:cNvSpPr txBox="1"/>
          <p:nvPr/>
        </p:nvSpPr>
        <p:spPr>
          <a:xfrm>
            <a:off x="1115568" y="5120640"/>
            <a:ext cx="9957816" cy="548640"/>
          </a:xfrm>
          <a:prstGeom prst="rect">
            <a:avLst/>
          </a:prstGeom>
          <a:noFill/>
          <a:ln/>
        </p:spPr>
        <p:txBody>
          <a:bodyPr wrap="square" lIns="0" tIns="0" rIns="0" bIns="0" rtlCol="0" anchor="ctr"/>
          <a:lstStyle/>
          <a:p>
            <a:pPr indent="0" marL="0">
              <a:lnSpc>
                <a:spcPct val="110000"/>
              </a:lnSpc>
              <a:buNone/>
            </a:pPr>
            <a:r>
              <a:rPr lang="en-US" sz="1900" b="1" dirty="0">
                <a:solidFill>
                  <a:srgbClr val="F2A900"/>
                </a:solidFill>
                <a:latin typeface="Cambria" pitchFamily="34" charset="0"/>
                <a:ea typeface="Cambria" pitchFamily="34" charset="-122"/>
                <a:cs typeface="Cambria" pitchFamily="34" charset="-120"/>
              </a:rPr>
              <a:t>Every one of them governs what already exists. Discover, inventory, assign owners, monitor, report. All of it after something is built.</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THE GAP</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Nobody is in the room when somebody decides to build.</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658368" y="2286000"/>
            <a:ext cx="5244084" cy="2468880"/>
          </a:xfrm>
          <a:prstGeom prst="roundRect">
            <a:avLst>
              <a:gd name="adj" fmla="val 2222"/>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1024128" y="2523744"/>
            <a:ext cx="4512564" cy="310896"/>
          </a:xfrm>
          <a:prstGeom prst="rect">
            <a:avLst/>
          </a:prstGeom>
          <a:noFill/>
          <a:ln/>
        </p:spPr>
        <p:txBody>
          <a:bodyPr wrap="square" lIns="0" tIns="0" rIns="0" bIns="0" rtlCol="0" anchor="ctr"/>
          <a:lstStyle/>
          <a:p>
            <a:pPr indent="0" marL="0">
              <a:buNone/>
            </a:pPr>
            <a:r>
              <a:rPr lang="en-US" sz="1200" b="1" spc="150" kern="0" dirty="0">
                <a:solidFill>
                  <a:srgbClr val="8A857A"/>
                </a:solidFill>
                <a:latin typeface="Calibri" pitchFamily="34" charset="0"/>
                <a:ea typeface="Calibri" pitchFamily="34" charset="-122"/>
                <a:cs typeface="Calibri" pitchFamily="34" charset="-120"/>
              </a:rPr>
              <a:t>What the market sells</a:t>
            </a:r>
            <a:endParaRPr lang="en-US" sz="1200" dirty="0"/>
          </a:p>
        </p:txBody>
      </p:sp>
      <p:sp>
        <p:nvSpPr>
          <p:cNvPr id="8" name="Text 6"/>
          <p:cNvSpPr txBox="1"/>
          <p:nvPr/>
        </p:nvSpPr>
        <p:spPr>
          <a:xfrm>
            <a:off x="1024128" y="2926080"/>
            <a:ext cx="4512564" cy="164592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5F5B51"/>
                </a:solidFill>
                <a:latin typeface="Calibri" pitchFamily="34" charset="0"/>
                <a:ea typeface="Calibri" pitchFamily="34" charset="-122"/>
                <a:cs typeface="Calibri" pitchFamily="34" charset="-120"/>
              </a:rPr>
              <a:t>Inventory and governance</a:t>
            </a:r>
            <a:endParaRPr lang="en-US" sz="1350" dirty="0"/>
          </a:p>
          <a:p>
            <a:pPr marL="342900" indent="-342900">
              <a:spcAft>
                <a:spcPts val="800"/>
              </a:spcAft>
              <a:buSzPct val="100000"/>
              <a:buChar char="•"/>
            </a:pPr>
            <a:r>
              <a:rPr lang="en-US" sz="1350" dirty="0">
                <a:solidFill>
                  <a:srgbClr val="5F5B51"/>
                </a:solidFill>
                <a:latin typeface="Calibri" pitchFamily="34" charset="0"/>
                <a:ea typeface="Calibri" pitchFamily="34" charset="-122"/>
                <a:cs typeface="Calibri" pitchFamily="34" charset="-120"/>
              </a:rPr>
              <a:t>Observability and cost</a:t>
            </a:r>
            <a:endParaRPr lang="en-US" sz="1350" dirty="0"/>
          </a:p>
          <a:p>
            <a:pPr marL="342900" indent="-342900">
              <a:spcAft>
                <a:spcPts val="800"/>
              </a:spcAft>
              <a:buSzPct val="100000"/>
              <a:buChar char="•"/>
            </a:pPr>
            <a:r>
              <a:rPr lang="en-US" sz="1350" dirty="0">
                <a:solidFill>
                  <a:srgbClr val="5F5B51"/>
                </a:solidFill>
                <a:latin typeface="Calibri" pitchFamily="34" charset="0"/>
                <a:ea typeface="Calibri" pitchFamily="34" charset="-122"/>
                <a:cs typeface="Calibri" pitchFamily="34" charset="-120"/>
              </a:rPr>
              <a:t>Compliance evidence and identity</a:t>
            </a:r>
            <a:endParaRPr lang="en-US" sz="1350" dirty="0"/>
          </a:p>
          <a:p>
            <a:pPr marL="342900" indent="-342900">
              <a:spcAft>
                <a:spcPts val="800"/>
              </a:spcAft>
              <a:buSzPct val="100000"/>
              <a:buChar char="•"/>
            </a:pPr>
            <a:r>
              <a:rPr lang="en-US" sz="1350" dirty="0">
                <a:solidFill>
                  <a:srgbClr val="5F5B51"/>
                </a:solidFill>
                <a:latin typeface="Calibri" pitchFamily="34" charset="0"/>
                <a:ea typeface="Calibri" pitchFamily="34" charset="-122"/>
                <a:cs typeface="Calibri" pitchFamily="34" charset="-120"/>
              </a:rPr>
              <a:t>All of it after the fact</a:t>
            </a:r>
            <a:endParaRPr lang="en-US" sz="1350" dirty="0"/>
          </a:p>
          <a:p>
            <a:pPr marL="342900" indent="-342900">
              <a:spcAft>
                <a:spcPts val="800"/>
              </a:spcAft>
              <a:buSzPct val="100000"/>
              <a:buChar char="•"/>
            </a:pPr>
            <a:r>
              <a:rPr lang="en-US" sz="1350" dirty="0">
                <a:solidFill>
                  <a:srgbClr val="5F5B51"/>
                </a:solidFill>
                <a:latin typeface="Calibri" pitchFamily="34" charset="0"/>
                <a:ea typeface="Calibri" pitchFamily="34" charset="-122"/>
                <a:cs typeface="Calibri" pitchFamily="34" charset="-120"/>
              </a:rPr>
              <a:t>Priced for organizations a hundred times this size</a:t>
            </a:r>
            <a:endParaRPr lang="en-US" sz="1350" dirty="0"/>
          </a:p>
        </p:txBody>
      </p:sp>
      <p:sp>
        <p:nvSpPr>
          <p:cNvPr id="9" name="Shape 7"/>
          <p:cNvSpPr/>
          <p:nvPr/>
        </p:nvSpPr>
        <p:spPr>
          <a:xfrm>
            <a:off x="6286500" y="2286000"/>
            <a:ext cx="5244084" cy="2468880"/>
          </a:xfrm>
          <a:prstGeom prst="roundRect">
            <a:avLst>
              <a:gd name="adj" fmla="val 2222"/>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10" name="Text 8"/>
          <p:cNvSpPr txBox="1"/>
          <p:nvPr/>
        </p:nvSpPr>
        <p:spPr>
          <a:xfrm>
            <a:off x="6652260" y="2523744"/>
            <a:ext cx="4512564" cy="310896"/>
          </a:xfrm>
          <a:prstGeom prst="rect">
            <a:avLst/>
          </a:prstGeom>
          <a:noFill/>
          <a:ln/>
        </p:spPr>
        <p:txBody>
          <a:bodyPr wrap="square" lIns="0" tIns="0" rIns="0" bIns="0" rtlCol="0" anchor="ctr"/>
          <a:lstStyle/>
          <a:p>
            <a:pPr indent="0" marL="0">
              <a:buNone/>
            </a:pPr>
            <a:r>
              <a:rPr lang="en-US" sz="1200" b="1" spc="150" kern="0" dirty="0">
                <a:solidFill>
                  <a:srgbClr val="F2A900"/>
                </a:solidFill>
                <a:latin typeface="Calibri" pitchFamily="34" charset="0"/>
                <a:ea typeface="Calibri" pitchFamily="34" charset="-122"/>
                <a:cs typeface="Calibri" pitchFamily="34" charset="-120"/>
              </a:rPr>
              <a:t>What is missing</a:t>
            </a:r>
            <a:endParaRPr lang="en-US" sz="1200" dirty="0"/>
          </a:p>
        </p:txBody>
      </p:sp>
      <p:sp>
        <p:nvSpPr>
          <p:cNvPr id="11" name="Text 9"/>
          <p:cNvSpPr txBox="1"/>
          <p:nvPr/>
        </p:nvSpPr>
        <p:spPr>
          <a:xfrm>
            <a:off x="6652260" y="2889504"/>
            <a:ext cx="4512564" cy="402336"/>
          </a:xfrm>
          <a:prstGeom prst="rect">
            <a:avLst/>
          </a:prstGeom>
          <a:noFill/>
          <a:ln/>
        </p:spPr>
        <p:txBody>
          <a:bodyPr wrap="square" lIns="0" tIns="0" rIns="0" bIns="0" rtlCol="0" anchor="ctr"/>
          <a:lstStyle/>
          <a:p>
            <a:pPr indent="0" marL="0">
              <a:buNone/>
            </a:pPr>
            <a:r>
              <a:rPr lang="en-US" sz="2300" b="1" dirty="0">
                <a:solidFill>
                  <a:srgbClr val="F8F7F1"/>
                </a:solidFill>
                <a:latin typeface="Cambria" pitchFamily="34" charset="0"/>
                <a:ea typeface="Cambria" pitchFamily="34" charset="-122"/>
                <a:cs typeface="Cambria" pitchFamily="34" charset="-120"/>
              </a:rPr>
              <a:t>Prevention at plan time.</a:t>
            </a:r>
            <a:endParaRPr lang="en-US" sz="2300" dirty="0"/>
          </a:p>
        </p:txBody>
      </p:sp>
      <p:sp>
        <p:nvSpPr>
          <p:cNvPr id="12" name="Text 10"/>
          <p:cNvSpPr txBox="1"/>
          <p:nvPr/>
        </p:nvSpPr>
        <p:spPr>
          <a:xfrm>
            <a:off x="6652260" y="3383280"/>
            <a:ext cx="4512564" cy="1097280"/>
          </a:xfrm>
          <a:prstGeom prst="rect">
            <a:avLst/>
          </a:prstGeom>
          <a:noFill/>
          <a:ln/>
        </p:spPr>
        <p:txBody>
          <a:bodyPr wrap="square" lIns="0" tIns="0" rIns="0" bIns="0" rtlCol="0" anchor="ctr"/>
          <a:lstStyle/>
          <a:p>
            <a:pPr indent="0" marL="0">
              <a:lnSpc>
                <a:spcPct val="120000"/>
              </a:lnSpc>
              <a:buNone/>
            </a:pPr>
            <a:r>
              <a:rPr lang="en-US" sz="1350" dirty="0">
                <a:solidFill>
                  <a:srgbClr val="C8C3B8"/>
                </a:solidFill>
                <a:latin typeface="Calibri" pitchFamily="34" charset="0"/>
                <a:ea typeface="Calibri" pitchFamily="34" charset="-122"/>
                <a:cs typeface="Calibri" pitchFamily="34" charset="-120"/>
              </a:rPr>
              <a:t>Capability descriptions written to be read by a model, reachable from inside the tool the builder already has open, answering the question before a line is written.</a:t>
            </a:r>
            <a:endParaRPr lang="en-US" sz="1350" dirty="0"/>
          </a:p>
        </p:txBody>
      </p:sp>
      <p:sp>
        <p:nvSpPr>
          <p:cNvPr id="13" name="Shape 11"/>
          <p:cNvSpPr/>
          <p:nvPr/>
        </p:nvSpPr>
        <p:spPr>
          <a:xfrm>
            <a:off x="658368" y="4956048"/>
            <a:ext cx="10872216" cy="914400"/>
          </a:xfrm>
          <a:prstGeom prst="roundRect">
            <a:avLst>
              <a:gd name="adj" fmla="val 6000"/>
            </a:avLst>
          </a:prstGeom>
          <a:solidFill>
            <a:srgbClr val="FBF1D8"/>
          </a:solidFill>
          <a:ln w="12700">
            <a:solidFill>
              <a:srgbClr val="FBF1D8"/>
            </a:solidFill>
            <a:prstDash val="solid"/>
          </a:ln>
          <a:effectLst>
            <a:outerShdw sx="100000" sy="100000" kx="0" ky="0" algn="bl" rotWithShape="0" blurRad="101600" dist="12700" dir="5400000">
              <a:srgbClr val="1A1917">
                <a:alpha val="7000"/>
              </a:srgbClr>
            </a:outerShdw>
          </a:effectLst>
        </p:spPr>
      </p:sp>
      <p:sp>
        <p:nvSpPr>
          <p:cNvPr id="14" name="Text 12"/>
          <p:cNvSpPr txBox="1"/>
          <p:nvPr/>
        </p:nvSpPr>
        <p:spPr>
          <a:xfrm>
            <a:off x="1115568" y="5138928"/>
            <a:ext cx="9957816" cy="548640"/>
          </a:xfrm>
          <a:prstGeom prst="rect">
            <a:avLst/>
          </a:prstGeom>
          <a:noFill/>
          <a:ln/>
        </p:spPr>
        <p:txBody>
          <a:bodyPr wrap="square" lIns="0" tIns="0" rIns="0" bIns="0" rtlCol="0" anchor="ctr"/>
          <a:lstStyle/>
          <a:p>
            <a:pPr indent="0" marL="0">
              <a:buNone/>
            </a:pPr>
            <a:r>
              <a:rPr lang="en-US" sz="1500" b="1" dirty="0">
                <a:solidFill>
                  <a:srgbClr val="7D5900"/>
                </a:solidFill>
                <a:latin typeface="Calibri" pitchFamily="34" charset="0"/>
                <a:ea typeface="Calibri" pitchFamily="34" charset="-122"/>
                <a:cs typeface="Calibri" pitchFamily="34" charset="-120"/>
              </a:rPr>
              <a:t>Because the missing piece is small, it does not have to compete with any of them. It can sit on top of whichever one a company already owns.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WHAT TO BUILD</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Build the small missing part. Buy or skip the rest.</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658368" y="2286000"/>
            <a:ext cx="5244084" cy="2651760"/>
          </a:xfrm>
          <a:prstGeom prst="roundRect">
            <a:avLst>
              <a:gd name="adj" fmla="val 2069"/>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1024128" y="2523744"/>
            <a:ext cx="4512564" cy="274320"/>
          </a:xfrm>
          <a:prstGeom prst="rect">
            <a:avLst/>
          </a:prstGeom>
          <a:noFill/>
          <a:ln/>
        </p:spPr>
        <p:txBody>
          <a:bodyPr wrap="square" lIns="0" tIns="0" rIns="0" bIns="0" rtlCol="0" anchor="ctr"/>
          <a:lstStyle/>
          <a:p>
            <a:pPr indent="0" marL="0">
              <a:buNone/>
            </a:pPr>
            <a:r>
              <a:rPr lang="en-US" sz="1100" b="1" spc="200" kern="0" dirty="0">
                <a:solidFill>
                  <a:srgbClr val="B3261E"/>
                </a:solidFill>
                <a:latin typeface="Calibri" pitchFamily="34" charset="0"/>
                <a:ea typeface="Calibri" pitchFamily="34" charset="-122"/>
                <a:cs typeface="Calibri" pitchFamily="34" charset="-120"/>
              </a:rPr>
              <a:t>DO NOT BUILD</a:t>
            </a:r>
            <a:endParaRPr lang="en-US" sz="1100" dirty="0"/>
          </a:p>
        </p:txBody>
      </p:sp>
      <p:sp>
        <p:nvSpPr>
          <p:cNvPr id="8" name="Text 6"/>
          <p:cNvSpPr txBox="1"/>
          <p:nvPr/>
        </p:nvSpPr>
        <p:spPr>
          <a:xfrm>
            <a:off x="1024128" y="2907792"/>
            <a:ext cx="4512564" cy="173736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5F5B51"/>
                </a:solidFill>
                <a:latin typeface="Calibri" pitchFamily="34" charset="0"/>
                <a:ea typeface="Calibri" pitchFamily="34" charset="-122"/>
                <a:cs typeface="Calibri" pitchFamily="34" charset="-120"/>
              </a:rPr>
              <a:t>An agent catalog</a:t>
            </a:r>
            <a:endParaRPr lang="en-US" sz="1400" dirty="0"/>
          </a:p>
          <a:p>
            <a:pPr marL="342900" indent="-342900">
              <a:spcAft>
                <a:spcPts val="900"/>
              </a:spcAft>
              <a:buSzPct val="100000"/>
              <a:buChar char="•"/>
            </a:pPr>
            <a:r>
              <a:rPr lang="en-US" sz="1400" dirty="0">
                <a:solidFill>
                  <a:srgbClr val="5F5B51"/>
                </a:solidFill>
                <a:latin typeface="Calibri" pitchFamily="34" charset="0"/>
                <a:ea typeface="Calibri" pitchFamily="34" charset="-122"/>
                <a:cs typeface="Calibri" pitchFamily="34" charset="-120"/>
              </a:rPr>
              <a:t>A governance engine</a:t>
            </a:r>
            <a:endParaRPr lang="en-US" sz="1400" dirty="0"/>
          </a:p>
          <a:p>
            <a:pPr marL="342900" indent="-342900">
              <a:spcAft>
                <a:spcPts val="900"/>
              </a:spcAft>
              <a:buSzPct val="100000"/>
              <a:buChar char="•"/>
            </a:pPr>
            <a:r>
              <a:rPr lang="en-US" sz="1400" dirty="0">
                <a:solidFill>
                  <a:srgbClr val="5F5B51"/>
                </a:solidFill>
                <a:latin typeface="Calibri" pitchFamily="34" charset="0"/>
                <a:ea typeface="Calibri" pitchFamily="34" charset="-122"/>
                <a:cs typeface="Calibri" pitchFamily="34" charset="-120"/>
              </a:rPr>
              <a:t>An identity layer</a:t>
            </a:r>
            <a:endParaRPr lang="en-US" sz="1400" dirty="0"/>
          </a:p>
          <a:p>
            <a:pPr marL="342900" indent="-342900">
              <a:spcAft>
                <a:spcPts val="900"/>
              </a:spcAft>
              <a:buSzPct val="100000"/>
              <a:buChar char="•"/>
            </a:pPr>
            <a:r>
              <a:rPr lang="en-US" sz="1400" dirty="0">
                <a:solidFill>
                  <a:srgbClr val="5F5B51"/>
                </a:solidFill>
                <a:latin typeface="Calibri" pitchFamily="34" charset="0"/>
                <a:ea typeface="Calibri" pitchFamily="34" charset="-122"/>
                <a:cs typeface="Calibri" pitchFamily="34" charset="-120"/>
              </a:rPr>
              <a:t>An observability stack</a:t>
            </a:r>
            <a:endParaRPr lang="en-US" sz="1400" dirty="0"/>
          </a:p>
          <a:p>
            <a:pPr marL="342900" indent="-342900">
              <a:spcAft>
                <a:spcPts val="900"/>
              </a:spcAft>
              <a:buSzPct val="100000"/>
              <a:buChar char="•"/>
            </a:pPr>
            <a:r>
              <a:rPr lang="en-US" sz="1400" dirty="0">
                <a:solidFill>
                  <a:srgbClr val="5F5B51"/>
                </a:solidFill>
                <a:latin typeface="Calibri" pitchFamily="34" charset="0"/>
                <a:ea typeface="Calibri" pitchFamily="34" charset="-122"/>
                <a:cs typeface="Calibri" pitchFamily="34" charset="-120"/>
              </a:rPr>
              <a:t>A generic creation platform</a:t>
            </a:r>
            <a:endParaRPr lang="en-US" sz="1400" dirty="0"/>
          </a:p>
        </p:txBody>
      </p:sp>
      <p:sp>
        <p:nvSpPr>
          <p:cNvPr id="9" name="Text 7"/>
          <p:cNvSpPr txBox="1"/>
          <p:nvPr/>
        </p:nvSpPr>
        <p:spPr>
          <a:xfrm>
            <a:off x="1024128" y="4590288"/>
            <a:ext cx="4512564" cy="274320"/>
          </a:xfrm>
          <a:prstGeom prst="rect">
            <a:avLst/>
          </a:prstGeom>
          <a:noFill/>
          <a:ln/>
        </p:spPr>
        <p:txBody>
          <a:bodyPr wrap="square" lIns="0" tIns="0" rIns="0" bIns="0" rtlCol="0" anchor="ctr"/>
          <a:lstStyle/>
          <a:p>
            <a:pPr indent="0" marL="0">
              <a:buNone/>
            </a:pPr>
            <a:r>
              <a:rPr lang="en-US" sz="1150" i="1" dirty="0">
                <a:solidFill>
                  <a:srgbClr val="8A857A"/>
                </a:solidFill>
                <a:latin typeface="Calibri" pitchFamily="34" charset="0"/>
                <a:ea typeface="Calibri" pitchFamily="34" charset="-122"/>
                <a:cs typeface="Calibri" pitchFamily="34" charset="-120"/>
              </a:rPr>
              <a:t>These exist and are better funded than anything we would write.</a:t>
            </a:r>
            <a:endParaRPr lang="en-US" sz="1150" dirty="0"/>
          </a:p>
        </p:txBody>
      </p:sp>
      <p:sp>
        <p:nvSpPr>
          <p:cNvPr id="10" name="Shape 8"/>
          <p:cNvSpPr/>
          <p:nvPr/>
        </p:nvSpPr>
        <p:spPr>
          <a:xfrm>
            <a:off x="6286500" y="2286000"/>
            <a:ext cx="5244084" cy="2651760"/>
          </a:xfrm>
          <a:prstGeom prst="roundRect">
            <a:avLst>
              <a:gd name="adj" fmla="val 2069"/>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11" name="Text 9"/>
          <p:cNvSpPr txBox="1"/>
          <p:nvPr/>
        </p:nvSpPr>
        <p:spPr>
          <a:xfrm>
            <a:off x="6652260" y="2523744"/>
            <a:ext cx="4512564" cy="274320"/>
          </a:xfrm>
          <a:prstGeom prst="rect">
            <a:avLst/>
          </a:prstGeom>
          <a:noFill/>
          <a:ln/>
        </p:spPr>
        <p:txBody>
          <a:bodyPr wrap="square" lIns="0" tIns="0" rIns="0" bIns="0" rtlCol="0" anchor="ctr"/>
          <a:lstStyle/>
          <a:p>
            <a:pPr indent="0" marL="0">
              <a:buNone/>
            </a:pPr>
            <a:r>
              <a:rPr lang="en-US" sz="1100" b="1" spc="200" kern="0" dirty="0">
                <a:solidFill>
                  <a:srgbClr val="F2A900"/>
                </a:solidFill>
                <a:latin typeface="Calibri" pitchFamily="34" charset="0"/>
                <a:ea typeface="Calibri" pitchFamily="34" charset="-122"/>
                <a:cs typeface="Calibri" pitchFamily="34" charset="-120"/>
              </a:rPr>
              <a:t>DO BUILD</a:t>
            </a:r>
            <a:endParaRPr lang="en-US" sz="1100" dirty="0"/>
          </a:p>
        </p:txBody>
      </p:sp>
      <p:sp>
        <p:nvSpPr>
          <p:cNvPr id="12" name="Text 10"/>
          <p:cNvSpPr txBox="1"/>
          <p:nvPr/>
        </p:nvSpPr>
        <p:spPr>
          <a:xfrm>
            <a:off x="6652260" y="2907792"/>
            <a:ext cx="4512564" cy="146304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C8C3B8"/>
                </a:solidFill>
                <a:latin typeface="Calibri" pitchFamily="34" charset="0"/>
                <a:ea typeface="Calibri" pitchFamily="34" charset="-122"/>
                <a:cs typeface="Calibri" pitchFamily="34" charset="-120"/>
              </a:rPr>
              <a:t>Capability descriptions written for a model to read</a:t>
            </a:r>
            <a:endParaRPr lang="en-US" sz="1400" dirty="0"/>
          </a:p>
          <a:p>
            <a:pPr marL="342900" indent="-342900">
              <a:spcAft>
                <a:spcPts val="1000"/>
              </a:spcAft>
              <a:buSzPct val="100000"/>
              <a:buChar char="•"/>
            </a:pPr>
            <a:r>
              <a:rPr lang="en-US" sz="1400" dirty="0">
                <a:solidFill>
                  <a:srgbClr val="C8C3B8"/>
                </a:solidFill>
                <a:latin typeface="Calibri" pitchFamily="34" charset="0"/>
                <a:ea typeface="Calibri" pitchFamily="34" charset="-122"/>
                <a:cs typeface="Calibri" pitchFamily="34" charset="-120"/>
              </a:rPr>
              <a:t>The rule for what gets shared</a:t>
            </a:r>
            <a:endParaRPr lang="en-US" sz="1400" dirty="0"/>
          </a:p>
          <a:p>
            <a:pPr marL="342900" indent="-342900">
              <a:spcAft>
                <a:spcPts val="1000"/>
              </a:spcAft>
              <a:buSzPct val="100000"/>
              <a:buChar char="•"/>
            </a:pPr>
            <a:r>
              <a:rPr lang="en-US" sz="1400" dirty="0">
                <a:solidFill>
                  <a:srgbClr val="C8C3B8"/>
                </a:solidFill>
                <a:latin typeface="Calibri" pitchFamily="34" charset="0"/>
                <a:ea typeface="Calibri" pitchFamily="34" charset="-122"/>
                <a:cs typeface="Calibri" pitchFamily="34" charset="-120"/>
              </a:rPr>
              <a:t>The plan-time hook that puts them in front of Claude</a:t>
            </a:r>
            <a:endParaRPr lang="en-US" sz="1400" dirty="0"/>
          </a:p>
        </p:txBody>
      </p:sp>
      <p:sp>
        <p:nvSpPr>
          <p:cNvPr id="13" name="Text 11"/>
          <p:cNvSpPr txBox="1"/>
          <p:nvPr/>
        </p:nvSpPr>
        <p:spPr>
          <a:xfrm>
            <a:off x="6652260" y="4590288"/>
            <a:ext cx="4512564" cy="274320"/>
          </a:xfrm>
          <a:prstGeom prst="rect">
            <a:avLst/>
          </a:prstGeom>
          <a:noFill/>
          <a:ln/>
        </p:spPr>
        <p:txBody>
          <a:bodyPr wrap="square" lIns="0" tIns="0" rIns="0" bIns="0" rtlCol="0" anchor="ctr"/>
          <a:lstStyle/>
          <a:p>
            <a:pPr indent="0" marL="0">
              <a:buNone/>
            </a:pPr>
            <a:r>
              <a:rPr lang="en-US" sz="1150" i="1" dirty="0">
                <a:solidFill>
                  <a:srgbClr val="9C978C"/>
                </a:solidFill>
                <a:latin typeface="Calibri" pitchFamily="34" charset="0"/>
                <a:ea typeface="Calibri" pitchFamily="34" charset="-122"/>
                <a:cs typeface="Calibri" pitchFamily="34" charset="-120"/>
              </a:rPr>
              <a:t>Three things. None of them is a platform.</a:t>
            </a:r>
            <a:endParaRPr lang="en-US" sz="1150" dirty="0"/>
          </a:p>
        </p:txBody>
      </p:sp>
      <p:sp>
        <p:nvSpPr>
          <p:cNvPr id="14" name="Text 12"/>
          <p:cNvSpPr txBox="1"/>
          <p:nvPr/>
        </p:nvSpPr>
        <p:spPr>
          <a:xfrm>
            <a:off x="658368" y="5175504"/>
            <a:ext cx="10872216" cy="365760"/>
          </a:xfrm>
          <a:prstGeom prst="rect">
            <a:avLst/>
          </a:prstGeom>
          <a:noFill/>
          <a:ln/>
        </p:spPr>
        <p:txBody>
          <a:bodyPr wrap="square" lIns="0" tIns="0" rIns="0" bIns="0" rtlCol="0" anchor="ctr"/>
          <a:lstStyle/>
          <a:p>
            <a:pPr indent="0" marL="0">
              <a:buNone/>
            </a:pPr>
            <a:r>
              <a:rPr lang="en-US" sz="1900" b="1" dirty="0">
                <a:solidFill>
                  <a:srgbClr val="7D5900"/>
                </a:solidFill>
                <a:latin typeface="Cambria" pitchFamily="34" charset="0"/>
                <a:ea typeface="Cambria" pitchFamily="34" charset="-122"/>
                <a:cs typeface="Cambria" pitchFamily="34" charset="-120"/>
              </a:rPr>
              <a:t>Keep the machinery thin, standard and replaceable. Make the memory durable and compounding.</a:t>
            </a:r>
            <a:endParaRPr lang="en-US" sz="1900" dirty="0"/>
          </a:p>
        </p:txBody>
      </p:sp>
      <p:sp>
        <p:nvSpPr>
          <p:cNvPr id="15" name="Text 13"/>
          <p:cNvSpPr txBox="1"/>
          <p:nvPr/>
        </p:nvSpPr>
        <p:spPr>
          <a:xfrm>
            <a:off x="658368" y="5577840"/>
            <a:ext cx="10872216" cy="329184"/>
          </a:xfrm>
          <a:prstGeom prst="rect">
            <a:avLst/>
          </a:prstGeom>
          <a:noFill/>
          <a:ln/>
        </p:spPr>
        <p:txBody>
          <a:bodyPr wrap="square" lIns="0" tIns="0" rIns="0" bIns="0" rtlCol="0" anchor="ctr"/>
          <a:lstStyle/>
          <a:p>
            <a:pPr indent="0" marL="0">
              <a:buNone/>
            </a:pPr>
            <a:r>
              <a:rPr lang="en-US" sz="1250" dirty="0">
                <a:solidFill>
                  <a:srgbClr val="8A857A"/>
                </a:solidFill>
                <a:latin typeface="Calibri" pitchFamily="34" charset="0"/>
                <a:ea typeface="Calibri" pitchFamily="34" charset="-122"/>
                <a:cs typeface="Calibri" pitchFamily="34" charset="-120"/>
              </a:rPr>
              <a:t>If a first-party capability registry ships tomorrow, the content ports and only our plumbing is thrown away. That is a good day, not a wasted quarter.</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THE FIRST VERSION</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Smaller than you would expect.</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658368" y="2286000"/>
            <a:ext cx="10872216" cy="1316736"/>
          </a:xfrm>
          <a:prstGeom prst="roundRect">
            <a:avLst>
              <a:gd name="adj" fmla="val 4167"/>
            </a:avLst>
          </a:prstGeom>
          <a:solidFill>
            <a:srgbClr val="24231C"/>
          </a:solidFill>
          <a:ln w="12700">
            <a:solidFill>
              <a:srgbClr val="24231C"/>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1161288" y="2523744"/>
            <a:ext cx="9866376" cy="877824"/>
          </a:xfrm>
          <a:prstGeom prst="rect">
            <a:avLst/>
          </a:prstGeom>
          <a:noFill/>
          <a:ln/>
        </p:spPr>
        <p:txBody>
          <a:bodyPr wrap="square" lIns="0" tIns="0" rIns="0" bIns="0" rtlCol="0" anchor="ctr"/>
          <a:lstStyle/>
          <a:p>
            <a:pPr indent="0" marL="0">
              <a:lnSpc>
                <a:spcPct val="114000"/>
              </a:lnSpc>
              <a:buNone/>
            </a:pPr>
            <a:r>
              <a:rPr lang="en-US" sz="2200" b="1" dirty="0">
                <a:solidFill>
                  <a:srgbClr val="F8F7F1"/>
                </a:solidFill>
                <a:latin typeface="Cambria" pitchFamily="34" charset="0"/>
                <a:ea typeface="Cambria" pitchFamily="34" charset="-122"/>
                <a:cs typeface="Cambria" pitchFamily="34" charset="-120"/>
              </a:rPr>
              <a:t>A weekly pass that reads the estate and produces a ranked, reasoned list of what is overlapping and what to do about it.</a:t>
            </a:r>
            <a:endParaRPr lang="en-US" sz="2200" dirty="0"/>
          </a:p>
        </p:txBody>
      </p:sp>
      <p:sp>
        <p:nvSpPr>
          <p:cNvPr id="8" name="Text 6"/>
          <p:cNvSpPr txBox="1"/>
          <p:nvPr/>
        </p:nvSpPr>
        <p:spPr>
          <a:xfrm>
            <a:off x="658368" y="3749040"/>
            <a:ext cx="10872216" cy="310896"/>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No shared core yet. Nothing changed in any application.</a:t>
            </a:r>
            <a:endParaRPr lang="en-US" sz="1400" dirty="0"/>
          </a:p>
        </p:txBody>
      </p:sp>
      <p:sp>
        <p:nvSpPr>
          <p:cNvPr id="9" name="Shape 7"/>
          <p:cNvSpPr/>
          <p:nvPr/>
        </p:nvSpPr>
        <p:spPr>
          <a:xfrm>
            <a:off x="658368" y="4206240"/>
            <a:ext cx="3380232" cy="1517904"/>
          </a:xfrm>
          <a:prstGeom prst="roundRect">
            <a:avLst>
              <a:gd name="adj" fmla="val 3614"/>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0" name="Text 8"/>
          <p:cNvSpPr txBox="1"/>
          <p:nvPr/>
        </p:nvSpPr>
        <p:spPr>
          <a:xfrm>
            <a:off x="950976" y="4425696"/>
            <a:ext cx="2795016" cy="310896"/>
          </a:xfrm>
          <a:prstGeom prst="rect">
            <a:avLst/>
          </a:prstGeom>
          <a:noFill/>
          <a:ln/>
        </p:spPr>
        <p:txBody>
          <a:bodyPr wrap="square" lIns="0" tIns="0" rIns="0" bIns="0" rtlCol="0" anchor="ctr"/>
          <a:lstStyle/>
          <a:p>
            <a:pPr indent="0" marL="0">
              <a:buNone/>
            </a:pPr>
            <a:r>
              <a:rPr lang="en-US" sz="1400" b="1" dirty="0">
                <a:solidFill>
                  <a:srgbClr val="1A1917"/>
                </a:solidFill>
                <a:latin typeface="Calibri" pitchFamily="34" charset="0"/>
                <a:ea typeface="Calibri" pitchFamily="34" charset="-122"/>
                <a:cs typeface="Calibri" pitchFamily="34" charset="-120"/>
              </a:rPr>
              <a:t>It cannot break anything</a:t>
            </a:r>
            <a:endParaRPr lang="en-US" sz="1400" dirty="0"/>
          </a:p>
        </p:txBody>
      </p:sp>
      <p:sp>
        <p:nvSpPr>
          <p:cNvPr id="11" name="Text 9"/>
          <p:cNvSpPr txBox="1"/>
          <p:nvPr/>
        </p:nvSpPr>
        <p:spPr>
          <a:xfrm>
            <a:off x="950976" y="4754880"/>
            <a:ext cx="2795016" cy="859536"/>
          </a:xfrm>
          <a:prstGeom prst="rect">
            <a:avLst/>
          </a:prstGeom>
          <a:noFill/>
          <a:ln/>
        </p:spPr>
        <p:txBody>
          <a:bodyPr wrap="square" lIns="0" tIns="0" rIns="0" bIns="0" rtlCol="0" anchor="ctr"/>
          <a:lstStyle/>
          <a:p>
            <a:pPr indent="0" marL="0">
              <a:lnSpc>
                <a:spcPct val="115000"/>
              </a:lnSpc>
              <a:buNone/>
            </a:pPr>
            <a:r>
              <a:rPr lang="en-US" sz="1250" dirty="0">
                <a:solidFill>
                  <a:srgbClr val="5F5B51"/>
                </a:solidFill>
                <a:latin typeface="Calibri" pitchFamily="34" charset="0"/>
                <a:ea typeface="Calibri" pitchFamily="34" charset="-122"/>
                <a:cs typeface="Calibri" pitchFamily="34" charset="-120"/>
              </a:rPr>
              <a:t>Read-only, so it ships while eight people keep building.</a:t>
            </a:r>
            <a:endParaRPr lang="en-US" sz="1250" dirty="0"/>
          </a:p>
        </p:txBody>
      </p:sp>
      <p:sp>
        <p:nvSpPr>
          <p:cNvPr id="12" name="Shape 10"/>
          <p:cNvSpPr/>
          <p:nvPr/>
        </p:nvSpPr>
        <p:spPr>
          <a:xfrm>
            <a:off x="4404360" y="4206240"/>
            <a:ext cx="3380232" cy="1517904"/>
          </a:xfrm>
          <a:prstGeom prst="roundRect">
            <a:avLst>
              <a:gd name="adj" fmla="val 3614"/>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3" name="Text 11"/>
          <p:cNvSpPr txBox="1"/>
          <p:nvPr/>
        </p:nvSpPr>
        <p:spPr>
          <a:xfrm>
            <a:off x="4696968" y="4425696"/>
            <a:ext cx="2795016" cy="310896"/>
          </a:xfrm>
          <a:prstGeom prst="rect">
            <a:avLst/>
          </a:prstGeom>
          <a:noFill/>
          <a:ln/>
        </p:spPr>
        <p:txBody>
          <a:bodyPr wrap="square" lIns="0" tIns="0" rIns="0" bIns="0" rtlCol="0" anchor="ctr"/>
          <a:lstStyle/>
          <a:p>
            <a:pPr indent="0" marL="0">
              <a:buNone/>
            </a:pPr>
            <a:r>
              <a:rPr lang="en-US" sz="1400" b="1" dirty="0">
                <a:solidFill>
                  <a:srgbClr val="1A1917"/>
                </a:solidFill>
                <a:latin typeface="Calibri" pitchFamily="34" charset="0"/>
                <a:ea typeface="Calibri" pitchFamily="34" charset="-122"/>
                <a:cs typeface="Calibri" pitchFamily="34" charset="-120"/>
              </a:rPr>
              <a:t>It is the instrument</a:t>
            </a:r>
            <a:endParaRPr lang="en-US" sz="1400" dirty="0"/>
          </a:p>
        </p:txBody>
      </p:sp>
      <p:sp>
        <p:nvSpPr>
          <p:cNvPr id="14" name="Text 12"/>
          <p:cNvSpPr txBox="1"/>
          <p:nvPr/>
        </p:nvSpPr>
        <p:spPr>
          <a:xfrm>
            <a:off x="4696968" y="4754880"/>
            <a:ext cx="2795016" cy="859536"/>
          </a:xfrm>
          <a:prstGeom prst="rect">
            <a:avLst/>
          </a:prstGeom>
          <a:noFill/>
          <a:ln/>
        </p:spPr>
        <p:txBody>
          <a:bodyPr wrap="square" lIns="0" tIns="0" rIns="0" bIns="0" rtlCol="0" anchor="ctr"/>
          <a:lstStyle/>
          <a:p>
            <a:pPr indent="0" marL="0">
              <a:lnSpc>
                <a:spcPct val="115000"/>
              </a:lnSpc>
              <a:buNone/>
            </a:pPr>
            <a:r>
              <a:rPr lang="en-US" sz="1250" dirty="0">
                <a:solidFill>
                  <a:srgbClr val="5F5B51"/>
                </a:solidFill>
                <a:latin typeface="Calibri" pitchFamily="34" charset="0"/>
                <a:ea typeface="Calibri" pitchFamily="34" charset="-122"/>
                <a:cs typeface="Calibri" pitchFamily="34" charset="-120"/>
              </a:rPr>
              <a:t>You cannot pick the three capabilities worth sharing until you can measure which ones matter.</a:t>
            </a:r>
            <a:endParaRPr lang="en-US" sz="1250" dirty="0"/>
          </a:p>
        </p:txBody>
      </p:sp>
      <p:sp>
        <p:nvSpPr>
          <p:cNvPr id="15" name="Shape 13"/>
          <p:cNvSpPr/>
          <p:nvPr/>
        </p:nvSpPr>
        <p:spPr>
          <a:xfrm>
            <a:off x="8150352" y="4206240"/>
            <a:ext cx="3380232" cy="1517904"/>
          </a:xfrm>
          <a:prstGeom prst="roundRect">
            <a:avLst>
              <a:gd name="adj" fmla="val 3614"/>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6" name="Text 14"/>
          <p:cNvSpPr txBox="1"/>
          <p:nvPr/>
        </p:nvSpPr>
        <p:spPr>
          <a:xfrm>
            <a:off x="8442960" y="4425696"/>
            <a:ext cx="2795016" cy="310896"/>
          </a:xfrm>
          <a:prstGeom prst="rect">
            <a:avLst/>
          </a:prstGeom>
          <a:noFill/>
          <a:ln/>
        </p:spPr>
        <p:txBody>
          <a:bodyPr wrap="square" lIns="0" tIns="0" rIns="0" bIns="0" rtlCol="0" anchor="ctr"/>
          <a:lstStyle/>
          <a:p>
            <a:pPr indent="0" marL="0">
              <a:buNone/>
            </a:pPr>
            <a:r>
              <a:rPr lang="en-US" sz="1400" b="1" dirty="0">
                <a:solidFill>
                  <a:srgbClr val="1A1917"/>
                </a:solidFill>
                <a:latin typeface="Calibri" pitchFamily="34" charset="0"/>
                <a:ea typeface="Calibri" pitchFamily="34" charset="-122"/>
                <a:cs typeface="Calibri" pitchFamily="34" charset="-120"/>
              </a:rPr>
              <a:t>It stands alone</a:t>
            </a:r>
            <a:endParaRPr lang="en-US" sz="1400" dirty="0"/>
          </a:p>
        </p:txBody>
      </p:sp>
      <p:sp>
        <p:nvSpPr>
          <p:cNvPr id="17" name="Text 15"/>
          <p:cNvSpPr txBox="1"/>
          <p:nvPr/>
        </p:nvSpPr>
        <p:spPr>
          <a:xfrm>
            <a:off x="8442960" y="4754880"/>
            <a:ext cx="2795016" cy="859536"/>
          </a:xfrm>
          <a:prstGeom prst="rect">
            <a:avLst/>
          </a:prstGeom>
          <a:noFill/>
          <a:ln/>
        </p:spPr>
        <p:txBody>
          <a:bodyPr wrap="square" lIns="0" tIns="0" rIns="0" bIns="0" rtlCol="0" anchor="ctr"/>
          <a:lstStyle/>
          <a:p>
            <a:pPr indent="0" marL="0">
              <a:lnSpc>
                <a:spcPct val="115000"/>
              </a:lnSpc>
              <a:buNone/>
            </a:pPr>
            <a:r>
              <a:rPr lang="en-US" sz="1250" dirty="0">
                <a:solidFill>
                  <a:srgbClr val="5F5B51"/>
                </a:solidFill>
                <a:latin typeface="Calibri" pitchFamily="34" charset="0"/>
                <a:ea typeface="Calibri" pitchFamily="34" charset="-122"/>
                <a:cs typeface="Calibri" pitchFamily="34" charset="-120"/>
              </a:rPr>
              <a:t>If the work stopped here, the list is still something anyone can act on.</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THE PLAN</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Five stages, one acceptance test each.</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658368" y="2340864"/>
            <a:ext cx="1969618" cy="2743200"/>
          </a:xfrm>
          <a:prstGeom prst="roundRect">
            <a:avLst>
              <a:gd name="adj" fmla="val 2786"/>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7" name="Shape 5"/>
          <p:cNvSpPr/>
          <p:nvPr/>
        </p:nvSpPr>
        <p:spPr>
          <a:xfrm>
            <a:off x="896112" y="2560320"/>
            <a:ext cx="384048" cy="384048"/>
          </a:xfrm>
          <a:prstGeom prst="roundRect">
            <a:avLst>
              <a:gd name="adj" fmla="val 23810"/>
            </a:avLst>
          </a:prstGeom>
          <a:solidFill>
            <a:srgbClr val="EDEBE1"/>
          </a:solidFill>
          <a:ln w="12700">
            <a:solidFill>
              <a:srgbClr val="EDEBE1"/>
            </a:solidFill>
            <a:prstDash val="solid"/>
          </a:ln>
        </p:spPr>
      </p:sp>
      <p:sp>
        <p:nvSpPr>
          <p:cNvPr id="8" name="Text 6"/>
          <p:cNvSpPr txBox="1"/>
          <p:nvPr/>
        </p:nvSpPr>
        <p:spPr>
          <a:xfrm>
            <a:off x="896112" y="2560320"/>
            <a:ext cx="384048" cy="384048"/>
          </a:xfrm>
          <a:prstGeom prst="rect">
            <a:avLst/>
          </a:prstGeom>
          <a:noFill/>
          <a:ln/>
        </p:spPr>
        <p:txBody>
          <a:bodyPr wrap="square" lIns="0" tIns="0" rIns="0" bIns="0" rtlCol="0" anchor="ctr"/>
          <a:lstStyle/>
          <a:p>
            <a:pPr algn="ctr" indent="0" marL="0">
              <a:buNone/>
            </a:pPr>
            <a:r>
              <a:rPr lang="en-US" sz="1400" b="1" dirty="0">
                <a:solidFill>
                  <a:srgbClr val="5F5B51"/>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896112" y="3072384"/>
            <a:ext cx="1494130" cy="621792"/>
          </a:xfrm>
          <a:prstGeom prst="rect">
            <a:avLst/>
          </a:prstGeom>
          <a:noFill/>
          <a:ln/>
        </p:spPr>
        <p:txBody>
          <a:bodyPr wrap="square" lIns="0" tIns="0" rIns="0" bIns="0" rtlCol="0" anchor="ctr"/>
          <a:lstStyle/>
          <a:p>
            <a:pPr indent="0" marL="0">
              <a:lnSpc>
                <a:spcPct val="105000"/>
              </a:lnSpc>
              <a:buNone/>
            </a:pPr>
            <a:r>
              <a:rPr lang="en-US" sz="1600" b="1" dirty="0">
                <a:solidFill>
                  <a:srgbClr val="1A1917"/>
                </a:solidFill>
                <a:latin typeface="Cambria" pitchFamily="34" charset="0"/>
                <a:ea typeface="Cambria" pitchFamily="34" charset="-122"/>
                <a:cs typeface="Cambria" pitchFamily="34" charset="-120"/>
              </a:rPr>
              <a:t>Ground truth</a:t>
            </a:r>
            <a:endParaRPr lang="en-US" sz="1600" dirty="0"/>
          </a:p>
        </p:txBody>
      </p:sp>
      <p:sp>
        <p:nvSpPr>
          <p:cNvPr id="10" name="Text 8"/>
          <p:cNvSpPr txBox="1"/>
          <p:nvPr/>
        </p:nvSpPr>
        <p:spPr>
          <a:xfrm>
            <a:off x="896112" y="3712464"/>
            <a:ext cx="1494130" cy="237744"/>
          </a:xfrm>
          <a:prstGeom prst="rect">
            <a:avLst/>
          </a:prstGeom>
          <a:noFill/>
          <a:ln/>
        </p:spPr>
        <p:txBody>
          <a:bodyPr wrap="square" lIns="0" tIns="0" rIns="0" bIns="0" rtlCol="0" anchor="ctr"/>
          <a:lstStyle/>
          <a:p>
            <a:pPr indent="0" marL="0">
              <a:buNone/>
            </a:pPr>
            <a:r>
              <a:rPr lang="en-US" sz="1100" b="1" dirty="0">
                <a:solidFill>
                  <a:srgbClr val="7D5900"/>
                </a:solidFill>
                <a:latin typeface="Calibri" pitchFamily="34" charset="0"/>
                <a:ea typeface="Calibri" pitchFamily="34" charset="-122"/>
                <a:cs typeface="Calibri" pitchFamily="34" charset="-120"/>
              </a:rPr>
              <a:t>Weeks 1-3</a:t>
            </a:r>
            <a:endParaRPr lang="en-US" sz="1100" dirty="0"/>
          </a:p>
        </p:txBody>
      </p:sp>
      <p:sp>
        <p:nvSpPr>
          <p:cNvPr id="11" name="Text 9"/>
          <p:cNvSpPr txBox="1"/>
          <p:nvPr/>
        </p:nvSpPr>
        <p:spPr>
          <a:xfrm>
            <a:off x="896112" y="4005072"/>
            <a:ext cx="1494130" cy="969264"/>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How the 51 items actually reach the systems they touch. Nobody currently knows.</a:t>
            </a:r>
            <a:endParaRPr lang="en-US" sz="1150" dirty="0"/>
          </a:p>
        </p:txBody>
      </p:sp>
      <p:sp>
        <p:nvSpPr>
          <p:cNvPr id="12" name="Shape 10"/>
          <p:cNvSpPr/>
          <p:nvPr/>
        </p:nvSpPr>
        <p:spPr>
          <a:xfrm>
            <a:off x="2884018" y="2340864"/>
            <a:ext cx="1969618" cy="2743200"/>
          </a:xfrm>
          <a:prstGeom prst="roundRect">
            <a:avLst>
              <a:gd name="adj" fmla="val 2786"/>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3" name="Shape 11"/>
          <p:cNvSpPr/>
          <p:nvPr/>
        </p:nvSpPr>
        <p:spPr>
          <a:xfrm>
            <a:off x="3121762" y="2560320"/>
            <a:ext cx="384048" cy="384048"/>
          </a:xfrm>
          <a:prstGeom prst="roundRect">
            <a:avLst>
              <a:gd name="adj" fmla="val 23810"/>
            </a:avLst>
          </a:prstGeom>
          <a:solidFill>
            <a:srgbClr val="EDEBE1"/>
          </a:solidFill>
          <a:ln w="12700">
            <a:solidFill>
              <a:srgbClr val="EDEBE1"/>
            </a:solidFill>
            <a:prstDash val="solid"/>
          </a:ln>
        </p:spPr>
      </p:sp>
      <p:sp>
        <p:nvSpPr>
          <p:cNvPr id="14" name="Text 12"/>
          <p:cNvSpPr txBox="1"/>
          <p:nvPr/>
        </p:nvSpPr>
        <p:spPr>
          <a:xfrm>
            <a:off x="3121762" y="2560320"/>
            <a:ext cx="384048" cy="384048"/>
          </a:xfrm>
          <a:prstGeom prst="rect">
            <a:avLst/>
          </a:prstGeom>
          <a:noFill/>
          <a:ln/>
        </p:spPr>
        <p:txBody>
          <a:bodyPr wrap="square" lIns="0" tIns="0" rIns="0" bIns="0" rtlCol="0" anchor="ctr"/>
          <a:lstStyle/>
          <a:p>
            <a:pPr algn="ctr" indent="0" marL="0">
              <a:buNone/>
            </a:pPr>
            <a:r>
              <a:rPr lang="en-US" sz="1400" b="1" dirty="0">
                <a:solidFill>
                  <a:srgbClr val="5F5B51"/>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3121762" y="3072384"/>
            <a:ext cx="1494130" cy="621792"/>
          </a:xfrm>
          <a:prstGeom prst="rect">
            <a:avLst/>
          </a:prstGeom>
          <a:noFill/>
          <a:ln/>
        </p:spPr>
        <p:txBody>
          <a:bodyPr wrap="square" lIns="0" tIns="0" rIns="0" bIns="0" rtlCol="0" anchor="ctr"/>
          <a:lstStyle/>
          <a:p>
            <a:pPr indent="0" marL="0">
              <a:lnSpc>
                <a:spcPct val="105000"/>
              </a:lnSpc>
              <a:buNone/>
            </a:pPr>
            <a:r>
              <a:rPr lang="en-US" sz="1600" b="1" dirty="0">
                <a:solidFill>
                  <a:srgbClr val="1A1917"/>
                </a:solidFill>
                <a:latin typeface="Cambria" pitchFamily="34" charset="0"/>
                <a:ea typeface="Cambria" pitchFamily="34" charset="-122"/>
                <a:cs typeface="Cambria" pitchFamily="34" charset="-120"/>
              </a:rPr>
              <a:t>The memory</a:t>
            </a:r>
            <a:endParaRPr lang="en-US" sz="1600" dirty="0"/>
          </a:p>
        </p:txBody>
      </p:sp>
      <p:sp>
        <p:nvSpPr>
          <p:cNvPr id="16" name="Text 14"/>
          <p:cNvSpPr txBox="1"/>
          <p:nvPr/>
        </p:nvSpPr>
        <p:spPr>
          <a:xfrm>
            <a:off x="3121762" y="3712464"/>
            <a:ext cx="1494130" cy="237744"/>
          </a:xfrm>
          <a:prstGeom prst="rect">
            <a:avLst/>
          </a:prstGeom>
          <a:noFill/>
          <a:ln/>
        </p:spPr>
        <p:txBody>
          <a:bodyPr wrap="square" lIns="0" tIns="0" rIns="0" bIns="0" rtlCol="0" anchor="ctr"/>
          <a:lstStyle/>
          <a:p>
            <a:pPr indent="0" marL="0">
              <a:buNone/>
            </a:pPr>
            <a:r>
              <a:rPr lang="en-US" sz="1100" b="1" dirty="0">
                <a:solidFill>
                  <a:srgbClr val="7D5900"/>
                </a:solidFill>
                <a:latin typeface="Calibri" pitchFamily="34" charset="0"/>
                <a:ea typeface="Calibri" pitchFamily="34" charset="-122"/>
                <a:cs typeface="Calibri" pitchFamily="34" charset="-120"/>
              </a:rPr>
              <a:t>Weeks 3-5</a:t>
            </a:r>
            <a:endParaRPr lang="en-US" sz="1100" dirty="0"/>
          </a:p>
        </p:txBody>
      </p:sp>
      <p:sp>
        <p:nvSpPr>
          <p:cNvPr id="17" name="Text 15"/>
          <p:cNvSpPr txBox="1"/>
          <p:nvPr/>
        </p:nvSpPr>
        <p:spPr>
          <a:xfrm>
            <a:off x="3121762" y="4005072"/>
            <a:ext cx="1494130" cy="969264"/>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Generated from source. Never hand-maintained.</a:t>
            </a:r>
            <a:endParaRPr lang="en-US" sz="1150" dirty="0"/>
          </a:p>
        </p:txBody>
      </p:sp>
      <p:sp>
        <p:nvSpPr>
          <p:cNvPr id="18" name="Shape 16"/>
          <p:cNvSpPr/>
          <p:nvPr/>
        </p:nvSpPr>
        <p:spPr>
          <a:xfrm>
            <a:off x="5109667" y="2340864"/>
            <a:ext cx="1969618" cy="2743200"/>
          </a:xfrm>
          <a:prstGeom prst="roundRect">
            <a:avLst>
              <a:gd name="adj" fmla="val 2786"/>
            </a:avLst>
          </a:prstGeom>
          <a:solidFill>
            <a:srgbClr val="FBF1D8"/>
          </a:solidFill>
          <a:ln w="12700">
            <a:solidFill>
              <a:srgbClr val="FBF1D8"/>
            </a:solidFill>
            <a:prstDash val="solid"/>
          </a:ln>
          <a:effectLst>
            <a:outerShdw sx="100000" sy="100000" kx="0" ky="0" algn="bl" rotWithShape="0" blurRad="101600" dist="12700" dir="5400000">
              <a:srgbClr val="1A1917">
                <a:alpha val="7000"/>
              </a:srgbClr>
            </a:outerShdw>
          </a:effectLst>
        </p:spPr>
      </p:sp>
      <p:sp>
        <p:nvSpPr>
          <p:cNvPr id="19" name="Shape 17"/>
          <p:cNvSpPr/>
          <p:nvPr/>
        </p:nvSpPr>
        <p:spPr>
          <a:xfrm>
            <a:off x="5347411" y="2560320"/>
            <a:ext cx="384048" cy="384048"/>
          </a:xfrm>
          <a:prstGeom prst="roundRect">
            <a:avLst>
              <a:gd name="adj" fmla="val 23810"/>
            </a:avLst>
          </a:prstGeom>
          <a:solidFill>
            <a:srgbClr val="F2A900"/>
          </a:solidFill>
          <a:ln w="12700">
            <a:solidFill>
              <a:srgbClr val="F2A900"/>
            </a:solidFill>
            <a:prstDash val="solid"/>
          </a:ln>
        </p:spPr>
      </p:sp>
      <p:sp>
        <p:nvSpPr>
          <p:cNvPr id="20" name="Text 18"/>
          <p:cNvSpPr txBox="1"/>
          <p:nvPr/>
        </p:nvSpPr>
        <p:spPr>
          <a:xfrm>
            <a:off x="5347411" y="2560320"/>
            <a:ext cx="384048" cy="384048"/>
          </a:xfrm>
          <a:prstGeom prst="rect">
            <a:avLst/>
          </a:prstGeom>
          <a:noFill/>
          <a:ln/>
        </p:spPr>
        <p:txBody>
          <a:bodyPr wrap="square" lIns="0" tIns="0" rIns="0" bIns="0" rtlCol="0" anchor="ctr"/>
          <a:lstStyle/>
          <a:p>
            <a:pPr algn="ctr" indent="0" marL="0">
              <a:buNone/>
            </a:pPr>
            <a:r>
              <a:rPr lang="en-US" sz="1400" b="1" dirty="0">
                <a:solidFill>
                  <a:srgbClr val="1A1917"/>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5347411" y="3072384"/>
            <a:ext cx="1494130" cy="621792"/>
          </a:xfrm>
          <a:prstGeom prst="rect">
            <a:avLst/>
          </a:prstGeom>
          <a:noFill/>
          <a:ln/>
        </p:spPr>
        <p:txBody>
          <a:bodyPr wrap="square" lIns="0" tIns="0" rIns="0" bIns="0" rtlCol="0" anchor="ctr"/>
          <a:lstStyle/>
          <a:p>
            <a:pPr indent="0" marL="0">
              <a:lnSpc>
                <a:spcPct val="105000"/>
              </a:lnSpc>
              <a:buNone/>
            </a:pPr>
            <a:r>
              <a:rPr lang="en-US" sz="1600" b="1" dirty="0">
                <a:solidFill>
                  <a:srgbClr val="1A1917"/>
                </a:solidFill>
                <a:latin typeface="Cambria" pitchFamily="34" charset="0"/>
                <a:ea typeface="Cambria" pitchFamily="34" charset="-122"/>
                <a:cs typeface="Cambria" pitchFamily="34" charset="-120"/>
              </a:rPr>
              <a:t>The weekly pass</a:t>
            </a:r>
            <a:endParaRPr lang="en-US" sz="1600" dirty="0"/>
          </a:p>
        </p:txBody>
      </p:sp>
      <p:sp>
        <p:nvSpPr>
          <p:cNvPr id="22" name="Text 20"/>
          <p:cNvSpPr txBox="1"/>
          <p:nvPr/>
        </p:nvSpPr>
        <p:spPr>
          <a:xfrm>
            <a:off x="5347411" y="3712464"/>
            <a:ext cx="1494130" cy="237744"/>
          </a:xfrm>
          <a:prstGeom prst="rect">
            <a:avLst/>
          </a:prstGeom>
          <a:noFill/>
          <a:ln/>
        </p:spPr>
        <p:txBody>
          <a:bodyPr wrap="square" lIns="0" tIns="0" rIns="0" bIns="0" rtlCol="0" anchor="ctr"/>
          <a:lstStyle/>
          <a:p>
            <a:pPr indent="0" marL="0">
              <a:buNone/>
            </a:pPr>
            <a:r>
              <a:rPr lang="en-US" sz="1100" b="1" dirty="0">
                <a:solidFill>
                  <a:srgbClr val="7D5900"/>
                </a:solidFill>
                <a:latin typeface="Calibri" pitchFamily="34" charset="0"/>
                <a:ea typeface="Calibri" pitchFamily="34" charset="-122"/>
                <a:cs typeface="Calibri" pitchFamily="34" charset="-120"/>
              </a:rPr>
              <a:t>Weeks 5-8</a:t>
            </a:r>
            <a:endParaRPr lang="en-US" sz="1100" dirty="0"/>
          </a:p>
        </p:txBody>
      </p:sp>
      <p:sp>
        <p:nvSpPr>
          <p:cNvPr id="23" name="Text 21"/>
          <p:cNvSpPr txBox="1"/>
          <p:nvPr/>
        </p:nvSpPr>
        <p:spPr>
          <a:xfrm>
            <a:off x="5347411" y="4005072"/>
            <a:ext cx="1494130" cy="969264"/>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Ranked proposals with reasoning attached.</a:t>
            </a:r>
            <a:endParaRPr lang="en-US" sz="1150" dirty="0"/>
          </a:p>
        </p:txBody>
      </p:sp>
      <p:sp>
        <p:nvSpPr>
          <p:cNvPr id="24" name="Shape 22"/>
          <p:cNvSpPr/>
          <p:nvPr/>
        </p:nvSpPr>
        <p:spPr>
          <a:xfrm>
            <a:off x="7335317" y="2340864"/>
            <a:ext cx="1969618" cy="2743200"/>
          </a:xfrm>
          <a:prstGeom prst="roundRect">
            <a:avLst>
              <a:gd name="adj" fmla="val 2786"/>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25" name="Shape 23"/>
          <p:cNvSpPr/>
          <p:nvPr/>
        </p:nvSpPr>
        <p:spPr>
          <a:xfrm>
            <a:off x="7573061" y="2560320"/>
            <a:ext cx="384048" cy="384048"/>
          </a:xfrm>
          <a:prstGeom prst="roundRect">
            <a:avLst>
              <a:gd name="adj" fmla="val 23810"/>
            </a:avLst>
          </a:prstGeom>
          <a:solidFill>
            <a:srgbClr val="EDEBE1"/>
          </a:solidFill>
          <a:ln w="12700">
            <a:solidFill>
              <a:srgbClr val="EDEBE1"/>
            </a:solidFill>
            <a:prstDash val="solid"/>
          </a:ln>
        </p:spPr>
      </p:sp>
      <p:sp>
        <p:nvSpPr>
          <p:cNvPr id="26" name="Text 24"/>
          <p:cNvSpPr txBox="1"/>
          <p:nvPr/>
        </p:nvSpPr>
        <p:spPr>
          <a:xfrm>
            <a:off x="7573061" y="2560320"/>
            <a:ext cx="384048" cy="384048"/>
          </a:xfrm>
          <a:prstGeom prst="rect">
            <a:avLst/>
          </a:prstGeom>
          <a:noFill/>
          <a:ln/>
        </p:spPr>
        <p:txBody>
          <a:bodyPr wrap="square" lIns="0" tIns="0" rIns="0" bIns="0" rtlCol="0" anchor="ctr"/>
          <a:lstStyle/>
          <a:p>
            <a:pPr algn="ctr" indent="0" marL="0">
              <a:buNone/>
            </a:pPr>
            <a:r>
              <a:rPr lang="en-US" sz="1400" b="1" dirty="0">
                <a:solidFill>
                  <a:srgbClr val="5F5B51"/>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7573061" y="3072384"/>
            <a:ext cx="1494130" cy="621792"/>
          </a:xfrm>
          <a:prstGeom prst="rect">
            <a:avLst/>
          </a:prstGeom>
          <a:noFill/>
          <a:ln/>
        </p:spPr>
        <p:txBody>
          <a:bodyPr wrap="square" lIns="0" tIns="0" rIns="0" bIns="0" rtlCol="0" anchor="ctr"/>
          <a:lstStyle/>
          <a:p>
            <a:pPr indent="0" marL="0">
              <a:lnSpc>
                <a:spcPct val="105000"/>
              </a:lnSpc>
              <a:buNone/>
            </a:pPr>
            <a:r>
              <a:rPr lang="en-US" sz="1600" b="1" dirty="0">
                <a:solidFill>
                  <a:srgbClr val="1A1917"/>
                </a:solidFill>
                <a:latin typeface="Cambria" pitchFamily="34" charset="0"/>
                <a:ea typeface="Cambria" pitchFamily="34" charset="-122"/>
                <a:cs typeface="Cambria" pitchFamily="34" charset="-120"/>
              </a:rPr>
              <a:t>The connection</a:t>
            </a:r>
            <a:endParaRPr lang="en-US" sz="1600" dirty="0"/>
          </a:p>
        </p:txBody>
      </p:sp>
      <p:sp>
        <p:nvSpPr>
          <p:cNvPr id="28" name="Text 26"/>
          <p:cNvSpPr txBox="1"/>
          <p:nvPr/>
        </p:nvSpPr>
        <p:spPr>
          <a:xfrm>
            <a:off x="7573061" y="3712464"/>
            <a:ext cx="1494130" cy="237744"/>
          </a:xfrm>
          <a:prstGeom prst="rect">
            <a:avLst/>
          </a:prstGeom>
          <a:noFill/>
          <a:ln/>
        </p:spPr>
        <p:txBody>
          <a:bodyPr wrap="square" lIns="0" tIns="0" rIns="0" bIns="0" rtlCol="0" anchor="ctr"/>
          <a:lstStyle/>
          <a:p>
            <a:pPr indent="0" marL="0">
              <a:buNone/>
            </a:pPr>
            <a:r>
              <a:rPr lang="en-US" sz="1100" b="1" dirty="0">
                <a:solidFill>
                  <a:srgbClr val="7D5900"/>
                </a:solidFill>
                <a:latin typeface="Calibri" pitchFamily="34" charset="0"/>
                <a:ea typeface="Calibri" pitchFamily="34" charset="-122"/>
                <a:cs typeface="Calibri" pitchFamily="34" charset="-120"/>
              </a:rPr>
              <a:t>Weeks 7-10</a:t>
            </a:r>
            <a:endParaRPr lang="en-US" sz="1100" dirty="0"/>
          </a:p>
        </p:txBody>
      </p:sp>
      <p:sp>
        <p:nvSpPr>
          <p:cNvPr id="29" name="Text 27"/>
          <p:cNvSpPr txBox="1"/>
          <p:nvPr/>
        </p:nvSpPr>
        <p:spPr>
          <a:xfrm>
            <a:off x="7573061" y="4005072"/>
            <a:ext cx="1494130" cy="969264"/>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Reuse during planning, invisible to the builder.</a:t>
            </a:r>
            <a:endParaRPr lang="en-US" sz="1150" dirty="0"/>
          </a:p>
        </p:txBody>
      </p:sp>
      <p:sp>
        <p:nvSpPr>
          <p:cNvPr id="30" name="Shape 28"/>
          <p:cNvSpPr/>
          <p:nvPr/>
        </p:nvSpPr>
        <p:spPr>
          <a:xfrm>
            <a:off x="9560966" y="2340864"/>
            <a:ext cx="1969618" cy="2743200"/>
          </a:xfrm>
          <a:prstGeom prst="roundRect">
            <a:avLst>
              <a:gd name="adj" fmla="val 2786"/>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31" name="Shape 29"/>
          <p:cNvSpPr/>
          <p:nvPr/>
        </p:nvSpPr>
        <p:spPr>
          <a:xfrm>
            <a:off x="9798710" y="2560320"/>
            <a:ext cx="384048" cy="384048"/>
          </a:xfrm>
          <a:prstGeom prst="roundRect">
            <a:avLst>
              <a:gd name="adj" fmla="val 23810"/>
            </a:avLst>
          </a:prstGeom>
          <a:solidFill>
            <a:srgbClr val="EDEBE1"/>
          </a:solidFill>
          <a:ln w="12700">
            <a:solidFill>
              <a:srgbClr val="EDEBE1"/>
            </a:solidFill>
            <a:prstDash val="solid"/>
          </a:ln>
        </p:spPr>
      </p:sp>
      <p:sp>
        <p:nvSpPr>
          <p:cNvPr id="32" name="Text 30"/>
          <p:cNvSpPr txBox="1"/>
          <p:nvPr/>
        </p:nvSpPr>
        <p:spPr>
          <a:xfrm>
            <a:off x="9798710" y="2560320"/>
            <a:ext cx="384048" cy="384048"/>
          </a:xfrm>
          <a:prstGeom prst="rect">
            <a:avLst/>
          </a:prstGeom>
          <a:noFill/>
          <a:ln/>
        </p:spPr>
        <p:txBody>
          <a:bodyPr wrap="square" lIns="0" tIns="0" rIns="0" bIns="0" rtlCol="0" anchor="ctr"/>
          <a:lstStyle/>
          <a:p>
            <a:pPr algn="ctr" indent="0" marL="0">
              <a:buNone/>
            </a:pPr>
            <a:r>
              <a:rPr lang="en-US" sz="1400" b="1" dirty="0">
                <a:solidFill>
                  <a:srgbClr val="5F5B51"/>
                </a:solidFill>
                <a:latin typeface="Calibri" pitchFamily="34" charset="0"/>
                <a:ea typeface="Calibri" pitchFamily="34" charset="-122"/>
                <a:cs typeface="Calibri" pitchFamily="34" charset="-120"/>
              </a:rPr>
              <a:t>5</a:t>
            </a:r>
            <a:endParaRPr lang="en-US" sz="1400" dirty="0"/>
          </a:p>
        </p:txBody>
      </p:sp>
      <p:sp>
        <p:nvSpPr>
          <p:cNvPr id="33" name="Text 31"/>
          <p:cNvSpPr txBox="1"/>
          <p:nvPr/>
        </p:nvSpPr>
        <p:spPr>
          <a:xfrm>
            <a:off x="9798710" y="3072384"/>
            <a:ext cx="1494130" cy="621792"/>
          </a:xfrm>
          <a:prstGeom prst="rect">
            <a:avLst/>
          </a:prstGeom>
          <a:noFill/>
          <a:ln/>
        </p:spPr>
        <p:txBody>
          <a:bodyPr wrap="square" lIns="0" tIns="0" rIns="0" bIns="0" rtlCol="0" anchor="ctr"/>
          <a:lstStyle/>
          <a:p>
            <a:pPr indent="0" marL="0">
              <a:lnSpc>
                <a:spcPct val="105000"/>
              </a:lnSpc>
              <a:buNone/>
            </a:pPr>
            <a:r>
              <a:rPr lang="en-US" sz="1600" b="1" dirty="0">
                <a:solidFill>
                  <a:srgbClr val="1A1917"/>
                </a:solidFill>
                <a:latin typeface="Cambria" pitchFamily="34" charset="0"/>
                <a:ea typeface="Cambria" pitchFamily="34" charset="-122"/>
                <a:cs typeface="Cambria" pitchFamily="34" charset="-120"/>
              </a:rPr>
              <a:t>First shared capabilities</a:t>
            </a:r>
            <a:endParaRPr lang="en-US" sz="1600" dirty="0"/>
          </a:p>
        </p:txBody>
      </p:sp>
      <p:sp>
        <p:nvSpPr>
          <p:cNvPr id="34" name="Text 32"/>
          <p:cNvSpPr txBox="1"/>
          <p:nvPr/>
        </p:nvSpPr>
        <p:spPr>
          <a:xfrm>
            <a:off x="9798710" y="3712464"/>
            <a:ext cx="1494130" cy="237744"/>
          </a:xfrm>
          <a:prstGeom prst="rect">
            <a:avLst/>
          </a:prstGeom>
          <a:noFill/>
          <a:ln/>
        </p:spPr>
        <p:txBody>
          <a:bodyPr wrap="square" lIns="0" tIns="0" rIns="0" bIns="0" rtlCol="0" anchor="ctr"/>
          <a:lstStyle/>
          <a:p>
            <a:pPr indent="0" marL="0">
              <a:buNone/>
            </a:pPr>
            <a:r>
              <a:rPr lang="en-US" sz="1100" b="1" dirty="0">
                <a:solidFill>
                  <a:srgbClr val="7D5900"/>
                </a:solidFill>
                <a:latin typeface="Calibri" pitchFamily="34" charset="0"/>
                <a:ea typeface="Calibri" pitchFamily="34" charset="-122"/>
                <a:cs typeface="Calibri" pitchFamily="34" charset="-120"/>
              </a:rPr>
              <a:t>Weeks 10-13</a:t>
            </a:r>
            <a:endParaRPr lang="en-US" sz="1100" dirty="0"/>
          </a:p>
        </p:txBody>
      </p:sp>
      <p:sp>
        <p:nvSpPr>
          <p:cNvPr id="35" name="Text 33"/>
          <p:cNvSpPr txBox="1"/>
          <p:nvPr/>
        </p:nvSpPr>
        <p:spPr>
          <a:xfrm>
            <a:off x="9798710" y="4005072"/>
            <a:ext cx="1494130" cy="969264"/>
          </a:xfrm>
          <a:prstGeom prst="rect">
            <a:avLst/>
          </a:prstGeom>
          <a:noFill/>
          <a:ln/>
        </p:spPr>
        <p:txBody>
          <a:bodyPr wrap="square" lIns="0" tIns="0" rIns="0" bIns="0" rtlCol="0" anchor="ctr"/>
          <a:lstStyle/>
          <a:p>
            <a:pPr indent="0" marL="0">
              <a:lnSpc>
                <a:spcPct val="112000"/>
              </a:lnSpc>
              <a:buNone/>
            </a:pPr>
            <a:r>
              <a:rPr lang="en-US" sz="1150" dirty="0">
                <a:solidFill>
                  <a:srgbClr val="5F5B51"/>
                </a:solidFill>
                <a:latin typeface="Calibri" pitchFamily="34" charset="0"/>
                <a:ea typeface="Calibri" pitchFamily="34" charset="-122"/>
                <a:cs typeface="Calibri" pitchFamily="34" charset="-120"/>
              </a:rPr>
              <a:t>Three of them, with tests and a demonstrated rollback.</a:t>
            </a:r>
            <a:endParaRPr lang="en-US" sz="1150" dirty="0"/>
          </a:p>
        </p:txBody>
      </p:sp>
      <p:sp>
        <p:nvSpPr>
          <p:cNvPr id="36" name="Text 34"/>
          <p:cNvSpPr txBox="1"/>
          <p:nvPr/>
        </p:nvSpPr>
        <p:spPr>
          <a:xfrm>
            <a:off x="5109667" y="5175504"/>
            <a:ext cx="1969618" cy="274320"/>
          </a:xfrm>
          <a:prstGeom prst="rect">
            <a:avLst/>
          </a:prstGeom>
          <a:noFill/>
          <a:ln/>
        </p:spPr>
        <p:txBody>
          <a:bodyPr wrap="square" lIns="0" tIns="0" rIns="0" bIns="0" rtlCol="0" anchor="ctr"/>
          <a:lstStyle/>
          <a:p>
            <a:pPr algn="ctr" indent="0" marL="0">
              <a:buNone/>
            </a:pPr>
            <a:r>
              <a:rPr lang="en-US" sz="1050" b="1" dirty="0">
                <a:solidFill>
                  <a:srgbClr val="7D5900"/>
                </a:solidFill>
                <a:latin typeface="Calibri" pitchFamily="34" charset="0"/>
                <a:ea typeface="Calibri" pitchFamily="34" charset="-122"/>
                <a:cs typeface="Calibri" pitchFamily="34" charset="-120"/>
              </a:rPr>
              <a:t>stage 3 is the first shippable version</a:t>
            </a:r>
            <a:endParaRPr lang="en-US" sz="1050" dirty="0"/>
          </a:p>
        </p:txBody>
      </p:sp>
      <p:sp>
        <p:nvSpPr>
          <p:cNvPr id="37" name="Text 35"/>
          <p:cNvSpPr txBox="1"/>
          <p:nvPr/>
        </p:nvSpPr>
        <p:spPr>
          <a:xfrm>
            <a:off x="658368" y="5614416"/>
            <a:ext cx="10872216" cy="310896"/>
          </a:xfrm>
          <a:prstGeom prst="rect">
            <a:avLst/>
          </a:prstGeom>
          <a:noFill/>
          <a:ln/>
        </p:spPr>
        <p:txBody>
          <a:bodyPr wrap="square" lIns="0" tIns="0" rIns="0" bIns="0" rtlCol="0" anchor="ctr"/>
          <a:lstStyle/>
          <a:p>
            <a:pPr indent="0" marL="0">
              <a:buNone/>
            </a:pPr>
            <a:r>
              <a:rPr lang="en-US" sz="1250" i="1" dirty="0">
                <a:solidFill>
                  <a:srgbClr val="8A857A"/>
                </a:solidFill>
                <a:latin typeface="Calibri" pitchFamily="34" charset="0"/>
                <a:ea typeface="Calibri" pitchFamily="34" charset="-122"/>
                <a:cs typeface="Calibri" pitchFamily="34" charset="-120"/>
              </a:rPr>
              <a:t>Stage 1 is the one nobody skips. Every estimate after it depends on its answer.</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1EFE8"/>
        </a:solidFill>
      </p:bgPr>
    </p:bg>
    <p:spTree>
      <p:nvGrpSpPr>
        <p:cNvPr id="1" name=""/>
        <p:cNvGrpSpPr/>
        <p:nvPr/>
      </p:nvGrpSpPr>
      <p:grpSpPr>
        <a:xfrm>
          <a:off x="0" y="0"/>
          <a:ext cx="0" cy="0"/>
          <a:chOff x="0" y="0"/>
          <a:chExt cx="0" cy="0"/>
        </a:xfrm>
      </p:grpSpPr>
      <p:sp>
        <p:nvSpPr>
          <p:cNvPr id="2" name="Text 0"/>
          <p:cNvSpPr txBox="1"/>
          <p:nvPr/>
        </p:nvSpPr>
        <p:spPr>
          <a:xfrm>
            <a:off x="658368" y="475488"/>
            <a:ext cx="10872216" cy="237744"/>
          </a:xfrm>
          <a:prstGeom prst="rect">
            <a:avLst/>
          </a:prstGeom>
          <a:noFill/>
          <a:ln/>
        </p:spPr>
        <p:txBody>
          <a:bodyPr wrap="square" lIns="0" tIns="0" rIns="0" bIns="0" rtlCol="0" anchor="ctr"/>
          <a:lstStyle/>
          <a:p>
            <a:pPr indent="0" marL="0">
              <a:buNone/>
            </a:pPr>
            <a:r>
              <a:rPr lang="en-US" sz="1050" b="1" spc="200" kern="0" dirty="0">
                <a:solidFill>
                  <a:srgbClr val="7D5900"/>
                </a:solidFill>
                <a:latin typeface="Calibri" pitchFamily="34" charset="0"/>
                <a:ea typeface="Calibri" pitchFamily="34" charset="-122"/>
                <a:cs typeface="Calibri" pitchFamily="34" charset="-120"/>
              </a:rPr>
              <a:t>BEFORE YOU AGREE</a:t>
            </a:r>
            <a:endParaRPr lang="en-US" sz="1050" dirty="0"/>
          </a:p>
        </p:txBody>
      </p:sp>
      <p:sp>
        <p:nvSpPr>
          <p:cNvPr id="3" name="Text 1"/>
          <p:cNvSpPr txBox="1"/>
          <p:nvPr/>
        </p:nvSpPr>
        <p:spPr>
          <a:xfrm>
            <a:off x="658368" y="786384"/>
            <a:ext cx="10872216" cy="658368"/>
          </a:xfrm>
          <a:prstGeom prst="rect">
            <a:avLst/>
          </a:prstGeom>
          <a:noFill/>
          <a:ln/>
        </p:spPr>
        <p:txBody>
          <a:bodyPr wrap="square" lIns="0" tIns="0" rIns="0" bIns="0" rtlCol="0" anchor="ctr"/>
          <a:lstStyle/>
          <a:p>
            <a:pPr indent="0" marL="0">
              <a:lnSpc>
                <a:spcPct val="106000"/>
              </a:lnSpc>
              <a:buNone/>
            </a:pPr>
            <a:r>
              <a:rPr lang="en-US" sz="3300" b="1" dirty="0">
                <a:solidFill>
                  <a:srgbClr val="1A1917"/>
                </a:solidFill>
                <a:latin typeface="Cambria" pitchFamily="34" charset="0"/>
                <a:ea typeface="Cambria" pitchFamily="34" charset="-122"/>
                <a:cs typeface="Cambria" pitchFamily="34" charset="-120"/>
              </a:rPr>
              <a:t>How you would know this was the wrong call.</a:t>
            </a:r>
            <a:endParaRPr lang="en-US" sz="3300" dirty="0"/>
          </a:p>
        </p:txBody>
      </p:sp>
      <p:sp>
        <p:nvSpPr>
          <p:cNvPr id="4" name="Text 2"/>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8A857A"/>
                </a:solidFill>
                <a:latin typeface="Calibri" pitchFamily="34" charset="0"/>
                <a:ea typeface="Calibri" pitchFamily="34" charset="-122"/>
                <a:cs typeface="Calibri" pitchFamily="34" charset="-120"/>
              </a:rPr>
              <a:t>Capital Factory  ·  working concept</a:t>
            </a:r>
            <a:endParaRPr lang="en-US" sz="900" dirty="0"/>
          </a:p>
        </p:txBody>
      </p:sp>
      <p:sp>
        <p:nvSpPr>
          <p:cNvPr id="5" name="Text 3"/>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8A857A"/>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658368" y="2377440"/>
            <a:ext cx="10872216" cy="877824"/>
          </a:xfrm>
          <a:prstGeom prst="roundRect">
            <a:avLst>
              <a:gd name="adj" fmla="val 6250"/>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7" name="Text 5"/>
          <p:cNvSpPr txBox="1"/>
          <p:nvPr/>
        </p:nvSpPr>
        <p:spPr>
          <a:xfrm>
            <a:off x="1024128" y="2523744"/>
            <a:ext cx="4937760" cy="585216"/>
          </a:xfrm>
          <a:prstGeom prst="rect">
            <a:avLst/>
          </a:prstGeom>
          <a:noFill/>
          <a:ln/>
        </p:spPr>
        <p:txBody>
          <a:bodyPr wrap="square" lIns="0" tIns="0" rIns="0" bIns="0" rtlCol="0" anchor="ctr"/>
          <a:lstStyle/>
          <a:p>
            <a:pPr indent="0" marL="0">
              <a:lnSpc>
                <a:spcPct val="108000"/>
              </a:lnSpc>
              <a:buNone/>
            </a:pPr>
            <a:r>
              <a:rPr lang="en-US" sz="1450" b="1" dirty="0">
                <a:solidFill>
                  <a:srgbClr val="1A1917"/>
                </a:solidFill>
                <a:latin typeface="Calibri" pitchFamily="34" charset="0"/>
                <a:ea typeface="Calibri" pitchFamily="34" charset="-122"/>
                <a:cs typeface="Calibri" pitchFamily="34" charset="-120"/>
              </a:rPr>
              <a:t>Fewer than four capabilities pass the test</a:t>
            </a:r>
            <a:endParaRPr lang="en-US" sz="1450" dirty="0"/>
          </a:p>
        </p:txBody>
      </p:sp>
      <p:sp>
        <p:nvSpPr>
          <p:cNvPr id="8" name="Text 6"/>
          <p:cNvSpPr txBox="1"/>
          <p:nvPr/>
        </p:nvSpPr>
        <p:spPr>
          <a:xfrm>
            <a:off x="6144768" y="2523744"/>
            <a:ext cx="5020056" cy="585216"/>
          </a:xfrm>
          <a:prstGeom prst="rect">
            <a:avLst/>
          </a:prstGeom>
          <a:noFill/>
          <a:ln/>
        </p:spPr>
        <p:txBody>
          <a:bodyPr wrap="square" lIns="0" tIns="0" rIns="0" bIns="0" rtlCol="0" anchor="ctr"/>
          <a:lstStyle/>
          <a:p>
            <a:pPr indent="0" marL="0">
              <a:lnSpc>
                <a:spcPct val="112000"/>
              </a:lnSpc>
              <a:buNone/>
            </a:pPr>
            <a:r>
              <a:rPr lang="en-US" sz="1300" dirty="0">
                <a:solidFill>
                  <a:srgbClr val="5F5B51"/>
                </a:solidFill>
                <a:latin typeface="Calibri" pitchFamily="34" charset="0"/>
                <a:ea typeface="Calibri" pitchFamily="34" charset="-122"/>
                <a:cs typeface="Calibri" pitchFamily="34" charset="-120"/>
              </a:rPr>
              <a:t>Then do not build a shared core at all. Keep the memory and the weekly pass, and stop there.</a:t>
            </a:r>
            <a:endParaRPr lang="en-US" sz="1300" dirty="0"/>
          </a:p>
        </p:txBody>
      </p:sp>
      <p:sp>
        <p:nvSpPr>
          <p:cNvPr id="9" name="Shape 7"/>
          <p:cNvSpPr/>
          <p:nvPr/>
        </p:nvSpPr>
        <p:spPr>
          <a:xfrm>
            <a:off x="658368" y="3438144"/>
            <a:ext cx="10872216" cy="877824"/>
          </a:xfrm>
          <a:prstGeom prst="roundRect">
            <a:avLst>
              <a:gd name="adj" fmla="val 6250"/>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0" name="Text 8"/>
          <p:cNvSpPr txBox="1"/>
          <p:nvPr/>
        </p:nvSpPr>
        <p:spPr>
          <a:xfrm>
            <a:off x="1024128" y="3584448"/>
            <a:ext cx="4937760" cy="585216"/>
          </a:xfrm>
          <a:prstGeom prst="rect">
            <a:avLst/>
          </a:prstGeom>
          <a:noFill/>
          <a:ln/>
        </p:spPr>
        <p:txBody>
          <a:bodyPr wrap="square" lIns="0" tIns="0" rIns="0" bIns="0" rtlCol="0" anchor="ctr"/>
          <a:lstStyle/>
          <a:p>
            <a:pPr indent="0" marL="0">
              <a:lnSpc>
                <a:spcPct val="108000"/>
              </a:lnSpc>
              <a:buNone/>
            </a:pPr>
            <a:r>
              <a:rPr lang="en-US" sz="1450" b="1" dirty="0">
                <a:solidFill>
                  <a:srgbClr val="1A1917"/>
                </a:solidFill>
                <a:latin typeface="Calibri" pitchFamily="34" charset="0"/>
                <a:ea typeface="Calibri" pitchFamily="34" charset="-122"/>
                <a:cs typeface="Calibri" pitchFamily="34" charset="-120"/>
              </a:rPr>
              <a:t>A first-party capability registry ships</a:t>
            </a:r>
            <a:endParaRPr lang="en-US" sz="1450" dirty="0"/>
          </a:p>
        </p:txBody>
      </p:sp>
      <p:sp>
        <p:nvSpPr>
          <p:cNvPr id="11" name="Text 9"/>
          <p:cNvSpPr txBox="1"/>
          <p:nvPr/>
        </p:nvSpPr>
        <p:spPr>
          <a:xfrm>
            <a:off x="6144768" y="3584448"/>
            <a:ext cx="5020056" cy="585216"/>
          </a:xfrm>
          <a:prstGeom prst="rect">
            <a:avLst/>
          </a:prstGeom>
          <a:noFill/>
          <a:ln/>
        </p:spPr>
        <p:txBody>
          <a:bodyPr wrap="square" lIns="0" tIns="0" rIns="0" bIns="0" rtlCol="0" anchor="ctr"/>
          <a:lstStyle/>
          <a:p>
            <a:pPr indent="0" marL="0">
              <a:lnSpc>
                <a:spcPct val="112000"/>
              </a:lnSpc>
              <a:buNone/>
            </a:pPr>
            <a:r>
              <a:rPr lang="en-US" sz="1300" dirty="0">
                <a:solidFill>
                  <a:srgbClr val="5F5B51"/>
                </a:solidFill>
                <a:latin typeface="Calibri" pitchFamily="34" charset="0"/>
                <a:ea typeface="Calibri" pitchFamily="34" charset="-122"/>
                <a:cs typeface="Calibri" pitchFamily="34" charset="-120"/>
              </a:rPr>
              <a:t>One that reads the existing format. Adopt it, port the content, and throw our plumbing away.</a:t>
            </a:r>
            <a:endParaRPr lang="en-US" sz="1300" dirty="0"/>
          </a:p>
        </p:txBody>
      </p:sp>
      <p:sp>
        <p:nvSpPr>
          <p:cNvPr id="12" name="Shape 10"/>
          <p:cNvSpPr/>
          <p:nvPr/>
        </p:nvSpPr>
        <p:spPr>
          <a:xfrm>
            <a:off x="658368" y="4498848"/>
            <a:ext cx="10872216" cy="877824"/>
          </a:xfrm>
          <a:prstGeom prst="roundRect">
            <a:avLst>
              <a:gd name="adj" fmla="val 6250"/>
            </a:avLst>
          </a:prstGeom>
          <a:solidFill>
            <a:srgbClr val="FFFFFF"/>
          </a:solidFill>
          <a:ln w="12700">
            <a:solidFill>
              <a:srgbClr val="E3E1D7"/>
            </a:solidFill>
            <a:prstDash val="solid"/>
          </a:ln>
          <a:effectLst>
            <a:outerShdw sx="100000" sy="100000" kx="0" ky="0" algn="bl" rotWithShape="0" blurRad="101600" dist="12700" dir="5400000">
              <a:srgbClr val="1A1917">
                <a:alpha val="7000"/>
              </a:srgbClr>
            </a:outerShdw>
          </a:effectLst>
        </p:spPr>
      </p:sp>
      <p:sp>
        <p:nvSpPr>
          <p:cNvPr id="13" name="Text 11"/>
          <p:cNvSpPr txBox="1"/>
          <p:nvPr/>
        </p:nvSpPr>
        <p:spPr>
          <a:xfrm>
            <a:off x="1024128" y="4645152"/>
            <a:ext cx="4937760" cy="585216"/>
          </a:xfrm>
          <a:prstGeom prst="rect">
            <a:avLst/>
          </a:prstGeom>
          <a:noFill/>
          <a:ln/>
        </p:spPr>
        <p:txBody>
          <a:bodyPr wrap="square" lIns="0" tIns="0" rIns="0" bIns="0" rtlCol="0" anchor="ctr"/>
          <a:lstStyle/>
          <a:p>
            <a:pPr indent="0" marL="0">
              <a:lnSpc>
                <a:spcPct val="108000"/>
              </a:lnSpc>
              <a:buNone/>
            </a:pPr>
            <a:r>
              <a:rPr lang="en-US" sz="1450" b="1" dirty="0">
                <a:solidFill>
                  <a:srgbClr val="1A1917"/>
                </a:solidFill>
                <a:latin typeface="Calibri" pitchFamily="34" charset="0"/>
                <a:ea typeface="Calibri" pitchFamily="34" charset="-122"/>
                <a:cs typeface="Calibri" pitchFamily="34" charset="-120"/>
              </a:rPr>
              <a:t>Time from plan to working app goes up</a:t>
            </a:r>
            <a:endParaRPr lang="en-US" sz="1450" dirty="0"/>
          </a:p>
        </p:txBody>
      </p:sp>
      <p:sp>
        <p:nvSpPr>
          <p:cNvPr id="14" name="Text 12"/>
          <p:cNvSpPr txBox="1"/>
          <p:nvPr/>
        </p:nvSpPr>
        <p:spPr>
          <a:xfrm>
            <a:off x="6144768" y="4645152"/>
            <a:ext cx="5020056" cy="585216"/>
          </a:xfrm>
          <a:prstGeom prst="rect">
            <a:avLst/>
          </a:prstGeom>
          <a:noFill/>
          <a:ln/>
        </p:spPr>
        <p:txBody>
          <a:bodyPr wrap="square" lIns="0" tIns="0" rIns="0" bIns="0" rtlCol="0" anchor="ctr"/>
          <a:lstStyle/>
          <a:p>
            <a:pPr indent="0" marL="0">
              <a:lnSpc>
                <a:spcPct val="112000"/>
              </a:lnSpc>
              <a:buNone/>
            </a:pPr>
            <a:r>
              <a:rPr lang="en-US" sz="1300" dirty="0">
                <a:solidFill>
                  <a:srgbClr val="5F5B51"/>
                </a:solidFill>
                <a:latin typeface="Calibri" pitchFamily="34" charset="0"/>
                <a:ea typeface="Calibri" pitchFamily="34" charset="-122"/>
                <a:cs typeface="Calibri" pitchFamily="34" charset="-120"/>
              </a:rPr>
              <a:t>Then the shared layer is wrong for this team, whatever it did to the duplication count.</a:t>
            </a:r>
            <a:endParaRPr lang="en-US" sz="1300" dirty="0"/>
          </a:p>
        </p:txBody>
      </p:sp>
      <p:sp>
        <p:nvSpPr>
          <p:cNvPr id="15" name="Text 13"/>
          <p:cNvSpPr txBox="1"/>
          <p:nvPr/>
        </p:nvSpPr>
        <p:spPr>
          <a:xfrm>
            <a:off x="658368" y="5614416"/>
            <a:ext cx="10872216" cy="329184"/>
          </a:xfrm>
          <a:prstGeom prst="rect">
            <a:avLst/>
          </a:prstGeom>
          <a:noFill/>
          <a:ln/>
        </p:spPr>
        <p:txBody>
          <a:bodyPr wrap="square" lIns="0" tIns="0" rIns="0" bIns="0" rtlCol="0" anchor="ctr"/>
          <a:lstStyle/>
          <a:p>
            <a:pPr indent="0" marL="0">
              <a:buNone/>
            </a:pPr>
            <a:r>
              <a:rPr lang="en-US" sz="1300" i="1" dirty="0">
                <a:solidFill>
                  <a:srgbClr val="8A857A"/>
                </a:solidFill>
                <a:latin typeface="Calibri" pitchFamily="34" charset="0"/>
                <a:ea typeface="Calibri" pitchFamily="34" charset="-122"/>
                <a:cs typeface="Calibri" pitchFamily="34" charset="-120"/>
              </a:rPr>
              <a:t>These are written down on purpose, so the recommendation can be checked rather than trusted.</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30F"/>
        </a:solidFill>
      </p:bgPr>
    </p:bg>
    <p:spTree>
      <p:nvGrpSpPr>
        <p:cNvPr id="1" name=""/>
        <p:cNvGrpSpPr/>
        <p:nvPr/>
      </p:nvGrpSpPr>
      <p:grpSpPr>
        <a:xfrm>
          <a:off x="0" y="0"/>
          <a:ext cx="0" cy="0"/>
          <a:chOff x="0" y="0"/>
          <a:chExt cx="0" cy="0"/>
        </a:xfrm>
      </p:grpSpPr>
      <p:sp>
        <p:nvSpPr>
          <p:cNvPr id="2" name="Text 0"/>
          <p:cNvSpPr txBox="1"/>
          <p:nvPr/>
        </p:nvSpPr>
        <p:spPr>
          <a:xfrm>
            <a:off x="658368" y="6382512"/>
            <a:ext cx="7315200" cy="274320"/>
          </a:xfrm>
          <a:prstGeom prst="rect">
            <a:avLst/>
          </a:prstGeom>
          <a:noFill/>
          <a:ln/>
        </p:spPr>
        <p:txBody>
          <a:bodyPr wrap="square" lIns="0" tIns="0" rIns="0" bIns="0" rtlCol="0" anchor="ctr"/>
          <a:lstStyle/>
          <a:p>
            <a:pPr indent="0" marL="0">
              <a:buNone/>
            </a:pPr>
            <a:r>
              <a:rPr lang="en-US" sz="900" dirty="0">
                <a:solidFill>
                  <a:srgbClr val="6E6A5F"/>
                </a:solidFill>
                <a:latin typeface="Calibri" pitchFamily="34" charset="0"/>
                <a:ea typeface="Calibri" pitchFamily="34" charset="-122"/>
                <a:cs typeface="Calibri" pitchFamily="34" charset="-120"/>
              </a:rPr>
              <a:t>Capital Factory  ·  working concept</a:t>
            </a:r>
            <a:endParaRPr lang="en-US" sz="900" dirty="0"/>
          </a:p>
        </p:txBody>
      </p:sp>
      <p:sp>
        <p:nvSpPr>
          <p:cNvPr id="3" name="Text 1"/>
          <p:cNvSpPr txBox="1"/>
          <p:nvPr/>
        </p:nvSpPr>
        <p:spPr>
          <a:xfrm>
            <a:off x="10981944" y="6382512"/>
            <a:ext cx="548640" cy="274320"/>
          </a:xfrm>
          <a:prstGeom prst="rect">
            <a:avLst/>
          </a:prstGeom>
          <a:noFill/>
          <a:ln/>
        </p:spPr>
        <p:txBody>
          <a:bodyPr wrap="square" lIns="0" tIns="0" rIns="0" bIns="0" rtlCol="0" anchor="ctr"/>
          <a:lstStyle/>
          <a:p>
            <a:pPr algn="r" indent="0" marL="0">
              <a:buNone/>
            </a:pPr>
            <a:r>
              <a:rPr lang="en-US" sz="900" dirty="0">
                <a:solidFill>
                  <a:srgbClr val="6E6A5F"/>
                </a:solidFill>
                <a:latin typeface="Calibri" pitchFamily="34" charset="0"/>
                <a:ea typeface="Calibri" pitchFamily="34" charset="-122"/>
                <a:cs typeface="Calibri" pitchFamily="34" charset="-120"/>
              </a:rPr>
              <a:t>24</a:t>
            </a:r>
            <a:endParaRPr lang="en-US" sz="900" dirty="0"/>
          </a:p>
        </p:txBody>
      </p:sp>
      <p:sp>
        <p:nvSpPr>
          <p:cNvPr id="4" name="Text 2"/>
          <p:cNvSpPr txBox="1"/>
          <p:nvPr/>
        </p:nvSpPr>
        <p:spPr>
          <a:xfrm>
            <a:off x="658368" y="2487168"/>
            <a:ext cx="10058400" cy="1554480"/>
          </a:xfrm>
          <a:prstGeom prst="rect">
            <a:avLst/>
          </a:prstGeom>
          <a:noFill/>
          <a:ln/>
        </p:spPr>
        <p:txBody>
          <a:bodyPr wrap="square" lIns="0" tIns="0" rIns="0" bIns="0" rtlCol="0" anchor="ctr"/>
          <a:lstStyle/>
          <a:p>
            <a:pPr indent="0" marL="0">
              <a:lnSpc>
                <a:spcPct val="106000"/>
              </a:lnSpc>
              <a:buNone/>
            </a:pPr>
            <a:r>
              <a:rPr lang="en-US" sz="3900" b="1" dirty="0">
                <a:solidFill>
                  <a:srgbClr val="F8F7F1"/>
                </a:solidFill>
                <a:latin typeface="Cambria" pitchFamily="34" charset="0"/>
                <a:ea typeface="Cambria" pitchFamily="34" charset="-122"/>
                <a:cs typeface="Cambria" pitchFamily="34" charset="-120"/>
              </a:rPr>
              <a:t>Every new application should make</a:t>
            </a:r>
            <a:endParaRPr lang="en-US" sz="3900" dirty="0"/>
          </a:p>
          <a:p>
            <a:pPr indent="0" marL="0">
              <a:lnSpc>
                <a:spcPct val="106000"/>
              </a:lnSpc>
              <a:buNone/>
            </a:pPr>
            <a:r>
              <a:rPr lang="en-US" sz="3900" b="1" dirty="0">
                <a:solidFill>
                  <a:srgbClr val="F8F7F1"/>
                </a:solidFill>
                <a:latin typeface="Cambria" pitchFamily="34" charset="0"/>
                <a:ea typeface="Cambria" pitchFamily="34" charset="-122"/>
                <a:cs typeface="Cambria" pitchFamily="34" charset="-120"/>
              </a:rPr>
              <a:t>the next one easier to build.</a:t>
            </a:r>
            <a:endParaRPr lang="en-US" sz="3900" dirty="0"/>
          </a:p>
        </p:txBody>
      </p:sp>
      <p:sp>
        <p:nvSpPr>
          <p:cNvPr id="5" name="Text 3"/>
          <p:cNvSpPr txBox="1"/>
          <p:nvPr/>
        </p:nvSpPr>
        <p:spPr>
          <a:xfrm>
            <a:off x="658368" y="4224528"/>
            <a:ext cx="8778240" cy="457200"/>
          </a:xfrm>
          <a:prstGeom prst="rect">
            <a:avLst/>
          </a:prstGeom>
          <a:noFill/>
          <a:ln/>
        </p:spPr>
        <p:txBody>
          <a:bodyPr wrap="square" lIns="0" tIns="0" rIns="0" bIns="0" rtlCol="0" anchor="ctr"/>
          <a:lstStyle/>
          <a:p>
            <a:pPr indent="0" marL="0">
              <a:buNone/>
            </a:pPr>
            <a:r>
              <a:rPr lang="en-US" sz="1500" dirty="0">
                <a:solidFill>
                  <a:srgbClr val="B9B4A8"/>
                </a:solidFill>
                <a:latin typeface="Calibri" pitchFamily="34" charset="0"/>
                <a:ea typeface="Calibri" pitchFamily="34" charset="-122"/>
                <a:cs typeface="Calibri" pitchFamily="34" charset="-120"/>
              </a:rPr>
              <a:t>That is the whole system. Everything else is machinery, and the machinery is meant to be replaceable.</a:t>
            </a:r>
            <a:endParaRPr lang="en-US" sz="1500" dirty="0"/>
          </a:p>
        </p:txBody>
      </p:sp>
      <p:sp>
        <p:nvSpPr>
          <p:cNvPr id="6" name="Text 4"/>
          <p:cNvSpPr txBox="1"/>
          <p:nvPr/>
        </p:nvSpPr>
        <p:spPr>
          <a:xfrm>
            <a:off x="658368" y="5138928"/>
            <a:ext cx="5486400" cy="274320"/>
          </a:xfrm>
          <a:prstGeom prst="rect">
            <a:avLst/>
          </a:prstGeom>
          <a:noFill/>
          <a:ln/>
        </p:spPr>
        <p:txBody>
          <a:bodyPr wrap="square" lIns="0" tIns="0" rIns="0" bIns="0" rtlCol="0" anchor="ctr"/>
          <a:lstStyle/>
          <a:p>
            <a:pPr indent="0" marL="0">
              <a:buNone/>
            </a:pPr>
            <a:r>
              <a:rPr lang="en-US" sz="1250" b="1" dirty="0">
                <a:solidFill>
                  <a:srgbClr val="F2A900"/>
                </a:solidFill>
                <a:latin typeface="Calibri" pitchFamily="34" charset="0"/>
                <a:ea typeface="Calibri" pitchFamily="34" charset="-122"/>
                <a:cs typeface="Calibri" pitchFamily="34" charset="-120"/>
              </a:rPr>
              <a:t>Jorge Alejandro Diez</a:t>
            </a:r>
            <a:endParaRPr lang="en-US" sz="1250" dirty="0"/>
          </a:p>
        </p:txBody>
      </p:sp>
      <p:sp>
        <p:nvSpPr>
          <p:cNvPr id="7" name="Text 5"/>
          <p:cNvSpPr txBox="1"/>
          <p:nvPr/>
        </p:nvSpPr>
        <p:spPr>
          <a:xfrm>
            <a:off x="658368" y="5431536"/>
            <a:ext cx="8778240" cy="365760"/>
          </a:xfrm>
          <a:prstGeom prst="rect">
            <a:avLst/>
          </a:prstGeom>
          <a:noFill/>
          <a:ln/>
        </p:spPr>
        <p:txBody>
          <a:bodyPr wrap="square" lIns="0" tIns="0" rIns="0" bIns="0" rtlCol="0" anchor="ctr"/>
          <a:lstStyle/>
          <a:p>
            <a:pPr indent="0" marL="0">
              <a:buNone/>
            </a:pPr>
            <a:r>
              <a:rPr lang="en-US" sz="1150" dirty="0">
                <a:solidFill>
                  <a:srgbClr val="8E897D"/>
                </a:solidFill>
                <a:latin typeface="Calibri" pitchFamily="34" charset="0"/>
                <a:ea typeface="Calibri" pitchFamily="34" charset="-122"/>
                <a:cs typeface="Calibri" pitchFamily="34" charset="-120"/>
              </a:rPr>
              <a:t>Architecture, system design, requirements and the build sequence are in the blueprint repository.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Capital Factory - Organizational Memory</dc:title>
  <dc:subject>PptxGenJS Presentation</dc:subject>
  <dc:creator>Jorge Alejandro Diez</dc:creator>
  <cp:lastModifiedBy>Jorge Alejandro Diez</cp:lastModifiedBy>
  <cp:revision>1</cp:revision>
  <dcterms:created xsi:type="dcterms:W3CDTF">2026-09-01T22:10:11Z</dcterms:created>
  <dcterms:modified xsi:type="dcterms:W3CDTF">2026-09-01T22:10:11Z</dcterms:modified>
</cp:coreProperties>
</file>