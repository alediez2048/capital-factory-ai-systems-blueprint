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71" r:id="rId5"/>
    <p:sldId id="272" r:id="rId6"/>
    <p:sldId id="276" r:id="rId7"/>
    <p:sldId id="273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16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2A357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566160"/>
            <a:ext cx="4023360" cy="4023360"/>
          </a:xfrm>
          <a:prstGeom prst="ellipse">
            <a:avLst/>
          </a:prstGeom>
          <a:solidFill>
            <a:srgbClr val="D64541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777240" cy="777240"/>
          </a:xfrm>
          <a:prstGeom prst="ellipse">
            <a:avLst/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" y="14365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40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Skills at Capital Factory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66928" y="3312579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of what we've built, a shared vocabulary for what to call it,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strategy for centralizing reusable capabilities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survey of 5 GitHub repositories  ·  51 skills  ·  July 22,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survey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deployed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98064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98064" y="148132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889504" y="22128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7488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47488" y="148132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138928" y="22128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with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96912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96912" y="148132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388352" y="22128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documented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46336" y="1371600"/>
            <a:ext cx="2121408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46336" y="1481328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637776" y="22128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capability repos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256361"/>
            <a:ext cx="272125" cy="2721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3063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“skills” are actually full apps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25880" y="339242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built for one user — not single skills (capabilities) that can be easily used by other apps.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390217"/>
            <a:ext cx="272125" cy="2721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25880" y="41970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core logic is re-built per person — and copies drift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325880" y="4526280"/>
            <a:ext cx="10241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capabilities are re-implemented 2–4 times. Drift is already observable and some guardrail methods have diverged.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376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524073"/>
            <a:ext cx="272125" cy="2721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325880" y="53309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fix it already exists in-house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1325880" y="56601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marketplace, CODEOWNERS review, a MERGE-GATE policy, a stale-fact linter (skill-lint) and one eval suite are all in production today — they have simply never been aimed at a shared capability layer.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Factory · Claude Skills Strategy · July 2026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vs. app — a working taxonomy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9105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2" y="172894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17320" y="17556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that owns a job end-to-end – can be user-facing or scheduled — orchestrates several capabilities under that user's autonomy posture. Should be as thin as possible.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149961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allaccess-closer · desk-drive / daily-drive · spv-campaign-responder · texas-fund-inbound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68833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12" y="2826228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(capability)</a:t>
            </a:r>
          </a:p>
        </p:txBody>
      </p:sp>
      <p:sp>
        <p:nvSpPr>
          <p:cNvPr id="14" name="Text 10"/>
          <p:cNvSpPr/>
          <p:nvPr/>
        </p:nvSpPr>
        <p:spPr>
          <a:xfrm>
            <a:off x="1417320" y="2852928"/>
            <a:ext cx="65860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competency with a clear contract that many apps can call. This is what belongs in a central repository.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321040" y="259689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angellist-navigator · investor-db write protocol · draft-like-X engine · quality-check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566160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378561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3923508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417320" y="39502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— scripts or MCP tools — for computation and I/O. Unit-testable; the safest place for math and API mechanics.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21040" y="369417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email-attachment sender · compute_grant_shares (spec) · sheet-sync.gs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4663440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31520" y="48828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2" y="5020788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SYSTEMS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1417320" y="50474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of data that feed the tools and skills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321040" y="479145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r>
              <a:rPr lang="en-US" sz="1400" i="1" dirty="0" err="1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</a:t>
            </a: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AngelList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 test: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job for one person → app  </a:t>
            </a: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three apps would want it → skill  </a:t>
            </a: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deterministic → tool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Factory · Claude Skills Strategy · July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same capability, re-built per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0332" y="1554480"/>
            <a:ext cx="2121408" cy="251460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0332" y="16459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desk-drive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8348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95044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5044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95044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02052" y="1554480"/>
            <a:ext cx="2121408" cy="251460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02052" y="16459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eod-inbox-sweep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30068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30068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0068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26764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26764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26764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33772" y="1554480"/>
            <a:ext cx="2121408" cy="251460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33772" y="16459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spv-campaign-responder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1788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61788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61788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58484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58484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58484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5492" y="1554480"/>
            <a:ext cx="2121408" cy="251460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5492" y="16459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contact-update-sweep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3508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3508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3508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90204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490204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490204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97212" y="1554480"/>
            <a:ext cx="2121408" cy="251460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97212" y="16459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texas-fund-inbound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25228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825228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825228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821924" y="206654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821924" y="268833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21924" y="331012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452911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colored box = the same logic</a:t>
            </a: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hand-copied into each app and drifting independently. Gray boxes are logic that genuinely belongs to the app.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65176" y="5687197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3791" y="5614045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Skill (Capability): Voice drafting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974336" y="5687197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32951" y="5614045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Skill (Capability): Safe DB writes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9683496" y="5687197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142111" y="5614045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App-specific logic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Factory · Claude Skills Strategy · July 2026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 · TARGET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shared skills live once, centrally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0332" y="1417320"/>
            <a:ext cx="2121408" cy="224028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0332" y="15087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desk-drive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D64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8348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1C8A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95044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5044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95044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02052" y="1417320"/>
            <a:ext cx="2121408" cy="224028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02052" y="15087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eod-inbox-sweep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30068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D64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30068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30068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26764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26764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26764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33772" y="1417320"/>
            <a:ext cx="2121408" cy="224028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33772" y="15087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spv-campaign-responder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1788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D64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61788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61788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58484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58484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58484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5492" y="1417320"/>
            <a:ext cx="2121408" cy="224028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5492" y="15087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contact-update-sweep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3508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38100">
            <a:solidFill>
              <a:srgbClr val="1C8A9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3508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93508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90204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490204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490204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97212" y="1417320"/>
            <a:ext cx="2121408" cy="2240280"/>
          </a:xfrm>
          <a:prstGeom prst="roundRect">
            <a:avLst>
              <a:gd name="adj" fmla="val 2586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97212" y="15087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texas-fund-inbound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25228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825228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825228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821924" y="1929384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821924" y="2551176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21924" y="3172968"/>
            <a:ext cx="868680" cy="475488"/>
          </a:xfrm>
          <a:prstGeom prst="roundRect">
            <a:avLst>
              <a:gd name="adj" fmla="val 7692"/>
            </a:avLst>
          </a:prstGeom>
          <a:solidFill>
            <a:srgbClr val="C9CF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57884" y="3657600"/>
            <a:ext cx="2157984" cy="685800"/>
          </a:xfrm>
          <a:prstGeom prst="line">
            <a:avLst/>
          </a:prstGeom>
          <a:noFill/>
          <a:ln w="38100">
            <a:solidFill>
              <a:srgbClr val="D6454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504188" y="3657600"/>
            <a:ext cx="4972025" cy="667512"/>
          </a:xfrm>
          <a:prstGeom prst="line">
            <a:avLst/>
          </a:prstGeom>
          <a:noFill/>
          <a:ln w="38100">
            <a:solidFill>
              <a:srgbClr val="1C8A93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689604" y="3657600"/>
            <a:ext cx="557781" cy="658368"/>
          </a:xfrm>
          <a:prstGeom prst="line">
            <a:avLst/>
          </a:prstGeom>
          <a:noFill/>
          <a:ln w="38100">
            <a:solidFill>
              <a:srgbClr val="D6454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flipH="1">
            <a:off x="5381241" y="3657600"/>
            <a:ext cx="640083" cy="676656"/>
          </a:xfrm>
          <a:prstGeom prst="line">
            <a:avLst/>
          </a:prstGeom>
          <a:noFill/>
          <a:ln w="38100">
            <a:solidFill>
              <a:srgbClr val="D6454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flipH="1">
            <a:off x="7886697" y="3657600"/>
            <a:ext cx="612651" cy="685800"/>
          </a:xfrm>
          <a:prstGeom prst="line">
            <a:avLst/>
          </a:prstGeom>
          <a:noFill/>
          <a:ln w="38100">
            <a:solidFill>
              <a:srgbClr val="1C8A93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59836" y="43434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59836" y="44348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Skills Repository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717036" y="489204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717036" y="4892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drafting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185916" y="489204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85916" y="4892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DB writes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8640" y="601901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stay lightweight</a:t>
            </a:r>
            <a:r>
              <a:rPr lang="en-US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keep only their own logic (gray) and call the shared skills. Dashed slots mark where the copies used to live.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Factory · Claude Skills Strategy · July 2026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— and the engine that keeps them healthy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869680" cy="1298448"/>
          </a:xfrm>
          <a:prstGeom prst="roundRect">
            <a:avLst>
              <a:gd name="adj" fmla="val 493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490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whole jobs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316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headless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664208"/>
            <a:ext cx="120700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17556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94560" y="20299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66160" y="1664208"/>
            <a:ext cx="120700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7556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0299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937760" y="1664208"/>
            <a:ext cx="120700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75564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20299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19088" y="1618488"/>
            <a:ext cx="0" cy="804672"/>
          </a:xfrm>
          <a:prstGeom prst="line">
            <a:avLst/>
          </a:prstGeom>
          <a:noFill/>
          <a:ln w="12700">
            <a:solidFill>
              <a:srgbClr val="5C647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693408" y="1664208"/>
            <a:ext cx="120700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175564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93408" y="20299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4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065008" y="1664208"/>
            <a:ext cx="120700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175564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65008" y="202996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5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2706624"/>
            <a:ext cx="8869680" cy="2212848"/>
          </a:xfrm>
          <a:prstGeom prst="roundRect">
            <a:avLst>
              <a:gd name="adj" fmla="val 2893"/>
            </a:avLst>
          </a:prstGeom>
          <a:solidFill>
            <a:srgbClr val="D9E5FB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713232" y="3209544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713232" y="39410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2194560" y="279806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shared judgment · eval-tested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2194560" y="3072384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2194560" y="307238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3877056" y="3072384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3877056" y="307238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2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559552" y="3072384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5559552" y="307238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3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7242048" y="3072384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D64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242048" y="307238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4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2194560" y="451713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deterministic code · unit-tested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2194560" y="393192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2194560" y="39319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3877056" y="393192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3877056" y="39319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5559552" y="393192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5559552" y="39319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7242048" y="3931920"/>
            <a:ext cx="1481328" cy="530352"/>
          </a:xfrm>
          <a:prstGeom prst="roundRect">
            <a:avLst>
              <a:gd name="adj" fmla="val 10345"/>
            </a:avLst>
          </a:prstGeom>
          <a:solidFill>
            <a:srgbClr val="1C8A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7242048" y="393192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4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548640" y="5120640"/>
            <a:ext cx="8869680" cy="969264"/>
          </a:xfrm>
          <a:prstGeom prst="roundRect">
            <a:avLst>
              <a:gd name="adj" fmla="val 660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713232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713232" y="5742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2194560" y="5330952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6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2240280" y="53309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database</a:t>
            </a:r>
            <a:endParaRPr lang="en-US" sz="1400" dirty="0"/>
          </a:p>
        </p:txBody>
      </p:sp>
      <p:sp>
        <p:nvSpPr>
          <p:cNvPr id="52" name="Shape 45"/>
          <p:cNvSpPr/>
          <p:nvPr/>
        </p:nvSpPr>
        <p:spPr>
          <a:xfrm>
            <a:off x="3639312" y="5330952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6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3685032" y="53309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comms</a:t>
            </a:r>
            <a:endParaRPr lang="en-US" sz="1400" dirty="0"/>
          </a:p>
        </p:txBody>
      </p:sp>
      <p:sp>
        <p:nvSpPr>
          <p:cNvPr id="54" name="Shape 47"/>
          <p:cNvSpPr/>
          <p:nvPr/>
        </p:nvSpPr>
        <p:spPr>
          <a:xfrm>
            <a:off x="5084064" y="5330952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6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5129784" y="53309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files</a:t>
            </a:r>
            <a:endParaRPr lang="en-US" sz="1400" dirty="0"/>
          </a:p>
        </p:txBody>
      </p:sp>
      <p:sp>
        <p:nvSpPr>
          <p:cNvPr id="56" name="Shape 49"/>
          <p:cNvSpPr/>
          <p:nvPr/>
        </p:nvSpPr>
        <p:spPr>
          <a:xfrm>
            <a:off x="6528816" y="5330952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6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6574536" y="53309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150" dirty="0"/>
          </a:p>
        </p:txBody>
      </p:sp>
      <p:sp>
        <p:nvSpPr>
          <p:cNvPr id="58" name="Shape 51"/>
          <p:cNvSpPr/>
          <p:nvPr/>
        </p:nvSpPr>
        <p:spPr>
          <a:xfrm>
            <a:off x="7973568" y="5330952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64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8019288" y="53309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platforms</a:t>
            </a:r>
            <a:endParaRPr lang="en-US" sz="1400" dirty="0"/>
          </a:p>
        </p:txBody>
      </p:sp>
      <p:sp>
        <p:nvSpPr>
          <p:cNvPr id="62" name="Text 55"/>
          <p:cNvSpPr/>
          <p:nvPr/>
        </p:nvSpPr>
        <p:spPr>
          <a:xfrm>
            <a:off x="548640" y="637044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flow down — apps never touch data or systems directly; they go through the shared core</a:t>
            </a:r>
            <a:endParaRPr lang="en-US" sz="1600" dirty="0"/>
          </a:p>
        </p:txBody>
      </p:sp>
      <p:sp>
        <p:nvSpPr>
          <p:cNvPr id="63" name="Shape 56"/>
          <p:cNvSpPr/>
          <p:nvPr/>
        </p:nvSpPr>
        <p:spPr>
          <a:xfrm>
            <a:off x="9646920" y="1207008"/>
            <a:ext cx="1993392" cy="4754880"/>
          </a:xfrm>
          <a:prstGeom prst="roundRect">
            <a:avLst>
              <a:gd name="adj" fmla="val 412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7"/>
          <p:cNvSpPr/>
          <p:nvPr/>
        </p:nvSpPr>
        <p:spPr>
          <a:xfrm>
            <a:off x="9784080" y="137160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&amp; Optimizing the Core</a:t>
            </a:r>
            <a:endParaRPr lang="en-US" sz="1500" dirty="0"/>
          </a:p>
        </p:txBody>
      </p:sp>
      <p:sp>
        <p:nvSpPr>
          <p:cNvPr id="65" name="Shape 58"/>
          <p:cNvSpPr/>
          <p:nvPr/>
        </p:nvSpPr>
        <p:spPr>
          <a:xfrm>
            <a:off x="9784080" y="2240280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2A35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2395728"/>
            <a:ext cx="256032" cy="256032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10213848" y="2240280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Skill Check</a:t>
            </a:r>
            <a:endParaRPr lang="en-US" sz="1250" dirty="0"/>
          </a:p>
        </p:txBody>
      </p:sp>
      <p:sp>
        <p:nvSpPr>
          <p:cNvPr id="68" name="Shape 60"/>
          <p:cNvSpPr/>
          <p:nvPr/>
        </p:nvSpPr>
        <p:spPr>
          <a:xfrm>
            <a:off x="9784080" y="2935224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2A35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8" y="3090672"/>
            <a:ext cx="256032" cy="256032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10213848" y="2935224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Identifier</a:t>
            </a:r>
            <a:endParaRPr lang="en-US" sz="1250" dirty="0"/>
          </a:p>
        </p:txBody>
      </p:sp>
      <p:sp>
        <p:nvSpPr>
          <p:cNvPr id="71" name="Shape 62"/>
          <p:cNvSpPr/>
          <p:nvPr/>
        </p:nvSpPr>
        <p:spPr>
          <a:xfrm>
            <a:off x="9784080" y="3630168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2A35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3785616"/>
            <a:ext cx="256032" cy="256032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10213848" y="3630168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Monitor</a:t>
            </a:r>
            <a:endParaRPr lang="en-US" sz="1250" dirty="0"/>
          </a:p>
        </p:txBody>
      </p:sp>
      <p:sp>
        <p:nvSpPr>
          <p:cNvPr id="74" name="Shape 64"/>
          <p:cNvSpPr/>
          <p:nvPr/>
        </p:nvSpPr>
        <p:spPr>
          <a:xfrm>
            <a:off x="9784080" y="4325112"/>
            <a:ext cx="1719072" cy="566928"/>
          </a:xfrm>
          <a:prstGeom prst="roundRect">
            <a:avLst>
              <a:gd name="adj" fmla="val 9677"/>
            </a:avLst>
          </a:prstGeom>
          <a:solidFill>
            <a:srgbClr val="2A35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3808" y="4480560"/>
            <a:ext cx="256032" cy="256032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10213848" y="4325112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Updater</a:t>
            </a:r>
            <a:endParaRPr lang="en-US" sz="1250" dirty="0"/>
          </a:p>
        </p:txBody>
      </p:sp>
      <p:sp>
        <p:nvSpPr>
          <p:cNvPr id="77" name="Text 66"/>
          <p:cNvSpPr/>
          <p:nvPr/>
        </p:nvSpPr>
        <p:spPr>
          <a:xfrm>
            <a:off x="9784080" y="5065776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apps that observe &amp; propose — humans approve</a:t>
            </a:r>
            <a:endParaRPr lang="en-US" sz="1400" dirty="0"/>
          </a:p>
        </p:txBody>
      </p:sp>
      <p:sp>
        <p:nvSpPr>
          <p:cNvPr id="78" name="Shape 67"/>
          <p:cNvSpPr/>
          <p:nvPr/>
        </p:nvSpPr>
        <p:spPr>
          <a:xfrm>
            <a:off x="9125712" y="3813048"/>
            <a:ext cx="475488" cy="0"/>
          </a:xfrm>
          <a:prstGeom prst="line">
            <a:avLst/>
          </a:prstGeom>
          <a:noFill/>
          <a:ln w="31750">
            <a:solidFill>
              <a:srgbClr val="D6454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B72DFEC-EEFB-8B22-C5FE-BCB9F817F2EC}"/>
              </a:ext>
            </a:extLst>
          </p:cNvPr>
          <p:cNvGrpSpPr/>
          <p:nvPr/>
        </p:nvGrpSpPr>
        <p:grpSpPr>
          <a:xfrm>
            <a:off x="5290395" y="4760175"/>
            <a:ext cx="329184" cy="329021"/>
            <a:chOff x="5290395" y="4760175"/>
            <a:chExt cx="329184" cy="329021"/>
          </a:xfrm>
        </p:grpSpPr>
        <p:sp>
          <p:nvSpPr>
            <p:cNvPr id="61" name="Shape 54"/>
            <p:cNvSpPr/>
            <p:nvPr/>
          </p:nvSpPr>
          <p:spPr>
            <a:xfrm>
              <a:off x="5290395" y="4924604"/>
              <a:ext cx="329184" cy="164592"/>
            </a:xfrm>
            <a:prstGeom prst="downArrow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54">
              <a:extLst>
                <a:ext uri="{FF2B5EF4-FFF2-40B4-BE49-F238E27FC236}">
                  <a16:creationId xmlns:a16="http://schemas.microsoft.com/office/drawing/2014/main" id="{C4D8DC75-0409-1A10-CA84-8BD463DB6D60}"/>
                </a:ext>
              </a:extLst>
            </p:cNvPr>
            <p:cNvSpPr/>
            <p:nvPr/>
          </p:nvSpPr>
          <p:spPr>
            <a:xfrm flipV="1">
              <a:off x="5290395" y="4760175"/>
              <a:ext cx="329184" cy="164592"/>
            </a:xfrm>
            <a:prstGeom prst="downArrow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7FC1D5C-649D-6B19-4CDF-7319E8973694}"/>
              </a:ext>
            </a:extLst>
          </p:cNvPr>
          <p:cNvGrpSpPr/>
          <p:nvPr/>
        </p:nvGrpSpPr>
        <p:grpSpPr>
          <a:xfrm>
            <a:off x="5317827" y="3607899"/>
            <a:ext cx="274320" cy="330000"/>
            <a:chOff x="5317827" y="3607899"/>
            <a:chExt cx="274320" cy="330000"/>
          </a:xfrm>
        </p:grpSpPr>
        <p:sp>
          <p:nvSpPr>
            <p:cNvPr id="37" name="Shape 30"/>
            <p:cNvSpPr/>
            <p:nvPr/>
          </p:nvSpPr>
          <p:spPr>
            <a:xfrm>
              <a:off x="5317827" y="3773307"/>
              <a:ext cx="274320" cy="164592"/>
            </a:xfrm>
            <a:prstGeom prst="downArrow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30">
              <a:extLst>
                <a:ext uri="{FF2B5EF4-FFF2-40B4-BE49-F238E27FC236}">
                  <a16:creationId xmlns:a16="http://schemas.microsoft.com/office/drawing/2014/main" id="{5C2429F6-1980-E029-7AF3-771620B17EBA}"/>
                </a:ext>
              </a:extLst>
            </p:cNvPr>
            <p:cNvSpPr/>
            <p:nvPr/>
          </p:nvSpPr>
          <p:spPr>
            <a:xfrm flipV="1">
              <a:off x="5317827" y="3607899"/>
              <a:ext cx="274320" cy="164592"/>
            </a:xfrm>
            <a:prstGeom prst="downArrow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A25B665-ACE3-F5EA-7B1B-7E95DA84EDC6}"/>
              </a:ext>
            </a:extLst>
          </p:cNvPr>
          <p:cNvGrpSpPr/>
          <p:nvPr/>
        </p:nvGrpSpPr>
        <p:grpSpPr>
          <a:xfrm>
            <a:off x="5290389" y="2538677"/>
            <a:ext cx="329184" cy="333253"/>
            <a:chOff x="5290389" y="2538677"/>
            <a:chExt cx="329184" cy="333253"/>
          </a:xfrm>
        </p:grpSpPr>
        <p:sp>
          <p:nvSpPr>
            <p:cNvPr id="60" name="Shape 53"/>
            <p:cNvSpPr/>
            <p:nvPr/>
          </p:nvSpPr>
          <p:spPr>
            <a:xfrm>
              <a:off x="5290389" y="2707338"/>
              <a:ext cx="329184" cy="164592"/>
            </a:xfrm>
            <a:prstGeom prst="downArrow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53">
              <a:extLst>
                <a:ext uri="{FF2B5EF4-FFF2-40B4-BE49-F238E27FC236}">
                  <a16:creationId xmlns:a16="http://schemas.microsoft.com/office/drawing/2014/main" id="{5C4D747C-688D-39F1-C3E9-5563249F8B40}"/>
                </a:ext>
              </a:extLst>
            </p:cNvPr>
            <p:cNvSpPr/>
            <p:nvPr/>
          </p:nvSpPr>
          <p:spPr>
            <a:xfrm flipV="1">
              <a:off x="5290389" y="2538677"/>
              <a:ext cx="329184" cy="164592"/>
            </a:xfrm>
            <a:prstGeom prst="downArrow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 · OPTIMIZING THE 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and Optimizing the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324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910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73845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27632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Skill Check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PRD time, search the skill catalog before building. Every match is classified: use as-is, enhance, or build new — duplication stops before it starts.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27064" y="1371600"/>
            <a:ext cx="541324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55664" y="15910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065" y="173845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87184" y="1627632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Candidate Identifier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01384" y="214884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new and changed apps for embedded logic that should become a shared skill. Files evidence-backed candidates to a backlog for human review.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41324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6941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384157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730752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Monitor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25196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every skill merge: rebuilds the catalog, runs consumer eval suites, queues an extraction scan, and notifies the owners of consuming apps.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27064" y="3474720"/>
            <a:ext cx="541324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55664" y="36941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065" y="384157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87184" y="3730752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Updater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01384" y="425196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new Claude model release, re-runs every skill's evals to recommend the best model per function — upgrades for capability, downgrades for cost.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" y="566928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scheduled apps whose domain is the skill layer itself. 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skill contracts → generated catalog → eval suites. 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proposes — humans approve.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Factory · Claude Skills Strategy ·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already lives in 2–4 places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82758"/>
              </p:ext>
            </p:extLst>
          </p:nvPr>
        </p:nvGraphicFramePr>
        <p:xfrm>
          <a:off x="548640" y="1305611"/>
          <a:ext cx="11091672" cy="467563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9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appears today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Voice-drafting engine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draft-like-jamie · draft-like-drew · caroline-voice.md (consumed by all 11 of Caroline's skills)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database writes </a:t>
                      </a:r>
                      <a:b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(change-log, propose-first)</a:t>
                      </a:r>
                      <a:endParaRPr lang="en-US" sz="16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64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+ 1 gap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investor-db-maintenance · contact-update-sweep · qualification — and missing entirely from new-lp-onboarding, which writes the same CRM unprotected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scheduling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Near-identical meeting-scheduler skills for Jamie, Drew and Caroline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 triage engine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eod-inbox-sweep (Jamie) · eod-inbox-sweep (Drew) · embedded in desk-drive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AngelList access + compliance guardrail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D64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drifted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Hand-mirrored between all-access-skills and texas-fund-skills; already diverged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simulator </a:t>
                      </a:r>
                      <a:b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(judgment prediction)</a:t>
                      </a:r>
                      <a:endParaRPr lang="en-US" sz="16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jamie-simulator · drew-simulator · confidence rules embedded per-skill in caroline-skills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Stale-fact linting (skill-lint)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Near-verbatim copies in jamie-skills and drew-skills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ladder </a:t>
                      </a:r>
                      <a:br>
                        <a:rPr lang="en-US" sz="1600" b="1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r>
                        <a:rPr lang="en-US" sz="1400" b="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(Shadow → graduate at ≥90%)</a:t>
                      </a:r>
                      <a:endParaRPr lang="en-US" sz="16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3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Restated in both CONVENTIONS.md files and a dozen skill bodies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129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capability isn't factored out, some apps silently lack it — and lessons learned in one copy never reach the others.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Factory · Claude Skills Strategy · July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1011</Words>
  <Application>Microsoft Office PowerPoint</Application>
  <PresentationFormat>Widescreen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Gordon Daugherty</cp:lastModifiedBy>
  <cp:revision>7</cp:revision>
  <dcterms:created xsi:type="dcterms:W3CDTF">2026-07-22T19:50:18Z</dcterms:created>
  <dcterms:modified xsi:type="dcterms:W3CDTF">2026-07-26T19:11:44Z</dcterms:modified>
</cp:coreProperties>
</file>